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651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 · 实验手册 · 授课课件 三件套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章教材 ｜ 14 个实验（93 个 Lab）｜ 412 页课件 ｜ CKA 五大域全覆盖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基线版本：Kubernetes v1.36 · containerd · Ubuntu 24.04 · 3 节点真实集群实测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课程目录（第一部分：基础与核心）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52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章  容器与云原生基础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无强制实验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1848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16367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章  Kubernetes 概述与架构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1636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01 前置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0253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20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2020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章  集群安装与配置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01 全部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8658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8658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71600" y="2404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章  Pod 与容器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2404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77063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788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2788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05 章  工作负载控制器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15468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72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06 章  调度与 Pod 放置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38728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53872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57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71600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07 章  扩缩容与资源治理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557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922776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92277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371600" y="39410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08 章  配置管理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0" y="3941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430682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371600" y="43251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09 章  服务、负载均衡与网络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83680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69087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469087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709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37160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  存储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83680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课程目录（第二部分：安全、运维与综合）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52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  认证与授权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1848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16367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  准入与容器安全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1636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0253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20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2020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 集群安全加固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86584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8658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71600" y="2404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  集群维护与运维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2404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77063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788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2788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  可观测性：监控、日志与事件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05 / 14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15468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72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 故障排查与可靠性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38728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53872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57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71600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章  Helm 与 Kustomize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557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922776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92277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371600" y="39410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章  综合实战：应用发布全流程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0" y="3941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430682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371600" y="43251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章  CKA 考试指南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83680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全书重刷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实验手册：实验 01-14（93 个 Lab，必做 67 / 推荐 19 / 可选·进阶 7）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容器与云原生基础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容器原理 · Docker 三要素 · 编排器选型 · 云原生与 CNCF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01-14）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解释容器的核心技术原理：命名空间隔离、cgroups 资源限制、镜像分层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892808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Docker 的镜像 / 容器 / 仓库三要素及常用操作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分析容器化应用在单机场景下的痛点，理解“为什么需要编排器”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319272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19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说明云原生（Cloud Native）的定义与 CNCF 生态定位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34440" y="4032504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Kubernetes / Docker Swarm / Mesos，说出 Kubernetes 胜出的核心理由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容器技术原理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从虚拟机到容器：为什么容器更快更轻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命名空间（Namespaces）：隔离“看得见”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cgroups：限制“能用多少”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镜像分层（Layer）与 OCI 标准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虚拟机 vs 容器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37560"/>
                <a:gridCol w="3337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虚拟机（VM）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隔离级别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硬件级（Hypervisor 虚拟整机）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操作系统级（内核共享）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每个实例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Guest OS（GB 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仅应用 + 依赖（MB 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秒级（进程级启动）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低（每台机几十个）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高（每台机成百上千）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有虚拟化开销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为什么容器更快更轻：容器共享宿主机内核，不虚拟硬件和操作系统——它只是宿主上的“一组受约束的进程”。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为什么容器更快更轻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= 宿主机上的“一组受约束的进程”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77440"/>
            <a:ext cx="54864" cy="1645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不虚拟硬件和操作系统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容器共享宿主机内核，没有 Hypervisor 层，没有 Guest OS——启动就是启动一个进程，自然秒级、轻量。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377440"/>
            <a:ext cx="54864" cy="1645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隔离与限制靠内核机制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01184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命名空间（Namespaces）：隔离“看得见”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cgroups（Control Groups）：限制“能用多少”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这是容器与虚拟机的本质区别：VM 是“模拟一台机器”，容器是“约束一组进程”。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命名空间（Namespaces）：隔离“看得见”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容器里看到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进程编号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自己是 PID 1，看不到宿主机其他进程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Mount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文件系统挂载点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只看到自己的根文件系统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网络栈（网卡/IP/路由）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自己的 IP 和端口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自己的 hostname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进程间通信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独立的信号量 / 消息队列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 ID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UID 映射（容器内 root ≠ 宿主机 root）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命名空间让容器里的进程“以为”自己独占系统资源——每个容器创建时，内核为它建立独立的命名空间视图。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cgroups：限制“能用多少”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cgroups（Control Groups）限制容器能消耗多少资源：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325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17099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份额与配额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如最多用 0.5 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00200"/>
            <a:ext cx="54864" cy="13258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78040" y="17099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内存上限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超限触发 OOM Killer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325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cpuset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17520" y="32186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绑定特定 CPU 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亲和性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54864" cy="1325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blkio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78040" y="32186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 IO 带宽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读写速率限制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教学记忆：命名空间管“看不见”（隔离），cgroups 管“用多少”（限制）——两者结合，容器既安全隔离又可被资源管控。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教学记忆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命名空间（Namespaces）→ 管“看不见”→ 隔离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046720" cy="105156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06040"/>
            <a:ext cx="64008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 → 管“用多少”→ 限制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两者结合：容器既安全隔离，又可被资源管控——这是容器与虚拟机的本质区别。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镜像分层（Layer）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234440"/>
            <a:ext cx="4754880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2331720" y="1234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应用层（App）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0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可写层：容器运行时在此写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075688"/>
            <a:ext cx="4754880" cy="731520"/>
          </a:xfrm>
          <a:prstGeom prst="rect">
            <a:avLst/>
          </a:prstGeom>
          <a:solidFill>
            <a:srgbClr val="5B8DEA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0756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指令层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2916936"/>
            <a:ext cx="4754880" cy="731520"/>
          </a:xfrm>
          <a:prstGeom prst="rect">
            <a:avLst/>
          </a:prstGeom>
          <a:solidFill>
            <a:srgbClr val="8FB0F0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291693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apt 安装层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3758184"/>
            <a:ext cx="4754880" cy="731520"/>
          </a:xfrm>
          <a:prstGeom prst="rect">
            <a:avLst/>
          </a:prstGeom>
          <a:solidFill>
            <a:srgbClr val="C9D8F6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375818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基础镜像层（OS）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每层只存与上一层的差异（增量）——多容器共享底层 → 磁盘占用小、启动快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容器运行时的写入发生在最上层可写层——删除容器即可写层消失（“容器无状态”的底层原因，第 4 章讲持久化）。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标准：让“容器”不绑死某一家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737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Spec（镜像规范）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镜像的打包格式（分层 / 配置 / manifest）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——任何符合规范的镜像，任何符合规范的运行时都能跑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737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Spec（运行时规范）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容器运行时的行为（进程 / 命名空间 / cgroups 配置、生命周期钩子）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18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本书伏笔：Docker 构建的镜像 → containerd（符合 OCI Runtime Spec）直接运行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章“K8s 用 containerd 替换 Docker”之所以无缝，正是因为大家都遵守 OCI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生态不绑死：镜像可来自 Docker / Podman / Buildah，运行时可以是 containerd / CRI-O——标准是生态互通的基石。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是“容器界的 USB 接口”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镜像分层、containerd 运行时，都在 OCI 的框架内工作。Docker 只是“最流行的 OCI 实现之一”。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章学的镜像分层、第 3 章装的 containerd——都会在本章之后的课程里反复用到。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快速回顾（镜像 / 容器 / 仓库）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三大概念：镜像 / 容器 / 仓库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常用命令速查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 Kubernetes 的衔接：K8s 用 containerd（OCI 兼容）替代 Docker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三大概念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镜像（Image）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安装包 / 模板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只读的打包产物，包含应用 + 依赖 + 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容器（Container）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运行中的进程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镜像的运行实例，独立命名空间与 cgroups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仓库（Registry）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应用商店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存放和分发镜像（Docker Hub / 私有仓库）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本课程不要求精通 Docker，但 K8s 使用 OCI 兼容的容器运行时（containerd），理解三要素有助于后续章节。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常用命令速查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myapp:v1 .        # 构建镜像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                    # 查看本地镜像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nginx:latest          # 拉取镜像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 nginx    # 运行容器（后台、端口映射）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&lt;容器&gt; /bin/bash  # 进入容器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&lt;容器&gt;                # 查看日志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 &lt;容器&gt;               # 删除容器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&lt;镜像&gt;                 # 删除镜像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Kubernetes 的衔接：K8s 用 containerd（OCI 兼容）替代 Docker，但镜像构建、仓库、分层机制完全一致。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容器化的价值与挑战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容器化的四大价值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单机场景的挑战——编排器的需求来源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容器化的价值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构建一次，处处运行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开发/测试/生产一致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资源效率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高密度、秒级启动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弹性伸缩的基础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环境差异消失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“在我机器上是好的”不再成立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快速交付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镜像即部署产物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流水线化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617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四大价值 → 容器化成为现代应用交付的默认形态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单机场景的挑战（编排器的需求来源）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单点故障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容器崩了谁重启？机器挂了谁迁移？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流量大了手动 docker run 复制十份？流量降了呢？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服务发现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IP 每次重启都变，前端怎么找到后端？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多个副本之间流量怎么分发？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容器“活着”不代表“能用”，谁来探测？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容器删了数据没了，数据库怎么办？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配置与密钥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几十个容器的环境变量/密码怎么统一管理？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结论：单机 Docker 解决“如何跑一个容器”，编排器解决“如何运维一群容器”——这正是 Kubernetes 的定位（第 2 章）。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云原生与 CNCF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云原生的定义与五大要素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CNCF 项目全景与本课程的对应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云原生的定义（CNCF）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在现代动态环境（公有云 / 私有云 / 混合云）中构建和运行可扩展应用的技术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应用打包为容器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可移植、隔离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12848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12848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2322576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22576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单体拆分为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可独立部署的服务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77056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77056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动态编排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86784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自动调度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扩缩、自愈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41264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41264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50992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开发运维一体化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自动化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05472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5472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描述期望状态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系统自行达到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声明式：描述“期望状态”，系统自行达到——这是第 2 章的核心概念，也是 Kubernetes 设计的灵魂。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CNCF 项目全景（与本课程相关）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代表项目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本课程对应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容器运行时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containerd / CRI-O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1、3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 / Cilium / Flannel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章（实验 07）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Rook / Longhorn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 章（实验 08）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可观测性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/ Grafana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15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服务网格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Istio / Linkerd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进阶（本课程略）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是 CNCF 最大的毕业项目——本课程全部围绕它展开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容器编排器对比：为什么是 Kubernetes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Docker Swarm / Apache Mesos / Kubernetes 三强对比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Kubernetes 胜出的四大核心理由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容器编排器对比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92024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Swarm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 Mesos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A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原生集群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数据中心级资源调度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容器编排事实标准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简单但功能有限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复杂、运维门槛高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生态最完整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服务发现/LB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内建（简单）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需额外组件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+ Ingress（第 9 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自愈/扩缩容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Deployment/HPA（第 5、7 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存储/网络插件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丰富的 CSI/CNI 生态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社区与生态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CNCF 最大项目，事实标准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胜出的根本：声明式 API + 控制循环——用户描述“期望状态”，控制器持续调和，设计优雅且可扩展。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胜出的核心理由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API + 控制循环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描述“期望状态”，控制器持续调和——设计优雅，可扩展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CRD、Operator、CNI/CSI 插件机制，生态爆炸式增长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云厂商背书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AWS/Azure/GCP/阿里云全部提供托管 K8s（EKS/AKS/GKE/ACK）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认证体系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人才市场认可——本课程的目标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一句话：Kubernetes 赢在“设计”与“生态”——第 2 章将深入它的架构与核心设计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= 命名空间（隔离）+ cgroups（限制）的受控进程，比虚拟机轻量得多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892808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= 只读分层 + 可写层，共享底层省空间、启动快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Docker 的七大痛点 → 编排器的需求来源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319272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19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= 容器 + 微服务 + 动态编排 + DevOps + 声明式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34440" y="4032504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凭声明式 API + 生态 + 云厂商背书成为容器编排事实标准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2 章进入 Kubernetes 本身——架构、组件与“声明式 API + 控制循环”的核心设计。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容器与虚拟机共享内核，容器内执行 reboot 会发生什么？为什么？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为什么说“容器没有持久化”？镜像分层中哪一层解释了这一点？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Docker 的痛点中，哪一个对生产影响最大？Kubernetes 用什么机制解决它？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云原生的“声明式”与传统“命令式”运维的区别是什么？举一个生活中的例子。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考点：本章为前置基础、无直接考点；但容器原理是理解第 3 章运行时、第 4 章 Pod 的前提——排障题常考容器生命周期。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 Kubernetes 概述与架构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六核心概念 · 控制循环 · 控制面与数据面 · 对象模型 · 沙盒演练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01）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 Kubernetes 是什么、解决什么、核心承诺是什么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完整解释 6 个核心概念：集群/节点、Pod、工作负载、Service、命名空间、标签选择器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939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理解命令式 vs 声明式的本质区别与适用场景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69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解释控制循环：期望状态与当前状态如何被持续调和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44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讲解控制面四组件与数据面三组件：做什么、怎么做、为什么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说清组件间通信全流程（一次请求的旅程、TLS 安全、端口）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理解对象模型：Group/Version/Kind 与 metadata/spec/status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4988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98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714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 kubectl 高频命令与 kubeconfig 上下文切换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是什么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定义与来历：开源版 Borg，CNCF 毕业项目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它解决什么：承接第 1 章的七大痛点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核心承诺：声明式、自愈、可移植、可扩展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定义与来历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Kubernetes（K8s）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开源的容器编排平台——自动化容器的部署、扩缩容、调度、网络、存储与自愈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名字与出身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希腊语“舵手”；K8s = K + 8 字母 + 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源自 Google 内部集群系统 Borg——“开源版 Borg”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CNCF 毕业项目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年捐赠 CNCF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年首个毕业项目（Graduated）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事实标准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AWS(EKS) / Azure(AKS) / GCP(GKE)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阿里云(ACK) / 华为云(CCE) 全部托管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它解决什么（承接第 1 章痛点）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单机容器痛点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 的机制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容器崩了、机器挂了没人管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自愈：控制器自动重建、节点故障驱逐（§2.3、第 5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流量波动需要扩缩容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弹性：手动 scale + 自动 HPA（第 7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IP 每次重启都变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Service：稳定虚拟 IP + DNS 名（§2.2.4、第 9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多副本流量如何分发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负载均衡：Service + kube-proxy（§2.5.2）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“活着”不等于“能用”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探针：readiness/liveness 健康检查（第 4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容器删除数据丢失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持久化：PV/PVC、StorageClass（第 10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配置和密码散落各处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ConfigMap / Secret（第 8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核心承诺（设计宣言）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声明式，而非命令式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你描述“最终要什么”，K8s 负责“如何达成并持续维持”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4630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系统永不停止地把自己调和到期望状态——崩溃、驱逐、扩容都自动处理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同样的集群和应用可跑在裸机、虚拟机、任意公有云上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CRD、Operator、CNI/CSI 插件机制——不只是编排器，更是“可编程的平台底座”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六个核心概念详解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集群/节点 · Pod · 工作负载控制器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Service · 命名空间 · 标签选择器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每个概念讲清原理，不满足于一句话定义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集群与节点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011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控制面节点（Control Plane）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运行集群的管理组件（§2.4）——相当于“大脑”。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默认不运行业务容器（污点保护，第 6 章）；生产通常部署 2-3 个做高可用。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工作节点（Worker Node）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1184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运行业务容器的机器，数量按需扩展。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每个节点固定三件套：kubelet（节点代理）、kube-proxy（网络转发）、容器运行时（containerd）。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2900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节点通过 kubelet 定期向控制面上报心跳 → 控制面据此判断节点是否健康（Ready）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判断集群规模：kubectl get nodes 显示所有节点及状态——排障第一步（第 16 章）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Pod：最小调度单元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 Kubernetes 调度的最小单位——不是容器。一个 Pod 包含一个或多个容器，共享：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网络命名空间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共享一个 IP 和端口空间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容器间用 localhost 通信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5448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8888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UTS 命名空间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共享主机名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889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880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共享存储卷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级卷可被内部所有容器挂载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889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18888" y="2880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同一生命周期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一起创建、一起销毁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是“逻辑主机”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生命周期：Pending（已创建未调度）→ Running（运行中）→ Succeeded/Failed → 删除（Terminating）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IP 是临时的（重建即变）——这是 Service 存在的原因；“调度、扩缩、自愈”都发生在 Pod 级别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工作负载控制器（Workload Controllers）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控制器是“管理 Pod 的 Pod”——声明“要这种 Pod、要 N 个、怎么更新”，由控制器维持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无状态多副本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滚动更新/回滚/扩缩容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12848" y="1508760"/>
            <a:ext cx="54864" cy="1920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2304288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04288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有状态、有序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 + 独立存储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77056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77056" y="150876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3968496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68496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每节点恰好一个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网络/监控/日志采集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41264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41264" y="1508760"/>
            <a:ext cx="54864" cy="1920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32704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一次性任务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成功（Completed）即结束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05472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1508760"/>
            <a:ext cx="54864" cy="1920240"/>
          </a:xfrm>
          <a:prstGeom prst="rect">
            <a:avLst/>
          </a:prstGeom>
          <a:solidFill>
            <a:srgbClr val="8A6A42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96912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cron 定时触发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如每天凌晨备份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404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选择口诀：无状态用 Deployment、有状态用 StatefulSet、每节点守护用 DaemonSet、一次性用 Job、定时用 CronJob。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Service：稳定入口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问题：Pod IP 是临时的（重建即变），多副本时“该访问哪个 IP”？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Service，声明 selector（选哪些 Pod 作后端）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848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分配稳定虚拟 IP（ClusterIP，如 10.96.x.x）——不会变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06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写转发规则：ClusterIP 流量 → 随机分发到后端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3284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DNS（coredns）把 Service 名解析为 ClusterIP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应用用名字访问，不关心 Pod IP——Pod 会死会变，Service 是稳定的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类型：ClusterIP（集群内）/ NodePort（节点端口）/ LoadBalancer（云负载均衡）/ headless（DNS 直返 Pod IP）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资源隔离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资源名在命名空间内唯一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同名不同 ns 互不冲突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权限隔离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按命名空间授权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11 章）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配额隔离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每个命名空间可设资源配额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7 章 ResourceQuota）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13716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内置命名空间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—— 默认；没指定时资源都放这里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kube-system —— 系统组件（apiserver/etcd/coredns 等）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968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kube-public —— 公开信息（集群内所有用户可读）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注意：命名空间隔离“名字”与“权限”，不隔离网络——跨 ns 的 Pod 默认互通（隔离用 NetworkPolicy，第 9 章）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标签与选择器（Label &amp; Selector）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标签（Label）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附加在对象上的键值对：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app=web  env=prod  tier=frontend  version=v1.2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用途：K8s 的“关联机制”全靠标签——控制器选 Pod、Service 选后端、调度选节点（第 6 章）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选择器（Selector）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等值：kubectl get pods -l app=web（=、!=）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集合：kubectl get pods -l 'app in (web,api)'（in/notin/exists）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1184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用它管自己的 Pod；Service 用它选后端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vs 注解：标签是“身份证号”（结构化、可被选择器选中）；注解是“备注栏”（任意文本、不能被选择器选中）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示例：selector.matchLabels.app=web —— Deployment 里匹配它管理的 Pod 模板标签；Service 里决定哪些 Pod 是后端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六个核心概念关系图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 Namespace（逻辑边界）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2918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控制面节点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/ etcd / scheduler / 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3291840" cy="9144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 ×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/ kube-proxy / containerd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18288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最小调度单元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1737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稳定入口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393192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标签选择器 Label Selector（关联机制）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控制器/Service 通过标签选中 Pod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0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运行在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提供入口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选中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三个关系一图看清：命名空间包含一切（包含）、Pod 运行在工作节点（运行）、标签选择器关联 Pod 与 Service/控制器（关联）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设计指南：企业级命名与标签规范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566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命名空间命名规范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格式：{团队/业务域}-{环境}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示例：order-dev / order-prod / infra-monitoring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对象命名：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{app}-{component}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{app}-{component}-svc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ConfigMap: {app}-{用途}-config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PVC: {app}-{component}-data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命名是给“人”看的（可检索）、标签是给“机器”用的（可筛选）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65760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18872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app.kubernetes.io/name: order-service   # 应用名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app.kubernetes.io/version: "1.2.3"      # 版本号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app.kubernetes.io/component: api         # 组件角色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app.kubernetes.io/part-of: e-commerce    # 所属系统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app.kubernetes.io/managed-by: helm       # 管理工具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team: trade-team        # 负责团队（告警路由）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oncall: zhangsan@x.com  # 值班联系人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官方推荐标签——Helm/监控/成本工具都识别它们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 vs 声明式，与控制循环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两种操作哲学：告诉怎么做 vs 告诉要什么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期望状态与当前状态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控制循环：自愈与弹性的根源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 vs 声明式：两种操作哲学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命令式（Imperative）——告诉我怎么做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你一步步下达具体指令，系统只执行、不记忆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例：docker run nginx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特点：直接、快速、适合临时操作；但不记录意图——下次还要重新敲一遍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声明式（Declarative）——告诉我要什么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你提交一份期望状态的描述（YAML），系统自己决定怎么做、并持续维持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例：kubectl apply -f web.yaml（3 副本、nginx:1.27）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特点：意图明确、可版本化、可重复、系统持续保证状态（自愈）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三种具体操作模式（kubectl 层面）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命令式命令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/ scale / delete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最快，但无状态记录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create / replace -f file.yaml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yaml 当一次性指令，覆盖执行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7A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声明式对象（推荐）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apply -f file.yaml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以文件为唯一事实来源，可重复应用、幂等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生产标准是 apply：create 在资源已存在时报错（只能建一次）；apply 幂等更新（可反复执行）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为什么生产用声明式（apply）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意图即代码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文件就是“配置即代码”——进 Git 版本管理、可 review、可回滚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yaml 反复 apply 结果一致——这是 CI/CD 的基础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系统记住这份期望状态，任何偏离都被自动修复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协作标准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 只能建一次、apply 可反复执行——生产标准是 apply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一句话：命令式是“手把手教系统做”，声明式是“给系统一张目标图，让它自己达成并守住”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控制循环（Control Loop）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237744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观察当前状态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 apiserver/etcd 读取）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01168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与期望状态对比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377440" cy="109728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执行动作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创建/删除/更新，趋近期望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 → 回到观察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有差异 →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执行动作后回到观察（循环永不停止）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控制器内部组成：Informer / Reflector（监听 apiserver 事件）→ WorkQueue（待处理队列）→ Worker（对比 spec 与 status，执行调和）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所有控制器（deployment / replicaset / daemonset / job / namespace…）都是这个模式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7091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循环永不停止：“一致”不是终点而是回到观察；“有差异”才执行动作——这就是自愈与弹性的共同引擎。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实例走查：Deployment 如何保证“3 个副本”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apply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apply（期望 replicas=3）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控制器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ReplicaSet（子控制器）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620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控制器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3 个 Pod 对象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Pod → 各节点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97180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0" name="Shape 28"/>
          <p:cNvSpPr/>
          <p:nvPr/>
        </p:nvSpPr>
        <p:spPr>
          <a:xfrm>
            <a:off x="344728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7764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7472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拉起容器，上报 Running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7180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20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 Pod 崩溃 → RS 观察偏离 → 补建 1 个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职责分层：Deployment 管 RS → RS 管数量 → Scheduler 管落点 → kubelet 管运行；一切通过 apiserver，没有组件直连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控制面组件详解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kube-apiserver：集群的唯一入口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etcd：集群的状态存储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kube-scheduler：调度器（过滤 + 打分）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kube-controller-manager：控制器集合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kube-apiserver：集群的唯一入口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所有请求（kubectl、各组件、Pod 内服务、控制台）都先到这里——“所有组件不直接互访，只通过 apiserver 交互”（星型拓扑）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 Authentication —— 你是谁？（X.509 证书 / Token / 用户名密码）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67128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671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授权 Authorization —— 你能干什么？（RBAC 检查）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34056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340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准入控制 Admission —— 请求合法吗？（插件检查/修改，可拒绝）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00984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持久化 —— 写入 etcd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867912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679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返回结果 + 通知关注者（Watch 机制）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两个关键能力：Watch（监听）机制 = 控制循环的“眼睛”；API 发现（kubectl api-resources / explain）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集中管控 = 一处认证授权、一处审计、一处限流；apiserver 起不来 = 集群完全不可用。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etcd：集群的状态存储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所有对象的状态都存这里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/ Service / ConfigMap / Secret 的完整定义——丢了 etcd = 丢了整个集群（CKA 必考）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Raft 共识 + 奇数节点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多节点之间投票保证数据一致；需要奇数个（3/5/7）——Raft 要求多数派（2/3、3/5）才能提交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46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/registry/pods/default/nginx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/registry/deployments/default/web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/registry/secrets/default/mysql-pass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键值对按路径组织 · 客户端端口 2379 · 节点间 2380 · Secret 默认明文（可配静态加密，实验 09 Lab 9）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54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只存集群状态，不存应用数据（应用数据在 PV 里）；etcd 是“集群的记忆”，其他组件都是“读记忆的人”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kube-scheduler：调度器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职责：决定新创建的 Pod 落在哪个节点上——不运行容器，只做“分配决策”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阶段一：过滤（Filtering）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排除不合适的节点：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资源够吗（CPU/内存 ≥ requests）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满足 nodeSelector / 亲和吗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污点能容忍吗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端口冲突？磁盘压力？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得到“候选节点集合”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2377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阶段二：打分（Scoring）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在候选中选最优：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剩余资源越均衡分越高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与同应用 Pod 分散开（反亲和）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亲和偏好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得分最高者胜出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023360"/>
            <a:ext cx="45720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排障关联：Pod 一直 Pending，十有八九是调度阶段失败——看 Events 的 FailedScheduling 原因（第 16 章）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kube-controller-manager：控制器集合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每个控制器负责调和一类资源（都是 §2.3 控制循环的实例）：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控制器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副本/更新状态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控制器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副本数量（创建/删除 Pod）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控制器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每节点一个副本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/ CronJob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一次性任务 / 定时触发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控制器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节点健康、驱逐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Namespace 控制器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命名空间删除（先清空）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40965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为什么合并成一个进程？每个控制器逻辑上独立，但打包成一个二进制方便部署与升级（kubeadm 只需管一个 Pod）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6384" y="44622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cloud-controller-manager（云环境）：对接云厂商 API（负载均衡/路由/云盘）——裸机/教学集群没有它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数据面组件详解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kubelet：节点上的 Kubernetes 代理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kube-proxy：Service 的交通警察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容器运行时与 CRI：真正跑容器的引擎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kubelet：节点上的“Kubernetes 代理”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管理该节点所有 Pod 的生命周期，并持续向控制面上报节点状态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Pod 定义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通知“Pod X 调度到本节点”→ 读取 spec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03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03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762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调用容器运行时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1762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CRI：建沙箱（pause）、拉镜像、起容器、挂卷配网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288950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执行探针（liveness 重启 / readiness 摘流量）、采集资源（cAdvisor）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301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心跳上报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360273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10s 上报；超 40s 无心跳 → 控制面判 NotReady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43400"/>
            <a:ext cx="45720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关键点：kubelet 是节点侧唯一与 apiserver 对话的人；节点 Ready 与否取决于 kubelet 心跳；端口 10250；静态 Pod 不经调度器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kube-proxy：Service 的“交通警察”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Service 的负载均衡——把发往 Service 虚拟 IP 的流量转发到后端某个 Pod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应用访问 Service：http://10.96.x.x:80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38528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进入节点内核（iptables 或 IPVS）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14016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140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kube-proxy 提前写好的规则匹配到 Service 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89504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895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按规则随机/轮询选择后端 Pod IP（Endpoints 列表）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64992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649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DNAT 改写目标地址 → 转发到 Pod 容器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7764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69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iptables vs IPVS：iptables 是线性链表 O(n)——Service 越多越慢；IPVS 是哈希表 O(1)——直接查表命中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只做转发不做服务发现（发现靠 DNS）；规则写进内核，流量不经过 kube-proxy 进程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容器运行时与 CRI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82880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唯一指挥者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 (gRPC)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801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级 pause 容器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26680" y="11887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2801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create/start/stop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pull/list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5603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175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108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容器（沙箱）：每个 Pod 最先创建的“占位容器”，持有 Pod 的网络命名空间等共享资源——Pod 的 IP 属于 pause 容器，删 pause = 整个 Pod 消亡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3566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标准：镜像格式与运行时行为遵循 OCI——第 1 章的 Docker 镜像能被 containerd 直接使用（Docker 多一层 daemon，containerd 更轻）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章的容器原理（命名空间/cgroups/镜像分层）就是在这里被“执行”的——kubelet 通过 CRI 驱动 containerd 用内核机制跑起容器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组件通信全流程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旅程一：kubectl get pods 读请求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旅程二：kubectl apply 创建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通信安全：TLS 双向证书与关键端口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旅程一：kubectl get pods 读请求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kubeconfig（地址 + 证书）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 请求（客户端证书）→ 认证 → 授权 → 准入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18304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/registry/pods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92824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03136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组装响应 → kubectl 展示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56616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66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读请求短：kubectl → apiserver → etcd → 回来；kubectl 通常走 apiserver 缓存（watch 已同步），不每次都打 etcd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注意：kubectl 连接用 kubeconfig 里的客户端证书（kubernetes-admin）——没有证书的请求在认证阶段就被拒绝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旅程二：kubectl apply 创建 Deployment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45720" cy="402336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 kubectl apply -f web.yaml（发送期望状态）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64208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6420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apiserver：认证 → 授权 → 准入 → 写入 etcd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39696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3969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Deployment 控制器：Watch 到新 Deployment → 创建 ReplicaSet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15184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1518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ReplicaSet 控制器：创建 3 个 Pod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90672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906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Scheduler：绑定 Pod → node2（写入 nodeName 字段）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66160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66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kubelet：Watch 到 Pod 已调度给我 → CRI 拉镜像、建沙箱、起容器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041648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416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kubelet 上报 Running + IP → apiserver 更新 etcd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每一步都是“写对象 → Watch 通知 → 下一个组件处理”的接力；没有任何两个组件直连——这就是声明式。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通信安全：TLS 双向证书与端口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 TLS（mTLS）：通信双方都持有证书，互相验证身份——集群有一个 CA，每个组件有自己的证书（由 CA 签发）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谁连它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kube-apiserver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所有组件 + kubectl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apiserver（上报/下发）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客户端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节点间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节点互连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scheduler / controller-manager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10259 / 10257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健康检查（本地）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排障关联：“connection refused 到 6443”= apiserver 挂了；“节点 NotReady”先查 10250（kubelet）——第 16 章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对象模型详解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Group / Version / Kind：如何定位一个资源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metadata：对象的身份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spec vs status：期望 vs 当前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完整示例：Deployment 对象逐字段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 / Version / Kind：如何定位一个资源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        # 组/版本：apps 组的 v1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           # 类型：Deployment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             # 核心组没有组名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                  # 只写版本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Group（API 组）：资源的分类。核心组（core）最特殊——没有组名，如 Pod / Service / ConfigMap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其他组：apps（Deployment/STS/DS）、batch（Job/CronJob）、networking.k8s.io（Ingress/NP）、rbac.authorization.k8s.io（Role）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49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Version：v1（稳定，生产可用）/ beta（测试）/ alpha（实验）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查看方式：kubectl api-resources（列出所有资源）/ kubectl explain pod（写 yaml 的字典）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对象的身份与期望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metadata：对象的“身份”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—— 命名空间内唯一（DNS 规范）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—— 所属命名空间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—— 可被选择器选中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 —— 非结构化元数据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—— 系统分配、不可变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resourceVersion —— 乐观锁版本号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3017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vs status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737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—— 用户编写：描述期望状态（要什么）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—— 系统维护：描述当前状态（实际怎样），用户不写它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控制器对比两者来调和（§2.3）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39319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记忆：spec 是“心愿单”，status 是“体检报告”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01184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get pod nginx -o yaml → 上半部分 spec（你写的期望）、下半部分 status（系统填的实际）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“一切皆对象”——理解对象结构就是理解 Kubernetes 的“语法”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完整示例：Deployment 对象逐字段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              # 定位：apps 组的 v1 版本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                 # 类型：Deployment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                       # 身份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                      # 名称（default ns 内唯一）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             # 命名空间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                       # 本对象自己的标签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                            # 期望状态（用户写）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                    # 期望副本数 → 控制循环维护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                     # 选择器：管哪些 Pod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                      # Pod 模板：描述“要的 Pod 长什么样”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web                 # Pod 标签（必须匹配 selector）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nginx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nginx:1.27        # 镜像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80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 由系统填：availableReplicas、conditions 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这四层结构（apiVersion / kind / metadata / spec）是所有对象的统一骨架——学会看一个，就会看所有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与 kubeconfig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命令体系：动词 + 资源 + 选项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kubeconfig 三段结构：集群 / 用户 / 上下文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命令体系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统一格式：kubectl &lt;动词&gt; &lt;资源类型&gt; [名称] [选项]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查看资源列表（-o wide 更多列、-o yaml 完整对象）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查看详细状态 + 事件（排障首选）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声明式创建/更新（幂等）——生产标准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 / create / delete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命令式快速操作 / 命令式对象创建 / 删除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explain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查看字段结构（写 yaml 的字典）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logs / exec / scale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/ 进入容器（v1.36 需 -- 分隔）/ 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 kubeconfig / 上下文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常用选项：-n &lt;ns&gt; 指定命名空间 · -A 所有命名空间 · -l 标签筛选 · -f 从文件 · -w 持续监听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与上下文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75488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clusters:      # 集群：连哪个 apiserver（地址 + CA 证书）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cluster: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https://192.168.0.114:6443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certificate-authority-data: &lt;CA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users:         # 用户：用什么身份（客户端证书 / token）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kubernetes-admin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client-certificate-data: &lt;证书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client-key-data: &lt;私钥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contexts:      # 上下文：集群 + 用户 + 命名空间的组合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context: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cluster: 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kubernetes-admin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kubernetes-admin@kubernetes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current-context: kubernetes-admin@kubernetes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 / 多身份切换（CKA 高频）：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645920"/>
            <a:ext cx="3017520" cy="1828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查看所有上下文（* 标记当前）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&lt;名&gt;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切换上下文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current-context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看当前上下文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生产上可能有“开发/生产集群、只读/管理员账号”——靠上下文切换，而不是反复改文件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【沙盒演练】Killercoda：零成本接触真实集群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浏览器打开免费沙盒，1 分钟拿到现成集群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五个演练：看组件 / describe / 建 Pod / 自愈 / Service+scale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沙盒演练（Killercoda，约 30 分钟）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环境：https://killercoda.com/playgrounds/scenario/kubernetes · GitHub 账号登录 · 单节点集群 · 最长 1 小时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印证的概念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认识集群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get nodes / get pods -n kube-system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架构图上的每个方块 = 真实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describe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apiserver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对象结构、Events、启动参数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建第一个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nginx + get -o yaml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命令式、spec vs status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体验自愈 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 Pod 删了不重建 vs Deployment 自动补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控制循环——全书最重要的“哇”时刻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Service + scale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expose + curl Service + scale 2→5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稳定入口、弹性（改期望即扩缩）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衔接实验手册：这些命令的完整讲解见实验手册（实验 01）“Kubectl 基础与公共操作”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= 容器编排平台：声明式、自愈、弹性、可移植、可扩展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六概念：集群/节点、Pod（最小调度单元）、工作负载、Service（稳定入口）、命名空间、标签选择器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声明式（告诉要什么）vs 命令式（告诉怎么做）——生产标准 kubectl apply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控制循环：期望状态 ↔ 当前状态持续调和——自愈与弹性的根源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控制面四组件 + 数据面三组件：各司其职、只与 apiserver 通信（星型拓扑）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对象模型：GVK 定位 + metadata（身份）+ spec（期望）+ status（当前）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为什么“Pod 是调度的最小单元”而不是容器？Pod 内多容器共享什么？（提示：sidecar）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控制循环中“观察”靠 apiserver 的哪个能力？“调和”由谁执行？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etcd 数据丢失，集群会发生什么？为什么第 3 章反复强调备份？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create -f 与 apply -f 的根本区别？为什么 CI/CD 必须用 apply？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一个请求从 kubectl 到容器启动，经过哪 5 个关键组件？每个做了什么？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是“代理进程”吗？流量真的经过它吗？（提示：规则写入内核）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1，25%）：组件职责、apiserver 唯一入口、etcd 状态存储、kubelet 心跳、端口（6443/10250/2379）、apply vs create、控制循环、上下文切换。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集群安装与配置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安装方式抉择 · 安装前规划 · containerd 运行时 · kubeadm 原理 · CNI 选型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01）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对比三种集群安装方式（kubeadm / 托管 / 轻量单机），说出各自定位，并解释本课程为什么选 kubeadm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说清安装前必须规划的四个方面：形态 / 版本 / 网络 / 环境，每个决策背后的原理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解释“容器运行时为什么是 containerd 而不是 Docker”，以及 CRI-O、Kata 等运行时的适用场景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完整描述 kubeadm 安装流程三阶段，理解 kubeadm init 每一步的原理（PKI 证书、静态 Pod、kubeconfig）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worker 加入的 token 机制与 TLS bootstrap 原理，理解 NotReady 是正常中间态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对比主流 CNI 插件（Calico / Flannel / Cilium / Weave），说出选 Calico 的理由与“Pod 网段必须一致”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了解国内环境镜像获取的问题本质与三类变通思路（换仓库 / 注入 pause / 加速站）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知道装完集群要验证什么、为什么验证这些，以及 etcd 备份是维护起点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安装方式的抉择：为什么是 kubeadm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三类主流方式：云托管（EKS/AKS/GKE）、轻量单机（minikube/kind/k3s）、kubeadm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学习阶段必须选“过程可见”的方式——kubeadm 把每个组件一步步摆到你面前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托管服务控制面是黑盒，学不到集群怎么运转，出了问题只能提工单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CKA 考试直接考察 kubeadm 流程（域 1，权重 25%）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安装方式的抉择：为什么是 kubeadm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103120"/>
                <a:gridCol w="17373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云托管服务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（EKS/AKS/GKE/ACK）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一键创建集群、控制面完全托管，最快最省心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控制面是黑盒——学不到集群怎么运转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生产使用，不是学习途径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轻量单机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（minikube/kind/k3s）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秒级起集群、资源占用小，本地快速体验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与生产多节点形态差异大（无真实跨节点调度/网络/存储）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开发调试、临时体验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（本课程）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官方标准工具，可控、可解释、可扩展，过程透明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需要逐节点操作，有一定学习成本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 + 生产两相宜，CKA 考察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决策逻辑：学习阶段必须选“过程可见”的方式——kubeadm 把第 2 章的每个组件（etcd、apiserver、kubelet…）一步步摆到你面前；托管服务把这些全藏起来，学不到东西。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安装前必须想清楚的事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形态与资源：单节点 / 标准 3 节点 / 生产高可用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版本策略：kubelet/kubeadm/kubectl 三件套同版本、装后锁定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网络规划：节点 / Pod / Service 三个网段互不重叠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环境前置：swap、内核模块、ip_forward、主机名——每项都有“为什么”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集群形态与版本策略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单节点：1 台机器既是控制面又是工作节点——学习入门够用，但看不到跨节点调度与多节点网络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1848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1848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3 节点（本课程）：1 控制面 + 2 工作节点——能完整演练调度、网络、存储、故障转移，学习的最优形态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93976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9397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生产高可用：3 控制面 + N 工作节点——控制面自身也要冗余（多控制面 + 负载均衡，第 14 章）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资源底线：每节点 2 核 / 2GB / 20GB（教学建议 4 核 8GB 更从容）· 关键前提：节点间内网互通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版本策略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用当前最新稳定版（kubeadm 会告知可用版本），本课程基线 v1.36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13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/ kubeadm / kubectl 三件套必须同版本——版本对齐的协议交互，跨版本会告警甚至失败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970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工作节点与控制面版本一致（官方允许跨一个次版本，但一致最稳）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811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装完后锁定版本（apt-mark hold）——防止系统自动升级把集群搞崩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网络规划：三个网段不能打架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73736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本课程取值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为什么不能冲突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机器的真实内网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192.168.0.0/24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物理基础，真实存在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（--pod-network-cidr）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Pod 的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10.244.0.0/16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与节点网段冲突 → Pod 与节点 IP 混淆、路由错乱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（--service-cidr）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虚拟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10.96.0.0/12（默认）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同样不能与上面两个重叠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18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611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常见错误：云主机内网常用 192.168.x.x，若 Pod 网段也选 192.168.x.x 两者重叠——流量会被路由到错误的地方；选一个明显不同的网段（10.244.x.x）就对了。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三个网段由 --pod-network-cidr / --service-cidr 声明，是 IPAM 的“IP 池”边界（§3.7）；规划顺序：节点网段（物理）→ Pod 网段 → Service 网段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环境前置条件：每项的“为什么”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 swap（交换分区）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用 cgroup 精确限制 Pod 内存，swap 让“内存超限”不可控——预检直接拒绝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54864" cy="42976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4592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内核模块 overlay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容器镜像分层文件系统的底层支撑——没有它 containerd 无法工作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内核模块 br_netfilter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让经过网桥的流量也能被 iptables 处理——CNI 的网络策略（第 9 章）依赖它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51760"/>
            <a:ext cx="54864" cy="42976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5176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ip_forward=1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节点内核转发——跨节点 Pod 通信、Service 转发的必经之路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主机名与 hosts 解析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15468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用主机名标识节点，节点间必须能互相解析（否则证书请求和注册都会失败）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preflight 在 init 时逐项检查——缺什么会明确报错，按提示修复即可；理解每项原理，比背命令更重要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设计指南：容量规划与节点选型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526280" cy="3017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控制面节点（按集群规模）：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&lt;50 节点     4C / 8G / 50G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50-200 节点  8C / 16G / 100G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200+ 节点   16C / 32G / 200G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（etcd 独立部署）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节点（按负载类型）：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通用型       8C / 32G（微服务）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计算密集型  16C / 32G（CPU 密集）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内存密集型   8C / 64G（缓存/JVM）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GPU 节点     按 AI/ML 需求独立规划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257800" y="1143000"/>
            <a:ext cx="33375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14300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黄金法则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40680" y="148132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宁可多节点小规格，不要少节点大规格（爆炸半径更小）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单节点 Pod 密度 ≤ 110（kubelet 默认上限）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预留 kube-reserved + system-reserved ≈ 15-20%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2514600"/>
            <a:ext cx="33375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251460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性能基线（控制面的命脉）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40680" y="285292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生产必须 SSD（fsync &lt; 10ms；机械盘导致选举超时、集群不稳定）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IOPS ≥ 3000；DB SIZE &gt; 2GB 告警、&gt; 8GB 紧急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定期 compact + defrag 纳入运维日历（第 14 章）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3886200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3886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CIDR 容量推演（Pod 网段 vs 节点规模）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4206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/16 → 每节点 /24 → 最多 256 节点 / 65,536 Pod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/12 → 4,096 节点 / 1,048,576 Pod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/12 通常足够（4,096 个）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决策逻辑：先定业务规模（节点数/Pod 密度）→ 反推 CIDR 与节点规格 → 按 etcd 基线选磁盘 → 套内核调优——容量规划不是“越大越好”，是“匹配业务 + 留余量”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容器运行时：为什么是 containerd，而不是 Docker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运行时 = 被 kubelet 通过 CRI 驱动的容器引擎（gRPC 协议）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历史纠葛：v1.24 移除 dockershim——containerd 直接实现 CRI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CRI-O / Kata / gVisor 各有适用场景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SystemdCgroup：containerd 与 kubelet 的 cgroup 驱动必须对齐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运行时角色与“为什么不是 Docker”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运行时角色：kubelet 通过 CRI（容器运行时接口，gRPC 协议）指挥“跑容器的引擎”——引擎必须实现 CRI，kubelet 才能驱动它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560320" cy="19659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早期：Docker 是事实标准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通过 dockershim 适配层直接对接 Docker——当时必须兼容它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81328"/>
            <a:ext cx="2560320" cy="1965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问题：Docker 是“全家桶”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4728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dockerd + containerd + 上层 CLI/网络/存储——K8s 只需要“跑容器”这一层，多余层是冗余，还引入“守护进程里的守护进程”的稳定性问题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81328"/>
            <a:ext cx="2560320" cy="19659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转折（v1.24）：移除 dockershim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3620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 本身直接实现 CRI（Docker 反而包了层壳）；少一层抽象 = 少一个故障点；CNCF 托管，与 K8s 同基金会、中立可信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现状：containerd 成为 Kubernetes 的默认/主流运行时（本课程实测 2.2.x）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你照样用 Docker 构建镜像（镜像符合 OCI 标准，第 1 章）——只是“跑容器”这步交给 containerd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其他运行时 · SystemdCgroup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containerd（本课程）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轻量、标准、CNCF 托管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默认选择，绝大多数场景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CRI-O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专为 Kubernetes 而生、极简（只为 K8s 服务）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偏爱极简、RedHat 生态（OpenShift 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Kata Containers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每个容器跑在轻量虚拟机里（硬件级隔离）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安全敏感：多租户、不可信负载（牺牲性能换隔离）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gVisor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用户态内核拦截系统调用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同样面向安全隔离场景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关键配置项的原理：SystemdCgroup = true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61188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 有两种“驱动”：systemd 或 cgroupfs。Ubuntu 用 systemd 管理整个系统的 cgroup 树，kubelet 也用 systemd 驱动——containerd 必须与 kubelet 用同一种驱动，否则两边对 cgroup 的管理冲突，Pod 的资源限制（requests/limits，第 7 章）失效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SystemdCgroup=true：containerd 的 cgroup 驱动要与 kubelet 对齐（都是 systemd）——这是安装时最容易漏、漏了最隐蔽的配置（集群能跑但资源限制不生效）。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3.4-3.5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安装流程与控制面初始化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三阶段流水线：准备 → 控制面 init → 加入与联网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kubeadm init 七步：预检 / PKI 证书 / kubeconfig / 静态 Pod / 拉起 / 附加组件 / join 命令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关键参数：--pod-network-cidr、--apiserver-advertise-address、--image-repository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失败排查：wait-control-plane 十有八九是镜像拉不下来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安装流程总览：一条流水线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阶段一：准备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（每台节点）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系统参数（swap/内核/主机名）→ 容器运行时（containerd）→ kubeadm / kubelet / kubectl 三件套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36392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阶段二：控制面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（master 一台）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4728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init → 生成证书与配置 → 拉起控制面静态 Pod → 配好 kubectl（输出 join 命令）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18288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阶段三：加入与联网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（worker 每台 + 控制面）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join（token + CA 校验）→ 装 CNI 网络插件 → 全部节点 Ready → 验收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为什么是这个顺序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4904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先备好运行时，控制面才能被“跑起来”——apiserver 等控制面组件本身也是容器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2394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6908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先初始化控制面，才有 apiserver 可供 worker 注册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4398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8912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先加入 worker，最后装 CNI——CNI 是集群级组件，装一次管所有节点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6402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0916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 CNI，所有节点才真正 Ready（对应 §3.8 验证第一层）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控制面初始化：kubeadm init 在做什么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kubeadm init，背后是七个步骤——每一步对应第 2 章的一个知识点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预检：swap / 内核模块 / CRI socket / 端口——按提示逐项修复（kubeadm 明确报缺什么）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9280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生成 PKI 证书：CA + 组件证书——组件互信基础（§2.6.3 在此落地，默认 1 年有效期）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68296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6829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生成 kubeconfig：admin.conf——kubectl 访问集群的凭证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43784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437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生成静态 Pod 清单：/etc/kubernetes/manifests/——kubelet 直接拉起整个控制面（§2.5.1）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1927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kubelet 拉起控制面：等待 apiserver 健康（wait-control-plane）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9476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部署附加组件：kube-proxy / coredns + 控制面污点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70248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27024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702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输出 join 命令：token + CA hash——worker 的“入场券”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读图要点：证书（②）与静态 Pod 清单（④）是承上启下的两步——证书保证组件互信；静态 Pod 清单让 kubelet 直接拉起整个控制面；最后输出的 join 命令是 worker 的“入场券”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关键参数与初始化失败排查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关键参数及决策逻辑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44752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--pod-network-cidr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773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 Pod 网段（§3.2.3）——必须与 CNI 配置一致，不一致 → Pod 拿不到 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9424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--apiserver-advertise-address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对外宣告地址——用节点内网 IP（填公网 IP 会导致内网通信问题）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54096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--image-repository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控制面镜像从哪拉（默认 registry.k8s.io）——国内环境第一个变通点（§3.9）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58768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--cri-socket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指定容器运行时 socket——多运行时并存时显式指定更稳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初始化失败排查思路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444752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444752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 wait-control-plane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73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kubelet 日志找“第一个错误”——十有八九是镜像拉不下来（控制面镜像或 pause 沙箱镜像，§3.9）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340864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340864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预检报错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按提示逐项修复（swap / 内核 / 端口）——报错信息永远指向下一步（第 16 章展开）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236976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236976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失败不要急着 kubeadm reset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很多失败（如 pause 镜像）修复环境后重试 kubelet 即可恢复——reset 会清掉已生成的证书和配置，等于从头再来</a:t>
            </a:r>
            <a:endParaRPr lang="en-US" sz="10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3.6-3.7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节点加入与网络插件（CNI）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token（入场券）+ CA hash（防中间人）+ TLS bootstrap（换取长期证书）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join 后 NotReady 是正常中间态——在等 CNI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CNI 角色：分配 Pod IP、打通跨节点路由——没有 CNI 节点不 Ready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选型：Calico（BGP + NetworkPolicy）vs Flannel（极简）vs Cilium（更强更复杂）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工作节点加入：token 机制与 TLS bootstrap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加入不是“复制个文件”，而是一个带安全校验的引导流程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token（入场券）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时生成的一次性口令（默认 24 小时有效）——worker 凭它向 apiserver 证明“我是被邀请加入的”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84248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 hash（防中间人）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9842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命令带 --discovery-token-ca-cert-hash（apiserver 证书指纹）——worker 用它校验对方真的是我们的 apiserver，防止假 apiserver 骗取证书；token 与 CA hash 二者缺一不可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51176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51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bootstrap（证书交换）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25511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用 token 向 apiserver 申请自己的客户端证书，CA 签发（§2.6.3 双向 TLS）——之后 kubelet 就用这张证书通信，不再用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18104"/>
            <a:ext cx="54864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181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后为什么 NotReady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31181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节点已注册进集群但还没有网络插件——kubelet 一直检查“网络是否就绪”（CNI 是否装好）；装完 CNI 自动变 Ready（正常中间态）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过期怎么办：在控制面节点执行 kubeadm token create --print-join-command 重新生成 join 命令即可——token 只是引导凭证，丢了/过期不影响已加入的节点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这个现象也印证第 2 章“节点 Ready 依赖 kubelet + 网络就绪”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的角色与主流插件对比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CNI（容器网络接口）插件：Pod 创建时分配 IP、配置网卡、建立跨节点路由——没有 CNI：Pod 没有 IP、节点间不通、节点不 Ready（必须装）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不止管“连通”：还包含 IPAM（IP 地址管理）——负责 Pod IP 的分配/回收；--pod-network-cidr 就是给 IPAM 划定“IP 池”范围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246888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Flannel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VXLAN 覆盖网络（overlay）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最简单、最轻量，Pod 间二层互通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学习、小型集群、“能通”就行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Calico（本课程）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BGP 三层路由（可选 overlay）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性能好、原生支持 NetworkPolicy（第 9 章必需）、可扩展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生产主流；需要网络策略/性能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Cilium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eBPF 内核编程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性能最强、功能最丰富（策略/可观测/服务网格）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大型生产、要求高（学习曲线陡）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Weave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覆盖网络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简单易用、自带 DNS 加密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小规模、追求简单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云厂商自带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云网络直通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与云 VPC 集成好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托管集群（EKS 等）默认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IPAM 才能理解“Pod IP 从哪来、为什么不会耗尽/冲突”（IP 耗尽排障见第 16 章）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Calico · 一个必须一致的参数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本课程为什么选 Calico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489204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44752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447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性能与模型：BGP 三层路由（数据走真实路由而非隧道封装）——比 Flannel 的 VXLAN 性能好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4892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66544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66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NetworkPolicy：第 9 章要演练“网络策略隔离”——Flannel 不支持，Calico 原生支持（教学刚需）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489204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生产主流：学了就是生产可用的——大量生产集群用 Calico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4892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10128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实测稳定：本课程在 v1.36 实测通过（多源拉取、三节点互通）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1444752"/>
            <a:ext cx="2971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444752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CALICO_IPV4POOL_CIDR 必须与 --pod-network-cidr 完全一致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52160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时声明的网段是“集群的 Pod 网段约定”，Calico 的 IP 池是“实际分配 IP 的池子”——两者不一致，Calico 分配的 IP 落在约定网段之外，路由就乱了。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这是 CNI 安装中最常见的错误点。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决策逻辑：教学选型 = “性能可用 + 支持全部要教的功能（网络策略）+ 生产通用”；Flannel 适合“只想通网”的极简场景；Cilium 是“更强但更复杂”的进阶选项</a:t>
            </a:r>
            <a:endParaRPr lang="en-US" sz="11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3.8-3.11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验证、国内变通、维护与实验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验证四层：节点 Ready / 组件 Running / 跨节点调度 / 镜像拉取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国内镜像：换仓库 / 本地注入 pause / 加速站——先测再配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维护起点：etcd 备份是装完集群的第一件事（CKA 必考）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实验指引：实验 01 手动安装 + 实验 12 集群维护 + 附录 A-F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集群验证：验证什么、为什么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装完集群，验证不是“随便看看”，而是对照第 2 章架构逐层确认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为什么验证它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个节点全部 Ready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Ready = kubelet 心跳正常 + 网络就绪（第 2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kube-system 的系统 Pod 全部 Running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控制面四件套 + kube-proxy + coredns + calico 都在岗（第 2 章架构图）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Pod 能创建并落到 worker 节点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证明调度器工作 + 控制面污点生效（控制面不跑业务，第 6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测试镜像能正常拉取启动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证明镜像获取链路可用（§3.9 的变通是否生效）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验证命令（少量即可）：kubectl get nodes · kubectl get pods -A · 跑一个测试 Pod 看调度结果——具体命令在实验手册（实验 01）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教学提示：测试 Pod 调度到 worker 而非控制面是正常设计（control-plane 污点）——第一次看到别以为是故障</a:t>
            </a:r>
            <a:endParaRPr lang="en-US" sz="11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国内环境镜像获取策略（问题本质与思路）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问题的本质：官方组件镜像在 registry.k8s.io、业务镜像在 docker.io，国内网络访问不稳定——安装失败九成是镜像拉取失败（§3.5 的 wait-control-plane 就是典型）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控制面镜像：换仓库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 --image-repository 指向国内可达仓库（如阿里云）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边界：只换控制面组件镜像仓库，管不到 kubelet 的沙箱镜像——引出最大的坑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kubelet 沙箱镜像（pause）：本地注入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由 kubelet 按内置默认名（registry.k8s.io/pause:3.10.1）拉取——从国内源拉取后 tag 成期望名字（多 tag 相近版本），重启 kubelet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国内安装最大的坑（附录 F 有完整实测）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业务/CNI 镜像（docker.io）：加速站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 支持 per-registry 镜像加速配置（hosts.toml 指向加速站）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要点：加速站可用性随时间变化（403/慢）——先实测再配置，必要时多站兜底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先测再装：版本源 + 镜像源各探一次 → 决定要不要变通 → 按“换仓库 / 本地注入 / 加速站”分类处理——别装到一半才发现（预测试脚本在实验手册前置检查）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安装之后：维护起点与实验指引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安装之后：集群维护的起点（动手实验在实验 12，完整流程第 14 章展开）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备份（装完第一件事）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= 集群的全部状态——配置快照 + 周期策略 + 恢复演练，CKA 必考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032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升级认知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升级有固定顺序：控制面先行、worker 逐台排空升级（第 14 章展开）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12“集群维护与运维”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 + kubeadm 升级 + 节点维护演练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0789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实验演练指引（本章动手内容全在实验手册 实验 01）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74920" y="176479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手动安装（10 步）：按本章原理走完整流程（含国内变通与故障清单）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31343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12：etcd 备份恢复 / kubeadm 升级 / 节点维护演练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86207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788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A-F：加速站清单与预测试、配置原理、版本组合、worker 一键脚本、单节点安装、实测记录（9 个坑）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341071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337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基础：第 2 章 Killercoda 演练的命令在自有集群完整过一遍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教学建议：先在 Killercoda（第 2 章）建立命令直觉 → 读本章理解原理 → 按实验手册（实验 01）动手安装 → 对照 §3.8 验收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方式抉择：kubeadm（过程可见、可扩展、CKA 考）＞ 托管（生产黑盒）＞ 轻量单机（本地体验）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27048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规划四件事：形态（3 节点教学最优）、版本（三件套一致 + 锁定）、网络（三个网段互不重叠）、环境（swap/内核每项有原理）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56816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运行时选型：containerd（直接实现 CRI、轻量、CNCF 托管）取代 dockershim 时代；SystemdCgroup 必须与 kubelet 对齐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86584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原理：预检 → PKI 证书 → kubeconfig → 静态 Pod 清单 → 拉起控制面 → 附加组件 → join 命令；失败先查镜像，别急着 reset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437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原理：token（入场券）+ CA hash（防中间人）+ TLS bootstrap（换取长期证书）；NotReady 是等 CNI 的正常中间态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4612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选型：Calico（BGP 性能 + NetworkPolicy + 生产主流）vs Flannel（极简）vs Cilium（更强更复杂）；Pod 网段必须与 init 一致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75888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验证四层：节点 Ready / 组件 Running / 跨节点调度 / 镜像拉取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05656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国内变通：问题本质是镜像可达性；三类思路（换仓库 / 本地注入 pause / 加速站）；先测再配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562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62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535424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维护起点：etcd 备份是装完集群的第一件事（CKA 必考）</a:t>
            </a:r>
            <a:endParaRPr lang="en-US" sz="11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Kubernetes v1.24 要移除 dockershim？用 containerd 和用 Docker 的本质区别是什么？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三个网段（节点/Pod/Service）为什么必须互不重叠？如果 Pod 网段选了和节点一样的 192.168.0.0/16 会发生什么？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init 的七步里，哪一步对应第 2 章的“静态 Pod”？控制面组件为什么用静态 Pod 而非 Deployment 管理？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join 为什么需要“token + CA hash”两样东西？缺一个会有什么风险？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为什么没装 CNI 时节点一直是 NotReady？kubelet 是怎么知道“网络没就绪”的？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如果只要求“Pod 能互通、不在乎网络策略”的小集群，你选什么 CNI？为什么？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1：集群架构、安装与配置 25%，权重最高的实操域）：kubeadm init 参数含义、token 续发、镜像预热、join 的 token + CA hash、CNI 与 Ready 的关系、wait-control-plane 排查、etcd 备份（snapshot save/restore，第 14 章展开）。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Pod 与容器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最小调度单元 · 配置要素 · Init 容器 · 探针与优雅终止 · 资源模型 · 生命周期走查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02 解析 Pod）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解释“Pod 为什么是调度的最小单元”，说清多容器共享什么、为什么要共享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5453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45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179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描述多容器 Pod 三种协作模式（sidecar / 适配器 / 大使）与各自场景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385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解释镜像拉取策略三种取值，以及“默认策略由镜像 tag 决定”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386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 command / args 与 Dockerfile ENTRYPOINT / CMD 的覆盖关系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072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7797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Init 容器的工作机制（顺序 / 失败 / 共享卷）与适用场景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004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完整讲解三种探针（startup / liveness / readiness）的职责与配合关系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6484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210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描述容器优雅终止完整流程：preStop → SIGTERM → 宽限期 → SIGKILL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0416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requests（调度承诺）与 limits（运行上限），CPU 与内存超限的不同后果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489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4622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Downward API 注入哪些元数据，走查 Pod 从提交到删除的完整生命周期</a:t>
            </a:r>
            <a:endParaRPr lang="en-US" sz="12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的本质：最小调度单元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逻辑主机：紧密耦合的进程必须同机共存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共享边界：网络 / UTS / 存储卷 / 生命周期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单容器 vs 多容器：sidecar / 适配器 / 大使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是“逻辑主机”：共享什么、为什么共享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291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设计动机：为什么必须“同机共存”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主应用 + 日志采集器：同机才能读日志文件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Web 服务 + 本地代理（Envoy）：同机才能拦截流量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 + 配置刷新器：定期拉配置写入共享目录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拆成独立 Pod 的代价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不同（无法 localhost）· 存储不共享 · 生命周期不同步——调度器把整个 Pod 当作整体调度到同一节点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54864" cy="32918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内共享什么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4" y="1755648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网络命名空间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 Pod IP + 端口空间，容器间用 localhost 互访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UTS 命名空间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共享主机名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级卷可被所有容器挂载（如共享日志目录）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一起调度、一起终止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084064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不共享：PID 命名空间（默认）、cgroups（各自独立资源限制）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84064" y="4462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的 IP 属于 pause 沙箱——“删 Pod = 整个 Pod 消亡”的技术根源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单容器 vs 多容器：三种协作模式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sidecar（边车）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辅助主容器，增强而不侵入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日志采集 filebeat · 指标暴露 exporter · 本地文件同步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2286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Adapter（适配器）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930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把主容器的输出转换成统一格式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应用日志转标准 JSON · 指标转监控系统格式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2286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Ambassador（大使）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362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代表主容器访问外部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数据库连接池代理 · 访问外部服务的本地代理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9476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决策逻辑：先问“能不能一个容器搞定？”——单容器最简单、运维成本最低；只有进程必须同生命周期、共享本地资源时才拆多容器（sidecar 等模式）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2：多容器 Pod）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容器的配置要素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镜像与拉取策略：默认策略由 tag 决定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command / args 覆盖 ENTRYPOINT / CMD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环境变量、标签注解、SecurityContext 安全基线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镜像与拉取策略（imagePullPolicy）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IfNotPresent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本地有就用本地，没有才拉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版本化镜像（nginx:1.27）的默认策略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每次到仓库拉取，检查 digest 有变化就更新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:latest 或无 tag 的默认策略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只用本地镜像，绝不拉取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离线环境、测试镜像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7889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986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关键认知：默认策略由镜像 tag 决定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带具体版本（nginx:1.27）→ 默认 IfNotPresent（版本不可变，本地有就不重复拉）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:latest 或没写 tag → 默认 Always（latest 是“移动靶”，每次启动确认最新）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“tag 即契约”：版本化镜像假设不可变、latest 假设始终要最新——生产永远用具体版本号 + IfNotPresent，规避 :latest 的不可预测性。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4：拉取策略）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命令与参数：command / args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镜像默认命令来自 Dockerfile（ENTRYPOINT + CMD），Kubernetes 可以覆盖：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 Dockerfile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ENTRYPOINT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替换启动程序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替换启动参数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覆盖规则（容易混淆，重点记忆）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args → 程序不变（用镜像 ENTRYPOINT），只换参数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command → 程序换掉，参数用镜像默认 CMD（必要时同时清掉 args）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2702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+ args 都写 → 程序和参数全换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为什么需要覆盖：同一镜像跑不同任务（busybox 既当“睡眠容器”又当“一次性任务”）、调试进 shell、镜像默认命令在集群环境不适用。kubectl 命令式创建用 --command -- &lt;命令&gt;（v1.36 必须带分隔符）</a:t>
            </a:r>
            <a:endParaRPr lang="en-US" sz="10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环境变量与标签注解（Pod 层面）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环境变量：传配置最直接的方式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静态值：env: [{ name: MODE, value: prod }]——写死在 Pod 定义里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动态来源：从 ConfigMap / Secret 引用（第 8 章）；从 Downward API 注入自身元数据（§4.5.4）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局限：不适合传“文件型配置”（如整个配置文件）——文件型用 ConfigMap 卷挂载（第 8 章）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7490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54864" cy="3429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标签与注解的区别（Pod 层面补充）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84064" y="1783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“被管理的凭据”：Deployment / Service 靠它选中 Pod——标签与选择器必须精确匹配，错了 Pod 就“没人管”（删了不重建、流量不进）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84064" y="3154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注解 = 声明“意图”：如 kubernetes.io/change-cause（记录更新原因）、监控告警配置——控制器 / 工具读取，但不参与选择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5 / Lab 7：环境变量、标签与注解）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生产基线：SecurityContext 安全设置区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容器默认以 root 运行（与宿主机共享内核权限，被攻破有逃逸风险）——用 SecurityContext 声明降权与加固：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572000" cy="2788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206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securityContext:                # Pod 级：对所有容器生效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runAsNonRoot: true            # 禁止 root（UID 0），否则拒绝启动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runAsUser: 1000               # 指定运行用户（UID）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securityContext:              # 容器级：只对本容器生效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readOnlyRootFilesystem: true     # 根文件系统只读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capabilities: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drop: ["ALL"]             # 丢弃全部 Linux 能力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463040"/>
          <a:ext cx="3291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runAsNonRoot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容器逃逸、root 权限滥用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readOnlyRootFilesystem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恶意文件写入（卷仍可写）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capabilities.drop 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危险内核能力（SYS_ADMIN 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allowPrivilegeEscalation: 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禁止子进程提权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先建立基线：容器默认不安全 → 用 SecurityContext 显式降权；第 12 章讲 PSA 如何强制它（“自觉 vs 强制”）</a:t>
            </a:r>
            <a:endParaRPr lang="en-US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容器：先决条件执行器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为什么需要：等待依赖、预置数据、预热缓存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工作机制：顺序执行 · 失败从头重跑 · 共享卷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vs sidecar：“做完就撤”还是“长期伴随”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容器：启动前的“先决条件执行器”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Init 容器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等待依赖就绪：while ! nc -z mysql 3306; do sleep 1; 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预置数据 / 权限：下载配置、初始化目录、设置文件权限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266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预热缓存：启动前先把缓存填充好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放进主容器的代价：与主进程争抢资源、逻辑混杂、“启动慢被探针误杀”（§4.4.2）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7490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54864" cy="3429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工作机制：主容器之前，做完就退出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38928" y="18013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容器按声明顺序逐个执行（init-1 等待数据库 → init-2 预置数据 → 主容器）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38928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4048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某个失败 → 整个 Pod 按重启策略重启，所有 Init 从头再跑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38928" y="30449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0266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与主容器共享 Pod 卷：预置的数据主容器直接读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8928" y="36667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64845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独立镜像：主容器用精简运行时，Init 用带工具的镜像下载数据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84064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“失败从头跑”：Init 可能修改共享卷的中间状态——从第一个重跑保证准备动作的确定性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3：Init 容器）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 vs sidecar 容器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Init 容器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 容器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主容器之前，跑完即退出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与主容器并行，长期运行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Pod 同生共死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等待依赖、预置数据、预热缓存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日志采集、本地代理、指标暴露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52044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11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判断口诀：“做完就撤”用 Init 容器，“长期伴随”用 sidecar 容器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2 多容器 / Lab 3 Init：对照验证两种容器的运行时机差异）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容器生命周期管理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三种状态与退出码：137 = OOM 强杀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三种探针：readiness / liveness / startup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探测方式：httpGet / tcpSocket / exec / grpc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生命周期钩子与优雅终止流程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容器状态、退出码与重启策略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正在准备：拉镜像、创建等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930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正在运行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362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已退出：正常 / 异常，含退出码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46888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68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退出码排障必读：0 = 正常退出；非 0 = 异常（1 通用错误）；137 = SIGKILL（先怀疑内存超限 OOM）；143 = SIGTERM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restartPolicy：容器失败 / 退出后要不要重启（Pod 级配置）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Always（默认）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任何退出都重启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 等长期服务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OnFailure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只有异常退出（非 0）才重启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Job 等任务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Never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绝不重启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一次性批处理任务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三种探针：各管一件事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就绪探针“能用了吗？”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决定是否把流量发给这个 Pod（Service 后端列表是否包含它）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从 Service 摘除（Pod 不重启）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场景：启动慢、要加载缓存 / 连数据库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54864" cy="2468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存活探针“还活着吗？”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决定是否重启这个容器（自愈机制）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30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kubelet 杀容器并按重启策略重建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930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场景：进程活着但业务卡死（死锁 / 泄漏）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88720"/>
            <a:ext cx="54864" cy="2468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startupProbe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启动探针“开始检查了吗？”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 liveness / readiness 什么时候开始检查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62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启动阶段只查它 → 解决慢启动被误杀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场景：JVM 启动、加载大模型、冷启动慢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862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最小化原则：只配必要的——readiness 大多数有流量的服务要配；liveness 有死锁 / 泄漏风险时配；startup 启动超过默认 10s 必须配（防被 liveness 误杀）。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8：readiness 摘流量、liveness 重启，亲眼验证探针行为）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三探针的配合关系与参数速查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28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容器启动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0048" y="1280160"/>
            <a:ext cx="18288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startupProbe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通过？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61488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继续等待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不查其他探针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98848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91456" y="1280160"/>
            <a:ext cx="1828800" cy="777240"/>
          </a:xfrm>
          <a:prstGeom prst="rect">
            <a:avLst/>
          </a:prstGeom>
          <a:solidFill>
            <a:srgbClr val="E8F8E8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82896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从 Service 摘除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流量不进入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0256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12864" y="1280160"/>
            <a:ext cx="1828800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livenessProbe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持续检查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重启容器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回到起点（自愈）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 通过后才接流量；liveness 失败 → 重启 → 回到 startup 重新走流程（循环）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0040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101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探针参数（速查）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initialDelaySeconds 启动后等多久才第一次查 · periodSeconds 探测间隔 · timeoutSeconds 单次超时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failureThreshold 连续几次失败才判定失败 · successThreshold 连续几次成功才判定成功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读图要点：startup 通过前另外两个探针都不查（慢启动保护）；readiness 失败只摘流量；liveness 失败才重启——三个探针的失败后果各不相同</a:t>
            </a:r>
            <a:endParaRPr lang="en-US" sz="11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探针的实现方式：怎么探测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 HTTP GET，状态码 200-399 视为成功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 服务（最常用）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tcpSocket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尝试建立 TCP 连接，能连上即成功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HTTP 协议（数据库、Redis）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容器内执行命令，exit 0 视为成功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无法用端口判断（检查内部状态文件）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grpc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gRPC 健康检查协议（v1.24+）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gRPC 微服务，无需额外探针实现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选择逻辑：HTTP 服务用 httpGet（最贴近真实可用性）；TCP 服务用 tcpSocket；都没有的用 exec；gRPC 服务用 grpc 探针（要求服务端实现 gRPC 健康检查协议）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注意：探测路径要选“真实反映可用性”的端点（如 /healthz），而不是只返回 200 的静态页</a:t>
            </a:r>
            <a:endParaRPr lang="en-US" sz="11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生命周期钩子与优雅终止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postStart（启动后钩子）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注册到注册中心、初始化脚本——与主进程并发执行（不阻塞）；失败不会导致重启（只记录事件）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preStop（终止前钩子）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84064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通知注册中心下线、排空连接、保存状态——阻塞式：必须执行完（或超时）才继续终止流程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优雅终止完整流程（“发布不中断”的关键机制）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Terminating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Service 摘除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12848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preStop 钩子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58568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排空 / 反注册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30752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77056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SIGTERM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22776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应用自己收尾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41264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6984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等待宽限期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6984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30s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9168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05472" y="3154680"/>
            <a:ext cx="1517904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SIGKILL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51192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超时强杀兜底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应用收尾需要超过 30 秒？调大 terminationGracePeriodSeconds（实验 02 Lab 9：实测完整终止流程 5.8s）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 = 不丢请求：先摘流量 → preStop 排空存量 → SIGTERM 优雅退出 → 超时才 SIGKILL 兜底——发布、扩缩容、drain 都走这套流程。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资源模型：requests 与 limits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requests 管调度承诺，limits 管运行上限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CPU 可压缩（节流）vs 内存不可压缩（OOM）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QoS 三档：Guaranteed / Burstable / BestEffort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Downward API：注入 Pod 自身元数据</a:t>
            </a:r>
            <a:endParaRPr lang="en-US" sz="15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与 limits：两个不同的机制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requests（请求量）— 调度承诺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告诉调度器“这个容器至少需要多少”——决定 Pod 落在哪个节点（scheduler 过滤依据）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limits（上限）— 运行时限制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84064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kubelet“最多能用多少”——决定容器能跑多快 / 会不会被杀（运行时执行）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requests: CPU 0.5 / 内存 256Mi   ← 调度器：找剩余资源 ≥ 这个值的节点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limits:   CPU 1 / 内存 512Mi    ← kubelet：容器最多用这么多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可压缩 → 超限节流（throttling）跑慢点不致命　|　内存不可压缩 → 超限 OOM 被杀（SIGKILL，退出码 137）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生产底线：内存 limits 必须设——防泄漏容器拖垮整台节点（影响同节点其他 Pod）；CPU limit 可选，只是不节流。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10：requests / limits 生效、超限节流与 OOM）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不设置会怎样？与 QoS 等级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331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不设置的三种情况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只有 requests 没 limits：调度有保障，运行时不受限（可超用节点资源）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只有 limits 没 requests：limits 隐式等于 requests（K8s 自动补）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71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都没有：调度“任何节点都行”（可能挤爆别人），运行时无上限（风险）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7490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54864" cy="2331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 等级：决定节点紧张时谁先被杀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84064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Guaranteed（保证）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1737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= limits（都设且相等）——最后被杀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84064" y="2304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Burstable（可突发）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2304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&lt; limits 或只设 requests——有保障可超用，中间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84064" y="28712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BestEffort（尽力而为）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8712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什么都没设——最容易被杀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7947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生产实践：核心服务配 Guaranteed（requests = limits）；一般服务 Burstable；BestEffort 只给测试任务。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10：requests / limits 生效，超限节流与 OOM）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API：Pod 怎么“认识自己”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754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291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容器内部怎么知道自己的 Pod 名、命名空间、IP、所在节点？——Downward API 把 Pod 自身的元数据注入容器（环境变量或文件两种方式）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两种注入方式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9718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环境变量：Pod 名、命名空间、节点名、Pod IP（label / annotation 不能进 env）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文件方式（volume）：label / annotation 等全部字段，挂载成文件、支持热更新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10896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3716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MY_POD_NAME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valueFrom: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fieldRef: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fieldPath: metadata.name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注入的是“自身信息”，不是外部配置——外部配置用 ConfigMap（第 8 章）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典型用途：应用上报日志时带“我是哪个 Pod”、监控系统标记来源、按 Pod 标签决定行为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走查：一个 Pod 的完整生命周期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提交：kubectl apply deployment.yaml（1 副本，带 readiness + liveness 探针）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调度：scheduler 按 requests 过滤打分，选中 node2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创建：kubelet 建 pause 沙箱 → 拉镜像 → 建容器（Waiting: Pulling）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启动：容器 Running；postStart 钩子并发执行（注册 / 初始化）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探针：startup 成功 → readiness 成功 → 加入 Service 接流量（liveness 失败即重启）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/ 删除：摘流量 → preStop 排空 → SIGTERM → 优雅退出（超时 SIGKILL）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60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回收：删除 Pod 对象（中途内存超限可能已 OOM 被杀，退出码 137）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对照第 2 章控制循环：Pod 的生死由 ReplicaSet 控制器监视——它死了，控制器立刻补一个新的（自愈）</a:t>
            </a:r>
            <a:endParaRPr lang="en-US" sz="10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= 最小调度单元：共享网络 / 存储 / 生命周期；sidecar / 适配器 / 大使三种协作模式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容器配置：拉取策略默认由 tag 决定；command / args 覆盖 ENTRYPOINT / CMD；文件型配置走 ConfigMap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容器：顺序执行、失败从头重跑、共享卷预置数据——“做完就撤”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146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探针三兄弟：readiness 摘流量 / liveness 重启 / startup 慢启动保护；探测方式按协议选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优雅终止：摘流量 → preStop → SIGTERM → 宽限期 → SIGKILL——发布不丢请求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资源模型：requests 管调度、limits 管运行；CPU 可压缩（节流）、内存不可压缩（OOM 137）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044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8862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 三档决定被杀顺序；内存 limits 是生产底线；Downward API 注入自身元数据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61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3434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生命周期走查环环相扣；实验 02 十个 Lab 对应本章全部机制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864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5 章讲“管 Pod 的人”——Deployment 等控制器基于本章的 Pod 机制实现滚动更新、扩缩容与自愈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为什么“内存超限”比“CPU 超限”危险？分别会发生什么？（提示：可压缩 vs 不可压缩）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一个应用启动需要 90 秒，直接配 liveness 会发生什么？startup 探针怎么解决？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钩子里 sleep 5 的常见用途是什么？应用收尾需要 60 秒，要改什么配置？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容器与 sidecar 容器都“在主容器旁做事”，它们的本质区别是什么？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为什么“只设 requests 不设 limits”（内存）在生产上是危险的？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镜像带 :latest 时默认拉取策略是 Always——这带来什么风险？怎么规避？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7200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 工作负载与调度 15%）：探针三件套与参数、requests / limits、restartPolicy、imagePullPolicy；优雅终止流程、OOM 退出码 137、Init 容器顺序执行。</a:t>
            </a:r>
            <a:endParaRPr lang="en-US" sz="10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 工作负载控制器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控制器原理 · Deployment 与滚动更新 · StatefulSet · DaemonSet · Job/CronJob · 选型决策树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03 工作负载）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解释“为什么需要控制器”——裸 Pod 的三个致命问题，说出控制器的共同骨架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Deployment 的三层结构（Deployment → ReplicaSet → Pod）与职责分层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详细描述滚动更新的机制（maxUnavailable / maxSurge 如何控制节奏）与回滚原理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StatefulSet 如何解决有状态应用的三个难题（稳定标识 / 稳定存储 / 有序性）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DaemonSet 的机制与典型场景，说出它与 Deployment 的本质区别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Job 与 CronJob 的机制（成功语义、backoffLimit、并发策略）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根据应用类型（无状态 / 有状态 / 守护 / 任务）做出控制器选型决策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知道扩缩容与暂停机制背后的原理（修改期望状态）</a:t>
            </a:r>
            <a:endParaRPr lang="en-US" sz="12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控制器：管理 Pod 的“管理者”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裸 Pod 三个致命问题：不自愈 / 不扩缩 / 不更新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控制器 = 管 Pod 的人：声明期望，持续调和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共同骨架：selector + template + replicas + 控制循环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决策树：先问“身份”→ 再问“分布”→ 再问“任务”</a:t>
            </a:r>
            <a:endParaRPr lang="en-US" sz="15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为什么需要控制器 · 共同骨架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生产上几乎从不直接创建裸 Pod——控制器就是“管 Pod 的人”：你声明要什么样的 Pod、要几个，它负责创建、维持、更新、扩缩。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53312"/>
            <a:ext cx="54864" cy="10241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不会自愈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崩溃 / 被删，不会自动重建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53312"/>
            <a:ext cx="54864" cy="102412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不会扩缩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流量大要手动一个个建，流量降要手动删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8464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98464" y="1353312"/>
            <a:ext cx="54864" cy="102412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没有更新能力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镜像升级只能删了重建，无法滚动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8046720" cy="1645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578608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所有工作负载控制器（Deployment/StatefulSet/DaemonSet/Job/CronJob）的共同骨架：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① selector（选择器）：管哪些 Pod —— 按标签匹配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② template（Pod 模板）：Pod 长什么样 —— 镜像/端口/探针/卷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③ replicas（副本数，部分控制器无）：期望多少个 —— Deployment/StatefulSet 有，DaemonSet/Job 无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④ 控制循环：持续观察 → 对比期望 → 调和（第 2 章 §2.3）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核心认知：控制器不直接运行容器——它只创建/删除 Pod 对象，真正跑容器的是 kubelet；看到“Pod 删了又回来”，就是某个控制器在调和。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控制器选择决策树（先选对类型）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需要固定身份？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每个节点都要跑？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一次性任务？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需要定时？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874520" cy="77724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（数据库等）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1874520" cy="77724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（CNI/监控/日志）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1874520" cy="77724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（最常用）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2286000"/>
            <a:ext cx="1874520" cy="77724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310128"/>
            <a:ext cx="1874520" cy="77724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3230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2142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081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判断顺序：先问“身份”→ 再问“分布”→ 再问“任务”——分支结果全部落在右侧的四种控制器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Deployment；应用有“身份”（名字/存储要固定）→ StatefulSet；按节点分布 → DaemonSet；跑完即走 → Job/CronJob。选错类型是工作负载最常见的错误——把有状态应用当 Deployment 跑，数据就悬了。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与 ReplicaSet：无状态应用的标准答案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三层结构：Deployment → ReplicaSet → Pod——RS 为回滚而生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滚动更新：maxUnavailable / maxSurge 控制替换节奏，readinessProbe 是零中断前提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回滚：rollout undo 一键还原；扩缩容 / 暂停都是修改期望状态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发布策略矩阵：滚动 / 蓝绿 / 金丝雀 / A-B 测试</a:t>
            </a:r>
            <a:endParaRPr lang="en-US" sz="15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三层结构：Deployment → ReplicaSet → Pod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4023360" cy="914400"/>
          </a:xfrm>
          <a:prstGeom prst="rect">
            <a:avLst/>
          </a:prstGeom>
          <a:solidFill>
            <a:srgbClr val="E8F0FE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367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描述：期望 3 副本、镜像版本、更新策略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管理（每次更新生成新的 RS）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02336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33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当前版本的“副本管家”：维持 3 个 Pod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创建 / 删除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023360" cy="777240"/>
          </a:xfrm>
          <a:prstGeom prst="rect">
            <a:avLst/>
          </a:prstGeom>
          <a:solidFill>
            <a:srgbClr val="E8F8E8"/>
          </a:solidFill>
          <a:ln w="1905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9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×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2885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真正跑应用的（镜像 nginx:1.27）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1234440"/>
            <a:ext cx="36576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3444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为什么中间要隔一层 ReplicaSet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为了“回滚”（§5.2.4）：每次更新（模板变化）都会生成一个新的 ReplicaSet，revision 递增（如 2）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旧 RS 保留（带旧版本镜像的“历史记录”）但缩到 0 副本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回滚 = 把期望状态改回旧模板，流量切回旧 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没有 RS 这层，就没有“历史快照”，也就无法回滚</a:t>
            </a:r>
            <a:endParaRPr lang="en-US" sz="11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副本管理与自愈 · 扩缩容与暂停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98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replicas: 3 = 期望副本数，ReplicaSet 控制器负责维持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某 Pod 崩溃 → RS 创建新 Pod（自愈）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某节点挂了 → 该节点上 Pod 消失 → RS 在其他节点补建（节点级自愈）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kubectl scale → 只是修改期望值（3→5），RS 自动补建 2 个（第 2 章 §2.3.4 走查过）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扩缩容原理 = 修改期望状态，RS 负责调和——第 7 章 HPA 就是自动执行这一步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0" y="1188720"/>
            <a:ext cx="329184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188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deployment/web --replicas=5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改期望值 → RS 自动补建 2 个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pause deployment/web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暂停：多次修改模板不触发更新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resume deployment/web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恢复：合并的修改一次性生效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暂停的价值：批量修改模板时避免每次改动都滚动一次——改完 resume 一次性生效（生产变更的常用手法）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“删了自动补”就是第 2 章控制循环在 Deployment 上的具体化：持续把“当前副本数”调和到“期望副本数”</a:t>
            </a:r>
            <a:endParaRPr lang="en-US" sz="11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滚动更新：发布不中断的节奏控制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maxUnavailable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更新过程中最多允许多少个副本不可用（默认 25%）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maxSurge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264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更新过程中最多允许超出期望多少个副本（默认 25%）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分批替换：新版本 Pod 先起来、就绪后，再停旧版本 Pod，循环直到全部替换——一次性全删全建会中断服务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1188720" cy="118872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10512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01952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7984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2414016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4" name="Shape 22"/>
          <p:cNvSpPr/>
          <p:nvPr/>
        </p:nvSpPr>
        <p:spPr>
          <a:xfrm>
            <a:off x="2670048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55264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46704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02736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58768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0016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47488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0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7" name="Shape 35"/>
          <p:cNvSpPr/>
          <p:nvPr/>
        </p:nvSpPr>
        <p:spPr>
          <a:xfrm>
            <a:off x="555955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8" name="Text 36"/>
          <p:cNvSpPr/>
          <p:nvPr/>
        </p:nvSpPr>
        <p:spPr>
          <a:xfrm>
            <a:off x="5907024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44768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36208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3" name="Shape 41"/>
          <p:cNvSpPr/>
          <p:nvPr/>
        </p:nvSpPr>
        <p:spPr>
          <a:xfrm>
            <a:off x="674827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44" name="Text 42"/>
          <p:cNvSpPr/>
          <p:nvPr/>
        </p:nvSpPr>
        <p:spPr>
          <a:xfrm>
            <a:off x="7351776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89520" y="2395728"/>
            <a:ext cx="1188720" cy="118872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0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8" name="Shape 46"/>
          <p:cNvSpPr/>
          <p:nvPr/>
        </p:nvSpPr>
        <p:spPr>
          <a:xfrm>
            <a:off x="7936992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9" name="Shape 47"/>
          <p:cNvSpPr/>
          <p:nvPr/>
        </p:nvSpPr>
        <p:spPr>
          <a:xfrm>
            <a:off x="8193024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6758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读图（示例：3 副本，maxUnavailable=1，maxSurge=1）：“新起一个 → 就绪 → 停一个旧的”循环交替（阶段 2-5）；任何时刻 ≥2 个可用、不超 4 个；新旧并存 = 黄色阶段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关键依赖：新 Pod 必须配 readinessProbe（实验 02 Lab 8）——就绪才停旧的；没有它，新 Pod 一启动就被认为可用，更新可能在应用未就绪时切换流量。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生产调优：核心服务用 maxUnavailable: 0 + maxSurge: 1 —— 零中断发布（实验 10 Lab 5 演练）</a:t>
            </a:r>
            <a:endParaRPr lang="en-US" sz="11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回滚：出问题一键还原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机制：每次更新（模板变化）→ 生成新的 ReplicaSet（revision 递增，如 revision 2），旧 RS（revision 1）保留但缩到 0 副本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deployment/web nginx=nginx:1.28      # 更新 → revision 2（新 RS）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deployment/web                  # 等更新完成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deployment/web                 # REVISION 1（1.27）/ 2（1.28）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deployment/web                    # 回滚到上一个 revision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deployment/web --to-revision=1    # 回滚到指定版本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3375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为什么能回滚：旧 RS 的 Pod 模板还在（历史快照）——回滚 = 把期望状态改回旧模板，滚动更新反向执行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排障关联：更新后 CrashLoopBackOff（实验 10 Lab 2）→ 第一反应 rollout undo 快速恢复，再慢慢查原因——先恢复业务，再排查问题</a:t>
            </a:r>
            <a:endParaRPr lang="en-US" sz="11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设计指南：生产发布策略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822960"/>
                <a:gridCol w="777240"/>
                <a:gridCol w="1645920"/>
                <a:gridCol w="22860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回滚速度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资源开销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实现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逐批替换（§5.2.3）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低（+1 Pod）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大多数无状态服务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 原生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蓝绿部署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新旧两套环境，切换 Service 指向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极快（切 selector）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高（2x 资源）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需要瞬间切换 / 瞬间回滚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 Deployment + Service 切换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金丝雀发布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小比例流量验证后逐步放大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高风险变更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 Deployment + Ingress 权重 / Argo Rollouts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A/B 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按用户特征分流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Ingress Header 路由 / Service Mesh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416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决策逻辑：默认滚动更新（成本最低）；要“瞬间切换/回滚”→ 蓝绿；高风险变更要“小流量验证”→ 金丝雀；功能对比 → A/B。发布策略的核心是“可回滚 + 可控观察”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407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变更窗口：常规变更工作日 10:00-16:00；高风险变更周二/周三 10:00-14:00（禁止：周五下午、节假日前一天、大促期间）· 流程：申请 → 评审 → 预发 → 灰度（≤10% 流量）→ 观察（≥15 分钟）→ 全量 → 验证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回滚决策：错误率 &gt; 基线 2 倍 或 P99 延迟 &gt; 基线 3 倍 → 立即回滚；任何数据异常 → 回滚并暂停</a:t>
            </a:r>
            <a:endParaRPr lang="en-US" sz="9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StatefulSet：有状态应用的正确打开方式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有状态三难题：身份要稳定 / 存储要固定 / 启动要有序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稳定命名 web-0/1/2 + headless Service → 稳定 DNS 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volumeClaimTemplates：每副本独立 PVC，数据与身份绑定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有序部署/缩容/更新；podManagementPolicy 可并行加速</a:t>
            </a:r>
            <a:endParaRPr lang="en-US" sz="15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有状态三难题与稳定网络标识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身份要稳定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 web-0 永远是 web-0——集群里其他组件认它的名字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54864" cy="10058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存储要固定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每个副本的数据必须绑在自己的卷上：删了重建数据不丢、不串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097280"/>
            <a:ext cx="54864" cy="10058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启动要有序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主从架构：主库先起、从库后起（副本 0 先于副本 1）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2311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给不了这些（Pod 名随机、卷不绑定、无顺序）——StatefulSet 就是为此设计的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15184"/>
            <a:ext cx="8046720" cy="148132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615184"/>
            <a:ext cx="7680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StatefulSet: web（replicas=3）—— 每个 Pod 有稳定且有序的名字：&lt;sts名&gt;-&lt;序号&gt;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web-0  ←→ 稳定 DNS: web-0.web-svc.default.svc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web-1  ←→ web-1.web-svc.default.svc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web-2  ←→ web-2.web-svc.default.svc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名字从 0 开始编号、永不改变——Pod 删了重建还是叫 web-1；配合 headless Service（实验 07 Lab 4），从库连主库就用固定名 web-0.web-svc.namespace.svc</a:t>
            </a:r>
            <a:endParaRPr lang="en-US" sz="11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稳定存储与有序部署/更新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160520" cy="1920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volumeClaimTemplates（卷声明模板）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自动为每个副本创建独立 PVC：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web-0 → PVC web-data-web-0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web-1 → PVC web-data-web-1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web-2 → PVC web-data-web-2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删了重建 → 还绑同一个 PVC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（数据不丢）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143000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14300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261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Deployment 的本质区别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645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Deployment：所有副本共享同一个卷（或各自临时卷）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StatefulSet：每个副本有自己专属的卷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——这就是“身份与数据绑定”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46120"/>
            <a:ext cx="54864" cy="10241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部署有序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web-0 先创建且 Running 后，才创建 web-1、再 web-2（rollout status 依次就绪）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3246120"/>
            <a:ext cx="54864" cy="102412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缩容有序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56432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从大到小删除：先 web-2、再 web-1、最后 web-0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3246120"/>
            <a:ext cx="54864" cy="102412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更新有序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81344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逆序逐个更新（web-2 → web-1 → web-0），保证主节点 web-0 最后更新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podManagementPolicy：默认 OrderedReady（严格有序）；副本间无“谁先谁后”依赖（如无主从关系的缓存集群）→ 设 Parallel——所有副本并行创建/删除，扩缩容从几分钟降到秒级</a:t>
            </a:r>
            <a:endParaRPr lang="en-US" sz="10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 vs Deployment（选型对照）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3832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StatefulSet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名称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随机后缀（web-abc12）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稳定有序（web-0/1/2）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副本共享 / 无绑定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每副本独立 PVC（volumeClaimTemplates）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 / 删除 / 更新都有序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网络标识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Service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headless + 稳定 DNS 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无状态（Web/API）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有状态（数据库/消息队列/协调器）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决策逻辑：应用需要“被点名”（固定名字/固定存储）→ StatefulSet；应用无身份需求 → Deployment（更简单）。判断标准：删掉这个 Pod，它的“身份/数据”需不需要保留？</a:t>
            </a:r>
            <a:endParaRPr lang="en-US" sz="11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DaemonSet：每节点一个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按节点分布：每个节点上恰好运行一个该应用的 Pod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新节点加入自动补 Pod；节点删除对应 Pod 一并消失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cordon 不可调度 → 该节点上不创建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典型场景：CNI 网络插件 / 监控采集 / 日志采集 / CSI 存储组件</a:t>
            </a:r>
            <a:endParaRPr lang="en-US" sz="15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DaemonSet：每节点一个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保证每个节点上恰好运行一个该应用的 Pod——不是按副本数分布，而是按节点分布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53312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新节点加入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自动在新节点创建 Pod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53312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节点删除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56432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Pod 一并消失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8464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98464" y="1353312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cordon 不可调度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该节点上不创建（实验 12 Lab 3）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95728"/>
            <a:ext cx="54864" cy="1965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典型场景：节点级服务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283464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网络插件：calico-node 每节点一个，管该节点 Pod 网络（实验 01 装过）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监控采集：node-exporter 每节点采集主机指标、metrics-server 的指标来源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日志采集：filebeat / fluentd 每节点一个，收集该节点所有容器日志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存储挂载：部分 CSI 节点组件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395728"/>
          <a:ext cx="3703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DaemonSet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分布逻辑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按副本数，调度器选节点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按节点，每节点恰好一个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可能不上新节点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自动补上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replicas 指定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无需指定（= 节点数）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注意：默认情况下 DaemonSet 只在工作节点运行——控制面节点有污点（第 6 章调度时展开）；要让 DaemonSet 也跑上控制面，需要容忍那个污点（实验 04 Lab 7 演练过）</a:t>
            </a:r>
            <a:endParaRPr lang="en-US" sz="10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与 CronJob：任务型工作负载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Job：成功 = Completed（exit 0），失败按 backoffLimit 重试（默认 6 次）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parallelism 控制并行度；ttlSecondsAfterFinished 自动清理（生产必配）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CronJob：cron 表达式定时触发 Job + 并发策略（Allow / Forbid / Replace）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restartPolicy 必须 OnFailure / Never——任务型 vs 服务型的本质差异</a:t>
            </a:r>
            <a:endParaRPr lang="en-US" sz="15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Job：一次性任务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= 完成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正常退出（exit 0）→ Job 标记 Completed，不再重跑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= 重试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异常退出 → 按 backoffLimit 重试（默认 6 次），超限标记 Failed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09728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parallelism 决定同时跑几个 Pod（如 10 个任务并发 3 个）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保证“一个任务成功完成”——与 Deployment（长期运行）完全不同的语义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8046720" cy="1280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67004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job my-job --image=busybox -- sh -c "echo done"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job        # COMPLETIONS 1/1、STATUS Completed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ttlSecondsAfterFinished: 3600   # 完成 1 小时后自动清理（含其 Pod）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65836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9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生产必配 ttlSecondsAfterFinished：不配置，已完成的 Job 及其 Pod 会无限堆积（CronJob 每天跑一次 → 一年 365 个历史残留），导致 etcd 性能衰退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 场景再配合 successfulJobsHistoryLimit / failedJobsHistoryLimit 限制历史记录——任务型负载的“垃圾回收”是生产必做项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典型场景：数据迁移、批量处理、初始化任务、CI 中的一次性步骤</a:t>
            </a:r>
            <a:endParaRPr lang="en-US" sz="10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CronJob：定时触发 Job · 任务型 vs 服务型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160520" cy="1234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 语法：分 时 日 月 周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"0 2 * * *"     # 每天凌晨 2 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"*/5 * * * *"   # 每 5 分钟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92040" y="1051560"/>
            <a:ext cx="3703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05156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133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关键配置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并发策略 concurrencyPolicy：Allow 允许并发 / Forbid 上次没跑完就不起新的 / Replace 替换上次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历史保留 successfulJobsHistoryLimit / failedJobsHistoryLimit（防 etcd 膨胀）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时区 timeZone 指定（默认按节点时区）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服务型（Deployment 等）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任务型（Job/CronJob）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容器一直运行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容器跑完退出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restartPolicy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Always（退出就重启）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OnFailure / Never（跑完别重启）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成功标志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Running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Completed（exit 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Job 的 Pod 不能配 Always：Always = 退出就重启 → 任务跑完了还会被拉起来重跑，永远完不成——Job 语义要求“退出即结束”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 典型场景：定时备份、定时清理、定时报表</a:t>
            </a:r>
            <a:endParaRPr lang="en-US" sz="10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控制器选择总决策树（走查实例）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1605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新应用上线，先问：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长期服务 or 跑一次/定时？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跑一次 → Job（backoffLimit 控重试）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定时 → CronJob（schedule+并发策略）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长期服务 → 问 ②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每个节点都需要吗？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是 → DaemonSet（CNI/监控/日志）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否 → 问 ③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应用有“身份”吗？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是 → StatefulSet（数据库/消息队列）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否 → Deployment（Web/API/网关）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097280"/>
            <a:ext cx="3703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097280"/>
            <a:ext cx="54864" cy="117043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1：WordPress 站点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51790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前端 WordPress → Deployment（多副本、可滚动更新、共享卷存上传文件）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MySQL → StatefulSet（稳定标识 mysql-0、独立 PVC 存数据、有序启动）——生产建议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395728"/>
            <a:ext cx="3703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395728"/>
            <a:ext cx="54864" cy="1170432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2：监控体系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281635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node-exporter 每节点采集指标 → DaemonSet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每日凌晨备份数据库 → CronJob（0 2 * * *）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一次性数据迁移 → Job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8046720" cy="56692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03320"/>
            <a:ext cx="45720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7647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15%）：决策树是场景题的答题骨架——看到场景先分类（身份 / 分布 / 任务），再选控制器；场景选型题必考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“长期服务 → 按节点分布 → 有身份”三步问完，控制器就定了——先选对类型，再看机制细节</a:t>
            </a:r>
            <a:endParaRPr lang="en-US" sz="11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03“工作负载”（6 个 Lab）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155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使用 deployment 维护服务数量：副本/自愈/扩缩容——kubectl scale 改期望值，亲眼看到“删了自动补”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滚动更新与回滚：kubectl set image 更新 → rollout undo——观察 maxUnavailable/maxSurge 默认值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21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StatefulSet：webserver-0/1/2 的稳定命名与 headless DNS——有序部署的观察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Job：Completed 状态与 logs 查看任务输出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CronJob：*/1 * * * * 每分钟触发，kubectl get cronjob 看调度记录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6 DaemonSet：kubectl get pods -o wide 看“每节点一个”的分布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教学建议：每个 Lab 做完回到本章对应小节对照“机制 → 现象”——Lab 2 的滚动更新观察点就是 §5.2.3 的节奏图；Lab 3 的 webserver-0 命名就是 §5.3.2 的稳定标识</a:t>
            </a:r>
            <a:endParaRPr lang="en-US" sz="11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60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为什么需要控制器：裸 Pod 不自愈、不扩缩、不更新——控制器通过控制循环“维持期望状态”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91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共同骨架：selector（管哪些）+ template（长什么样）+ replicas（几个）+ 控制循环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8483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Deployment：三层结构（RS 为回滚而生）；滚动更新用 maxUnavailable/maxSurge 控节奏（readinessProbe 是零中断的前提）；rollout undo 一键回滚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15184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StatefulSet：解决有状态三难题——稳定有序命名（web-0）、独立 PVC（volumeClaimTemplates）、有序部署/更新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DaemonSet：按节点分布（每节点一个），新节点自动补——CNI/监控/日志的标配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7588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Job/CronJob：成功 = Completed（exit 0）；restartPolicy 必须 OnFailure/Never；CronJob 定时触发 + 并发策略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42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选型决策树：任务 → Job/CronJob；每节点 → DaemonSet；有身份 → StatefulSet；其余 → Deployment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6 章讲“Pod 落在哪个节点”——调度器与调度策略（nodeSelector / 亲和 / 污点容忍 / drain / PDB），届时 DaemonSet 的“控制面不上”之谜会解开</a:t>
            </a:r>
            <a:endParaRPr lang="en-US" sz="10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Deployment 要隔一层 ReplicaSet？没有它，回滚怎么实现？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滚动更新时 maxUnavailable: 0 意味着什么代价？（提示：更新期间副本数会怎样）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Pod 没配 readinessProbe，滚动更新会有什么风险？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 的 Pod 删了重建，为什么名字还是 web-1？数据还在吗？（提示：稳定标识 + volumeClaimTemplates）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Job 的 Pod 不能配 restartPolicy: Always？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用决策树判断：“每节点都要采集系统指标”的组件和“每天凌晨清理临时文件”的任务，分别用什么控制器？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56692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26280"/>
            <a:ext cx="45720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15%）：必考操作 kubectl scale / rollout undo / set image；必考机制 滚动更新（maxUnavailable/maxSurge）、回滚原理（RS 历史）、StatefulSet 稳定标识、Job 的 Completed 语义与 backoffLimit、CronJob 并发策略；必考选型 控制器决策树——排障关联（域 5）：更新后 CrashLoop → rollout undo 快速恢复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调度与 Pod 放置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两阶段调度 · 节点选择与亲和 · Pod 亲和与拓扑域 · 污点与容忍 · 维护与驱逐保护（drain / PDB）· 综合走查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04 集群资源调度）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解释调度器的两阶段决策过程（过滤 → 打分），知道哪些因素参与过滤与打分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1790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对比四种节点选择手段（nodeSelector / 节点亲和 / 污点容忍 / 手动指定），说出各自适用场景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75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75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568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解释节点亲和与反亲和的软硬约束（required / preferred）与表达式语法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9572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Pod 亲和 / 反亲和的原理与 topologyKey（拓扑域），能设计多副本高可用分布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解释污点与容忍的机制、三种 effect 的语义（含 NoExecute 驱逐时间）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735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说出控制面节点“不跑业务”的实现机制（内置污点）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cordon / drain / uncordon 维护流程与 drain 的驱逐逻辑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69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513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PDB 如何保护驱逐（ALLOWED DISRUPTIONS 计算）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085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08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5902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综合运用：为一个 Pod 规划完整的落点控制方案</a:t>
            </a:r>
            <a:endParaRPr lang="en-US" sz="11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调度器：Pod 落点的决策者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调度的本质：只发生在新 Pod（Pending）上——写 nodeName，kubelet Watch 后拉起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两阶段决策：过滤（一票否决）→ 打分（择优录取）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调度器可替换：schedulerName 指定自定义调度器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Descheduler：补上“运行期再平衡”，闭环资源生命周期</a:t>
            </a:r>
            <a:endParaRPr lang="en-US" sz="15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调度的本质与两阶段决策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5087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Pod 创建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（未指定节点）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Pending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7568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2070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过滤 Filtering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/ 亲和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/ 端口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5312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070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打分 Scoring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资源均衡 / Pod 分散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亲和偏好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3056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23760" y="1143000"/>
            <a:ext cx="13716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2070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nodeName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（写入 Pod 对象）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node1 不足 ✗ 排除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 / node3 候选 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 90 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node3 70 分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Watch 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拉起容器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880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 = 一票否决（不合格直接排除）；打分 = 择优录取（剩余里选最优）——先保证可行性，再追求均衡性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40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502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核心认知：调度器不直接通知 kubelet“我调给你了”——它只修改 Pod 对象的 spec.nodeName 字段，kubelet 自己 Watch 到才动手（第 2 章“组件只与 apiserver 通信”的又一次体现）</a:t>
            </a:r>
            <a:endParaRPr lang="en-US" sz="125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过滤与打分：具体看哪些项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880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过滤 Filtering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“哪些节点不合格”——硬性条件，不满足直接排除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资源够吗？可用 CPU / 内存 ≥ Pod requests（第 4 章）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满足 nodeSelector 与节点亲和吗？（§6.2 / 6.3）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能容忍节点污点吗？（§6.4）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端口冲突 / 主机名 / 磁盘压力 / 节点年龄等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447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结果：候选节点集合——为空则 Pod 一直 Pending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54864" cy="2880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打分 Scoring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“候选里选谁最优”——各策略加权求和，最高分胜出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资源均衡：剩余 CPU / 内存越均衡分越高（避免挤爆、其他闲置）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3682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Pod 分布：与同应用已有 Pod 尽量分散（反亲和偏好，§6.3）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8620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节点亲和偏好（preferred 部分）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结果：得分最高者被选中，Pod 绑定到它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排障关联：Pod 一直 Pending → kubectl describe pod 看 Events 的 FailedScheduling——报错直接说“哪个条件不满足”（didn't match node selector / Insufficient cpu / Untolerated taint），改对应配置即可</a:t>
            </a:r>
            <a:endParaRPr lang="en-US" sz="1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调度器可替换性与 Descheduler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697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调度器可替换（可插拔）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调度器不是“硬编码”的：Pod 可用 schedulerName 字段指定自定义调度器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典型场景：专门处理 GPU 任务的自定义调度器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默认调度器（kube-scheduler）覆盖绝大多数场景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知道“调度策略可插拔”即可（进阶内容）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2697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Descheduler：运行期再平衡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问题：调度器只在 Pod 创建时决策一次——新节点加入、资源碎片化、副本增减后，已运行的 Pod 不会重新平衡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304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场景：node1 挤满、node3 空着 → 新 Pod 去 node3，但 node1 的旧 Pod 不会自己挪 → 长期“贫富不均”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9626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机制：定期扫描并按策略驱逐（低利用率合并 / 副本分散 / 节点年龄）→ 优雅终止 → 控制器重建、重新调度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核心认知：Descheduler 与调度器互补——调度器管“初始放置”，Descheduler 管“运行期再平衡”（配合 Cluster Autoscaler 实现资源生命周期闭环）；教学环境可选装，知道概念即可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节点选择：把 Pod 定向到节点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nodeSelector：最简单，只能“等值匹配”（=）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节点亲和 nodeAffinity：表达式匹配 + 软硬约束（required / preferred）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matchExpressions 运算符：In / NotIn / Exists / DoesNotExist / Gt / 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选型：简单等值 → nodeSelector；或 / 非 / 软偏好 → nodeAffinity</a:t>
            </a:r>
            <a:endParaRPr lang="en-US" sz="15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nodeSelector：最简单的方式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5087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给节点打标签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label node node2 disktype=ssd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Pod 声明：只调度到带 disktype=ssd 的节点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nodeSelector: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disktype: ssd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80467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889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特点与局限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简单直观，但只能做“等值匹配”（=）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758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不能表达“或”（ssd 或 nvme）、“非”（不要 CPU 密集节点）、“软性偏好”（最好在 SSD 上，没有也无妨）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需要更强表达力 → 升级到节点亲和（§6.2.2）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1——给节点打标签 + nodeSelector 定向调度</a:t>
            </a:r>
            <a:endParaRPr lang="en-US" sz="10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节点亲和/反亲和：表达式的力量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requiredDuringScheduling（硬性）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必须满足，否则不调度——≈ nodeSelector，但更强（支持表达式）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preferredDuringScheduling（软性）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尽量满足，不满足也能调度——打分加权（§6.1.2）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requiredDuringSchedulingIgnoredDuringExecution:  # 硬性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nodeSelectorTerms: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matchExpressions: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{ key: disktype, operator: In, values: ["ssd", "nvme"] }  # 或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preferredDuringSchedulingIgnoredDuringExecution:  # 软性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weight: 100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preference: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matchExpressions: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{ key: zone, operator: In, values: ["az-a"] }  # 最好在 az-a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为什么叫“节点亲和”而不是“节点选择”：语义从“我选节点”升级为“节点与我的关系”——可以表达“我偏好在这些节点上”（软性），这是选择器做不到的</a:t>
            </a:r>
            <a:endParaRPr lang="en-US" sz="11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表达式语法（operators）与手段选型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operator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值在列表里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匹配多个值（如 ssd、nvme）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值不在列表里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排除某些节点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Exists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键存在（不管值）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节点有该标签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DoesNotExist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键不存在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节点没有该标签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 / 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值大于 / 小于（数值标签）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按数值筛选节点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指定唯一节点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特殊调试（生产不推荐：节点挂了 Pod 就困死）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nodeSelector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等值匹配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简单场景（如“只上 GPU 节点”）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nodeAffinity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 + 软硬约束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需要“或 / 非 / 软偏好”的复杂场景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决策逻辑：简单等值 → nodeSelector；需要表达式或软偏好 → nodeAffinity；nodeName 只在调试时用</a:t>
            </a:r>
            <a:endParaRPr lang="en-US" sz="10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亲和/反亲和：Pod 之间的位置关系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反亲和分散副本保高可用；亲和聚合缓存与计算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拓扑域 topologyKey：hostname（节点）/ zone（可用区）/ region（地域）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podAntiAffinity / podAffinity：结构与节点亲和几乎一样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生产标配：topologySpreadConstraints 跨可用区均匀分布</a:t>
            </a:r>
            <a:endParaRPr lang="en-US" sz="15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间位置控制与拓扑域（topologyKey）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反亲和（分散）→ 高可用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同一应用的 3 个副本不要放同一台节点——一台挂了，不至于全部副本一起挂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亲和（聚合）→ 数据本地性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缓存服务与计算服务放在同一节点——本地访问快，不跨节点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 / 节点亲和做不了这个——它们只认节点标签，不关心其他 Pod 在哪（实验 04 Lab 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80467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2148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topologyKey：用什么维度衡量“同一处”——按哪个标签分组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kubernetes.io/hostname：按节点分——同一节点 = 同一拓扑域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039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topology.kubernetes.io/zone：按可用区分——同一机房 = 同一拓扑域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1330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topology.kubernetes.io/region：按地域分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node1（web-1, web-2）│ node2（web-3）│ node3（　）→ web-1 / web-2 同拓扑域，反亲和避免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核心认知：拓扑域 = “多分散 / 多聚合才算数”的度量单位——同节点分散是默认，跨可用区是生产进阶</a:t>
            </a:r>
            <a:endParaRPr lang="en-US" sz="1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podAffinity / podAntiAffinity 与场景设计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23317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podAntiAffinity:                       # 反亲和：分散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requiredDuringSchedulingIgnoredDuringExecution: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labelSelector: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matchLabels: { app: web }        # 匹配已运行的 app=web Pod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topologyKey: kubernetes.io/hostname  # 以节点为单位分散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podAffinity:                           # 亲和：聚合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preferredDuringSchedulingIgnoredDuringExecution: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weight: 100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podAffinityTerm: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labelSelector: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matchLabels: { app: cache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topologyKey: kubernetes.io/hostname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 required：可能导致调度不上——如 5 副本反亲和到 3 节点（每节点最多 1 个），第 4、5 个会一直 Pending；软性 preferred：尽量满足，打分加权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965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 多副本高可用分布：3 副本 web + podAntiAffinity(required, hostname) → 每节点最多 1 个副本，一台挂了另两台照常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40233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4023360"/>
            <a:ext cx="54864" cy="6400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40965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 计算与缓存同地：计算 Pod + podAffinity(preferred, app=cache) → 尽量与 cache Pod 同节点，本地读缓存不跨节点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required 反亲和的副本数不能超过拓扑域数（5 副本 × 3 节点 → 2 个永远 Pending）；高可用标准组合 = 反亲和 + PDB + 多副本（PDB 见 §6.5.2）</a:t>
            </a:r>
            <a:endParaRPr lang="en-US" sz="1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拓扑分布约束（topologySpreadConstraints）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问题：podAntiAffinity 只能按单一 topologyKey 写死“有则避开”；要“跨可用区均匀分布、任何 zone 的 Pod 数差 ≤ 1”→ topologySpreadConstraints（生产高可用的标配，常与 PDB、反亲和组合）。注意 maxSkew 过严可能导致调度不上（与 required 反亲和同样受节点数约束）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14173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topologySpreadConstraints: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maxSkew: 1                          # 允许的最大分布偏差（≤1 = 尽量均匀）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topologyKey: topology.kubernetes.io/zone   # 按可用区分组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whenUnsatisfiable: DoNotSchedule     # 无法满足：不调度（硬）/ ScheduleAnyway（软）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labelSelector: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web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podAntiAffinity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topologySpreadConstraints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“避开已有同标签 Pod”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“按拓扑域均匀分布”（偏差 ≤ maxSkew）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 topologyKey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可配多个约束（跨 zone + 跨节点同时约束）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required / preferred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DoNotSchedule / ScheduleAnyway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简单分散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跨可用区高可用、节点池均衡（生产最佳实践）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污点与容忍：节点的“排斥力”与 Pod 的“通行证”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污点 = 节点主动排斥；容忍 = Pod 的通行证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 effect：NoSchedule / PreferNoSchedule / NoExecute（含驱逐时间）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内置污点：control-plane、not-ready、disk-pressure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与亲和是两个独立维度，配合使用（要什么节点 + 能上什么节点）</a:t>
            </a:r>
            <a:endParaRPr lang="en-US" sz="15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污点与容忍：排斥力与通行证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058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Taint——节点的“排斥标记”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带污点的节点，默认拒绝没有相应容忍的 Pod（节点主动排斥）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容忍 Toleration——Pod 的“通行证”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容忍了某个污点的 Pod，才能被调度到该节点（Pod 主动声明）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node1（污点 dedicated=gpu:NoSchedule）→ 普通 Pod 拒绝 ✗ ｜ 带容忍的 Pod 放行 ✓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effect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NoSchedule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不调度新 Pod（已在跑的不管）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节点维护前隔离新负载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PreferNoSchedule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尽量不调度（软性，打分排斥）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偏好性隔离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NoExecute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不调度新 Pod + 驱逐已在跑的（不带容忍的立即被赶走）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节点故障 / 隔离的强手段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NoExecute 驱逐时间：容忍可以带时长——tolerationSeconds: 60 = “容忍 60 秒，之后被驱逐”（故障节点上让 Pod 多活一会儿完成收尾）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8046720" cy="329184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8006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node2 dedicated=gpu:NoSchedule    # 打污点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node2 dedicated=gpu:NoSchedule-   # 去掉污点（末尾 -）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内置污点：你其实天天在用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集群默认存在的系统污点——理解了它们，很多“奇怪现象”就通了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控制面节点：node-role.kubernetes.io/control-plane:NoSchedule——这就是“控制面不跑业务 Pod”的实现机制（实验 04 Lab 6 去掉它，让控制面承载负载）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025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NotReady：node.kubernetes.io/not-ready:NoExecute——节点失联时驱逐其上 Pod（第 16 章排障相关）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323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磁盘 / 网络压力：node.kubernetes.io/disk-pressure 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0896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之谜解开（第 5 章遗留问题）：calico-node 能上控制面，是因为清单里显式写了 tolerations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2336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补充：DaemonSet 的 Pod 自动容忍“节点故障类”污点（not-ready / unreachable / disk-pressure 等，由 DaemonSet 控制器默认注入，保证节点异常时守护组件不被驱逐）；但 control-plane 污点不会自动容忍（实验 04 Lab 7 演练过）</a:t>
            </a:r>
            <a:endParaRPr lang="en-US" sz="11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应用场景与“污点 vs 亲和”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专用节点：GPU 节点打 dedicated=gpu:NoSchedule，只有带容忍的 AI 任务能上（防普通任务挤占 GPU）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节点隔离：节点出问题，先 NoExecute 驱逐业务，再维护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控制面保护：内置 control-plane 污点（§6.4.3）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26664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混合环境：隔离“测试节点”与“生产节点”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2468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vs 亲和：两个独立维度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谁主动：亲和（nodeAffinity / podAffinity）= Pod 主动挑（Pod → 节点：“我要去哪”）；污点 / 容忍 = 节点主动拒（节点 → Pod：“我不要谁”）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两者同时生效：先过滤双方条件，配合使用——亲和“要什么节点”+ 容忍“能上什么节点”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生产常用组合：GPU 任务 = nodeAffinity（要 gpu=true 的节点）+ tolerations（容忍 gpu 污点）——既要“我要 GPU 节点”，也要“GPU 节点愿意收我”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3——给节点打污点 + Pod 加容忍，亲手验证“排斥力与通行证”</a:t>
            </a:r>
            <a:endParaRPr lang="en-US" sz="10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节点维护与驱逐保护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维护三步曲：cordon → drain → uncordon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驱逐走优雅终止，业务无感迁移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PDB：约束主动驱逐的副本数（ALLOWED DISRUPTIONS 计算）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核心服务必配 PDB——否则一次维护可能全量中断</a:t>
            </a:r>
            <a:endParaRPr lang="en-US" sz="15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维护三步曲：cordon / drain / uncordon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cordon node2                       # ① 隔离：标记不可调度（已有 Pod 不受影响）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drain node2 --ignore-daemonsets    # ② 排空：驱逐所有业务 Pod（到其他节点）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节点维护 ... 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uncordon node2                     # ③ 恢复：重新可调度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cordon 隔离（挡新）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只挡新 Pod——等于打上 node.kubernetes.io/unschedulable 标记；已有 Pod 不受影响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286000"/>
            <a:ext cx="54864" cy="18288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drain 排空（驱逐）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 Pod 走优雅终止：摘流量 → preStop → SIGTERM；--ignore-daemonsets 跳过 DaemonSet（控制器会在节点恢复后自动重建，驱逐无意义）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28600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uncordon 恢复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去掉隔离标记，节点重新可调度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drain 是安全的：驱逐逐个进行、每个都走优雅终止——业务无感迁移（配合 PDB，见 §6.5.2）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4——drain + uncordon 节点排空与恢复</a:t>
            </a:r>
            <a:endParaRPr lang="en-US" sz="10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PodDisruptionBudget：驱逐的保险丝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问题：drain node2 时，如果 node2 上正好有某应用的全部 3 个副本——一次全驱逐 = 服务中断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policy/v1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PodDisruptionBudget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web-pdb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minAvailable: 2          # 至少保持 2 个可用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017520"/>
            <a:ext cx="54864" cy="594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DISRUPTIONS = 当前可用副本数 − minAvailable = 3 − 2 = 1  →  kubectl get pdb 显示：web-pdb  MIN AVAILABLE 2  ALLOWED DISRUPTIONS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49040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22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只约束“主动驱逐”（drain 等自愿中断）——节点宕机、Pod 崩溃等非自愿中断不归它管（控制器照样重建）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1879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只保护“副本数量”不保护“可用性”——若 3 副本里 2 个 CrashLoop（readiness 失败），PDB 可能直接阻止 drain（可用数已低于 minAvailable）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091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生产实践：核心服务（数据库 / 网关 / 所有多副本应用）必须配 PDB——否则一次节点维护就可能造成全量中断；minAvailable（保底）与 maxUnavailable（上限）二选一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综合走查：一个 Pod 的完整落点决策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带完整约束的 gpu-job（期望：3 副本、要 GPU 节点、副本分散、容忍 GPU 污点）从创建到落点：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过滤（阶段一）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资源：节点剩余 ≥ requests？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节点亲和：gpu=true？（required）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污点：GPU 污点 → 有容忍？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反亲和：该节点已有副本？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候选节点集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打分（阶段二）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57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资源均衡度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preferred 偏好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（如“优先 zone-a”）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选出最优节点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54864" cy="2377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绑定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Pod.nodeName = node2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kubelet Watch 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拉起容器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417320"/>
            <a:ext cx="54864" cy="23774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运行时保护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05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 drain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PDB 限同时驱逐数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（minAvailable=2）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优雅终止迁移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业务无损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77640"/>
            <a:ext cx="54864" cy="640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507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设计顺序建议：先定“应用类型与副本数”（第 5 章）→ 再定“落点约束”（节点亲和 + 污点容忍 + Pod 反亲和）→ 最后加“运行期保护”（PDB + 探针）——三层约束各有职责，缺一不可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对应实验 04“集群资源调度”（7 个 Lab）：labels/nodeSelector → 亲和 → taint/tolerations → drain → PDB → 控制面承载 → DaemonSet 上控制面</a:t>
            </a:r>
            <a:endParaRPr lang="en-US" sz="10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424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调度本质：新 Pod（Pending）→ 调度器两阶段（过滤硬条件 + 打分选最优）→ 写 nodeName → kubelet 拉起；调度器可替换（schedulerName），Descheduler 补“运行期再平衡”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7218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过滤项：资源 / 亲和 / 污点容忍 / 端口等（一票否决）；打分项：资源均衡 / Pod 分散 / 软偏好（择优录取）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节点选择：nodeSelector（等值 =）→ nodeAffinity（表达式 + 软硬约束）——要“或 / 非 / 软偏好”用亲和；nodeName 仅调试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386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682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亲和：topologyKey 定义“同一处”（hostname = 同节点、zone = 同可用区）；反亲和分散副本保高可用——副本数 ≤ 拓扑域数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/ 容忍：节点主动拒（NoSchedule 挡新 / NoExecute 连旧一起驱逐，tolerationSeconds 延迟驱逐）；内置污点解释“控制面不跑业务”与“DaemonSet 上控制面”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82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644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维护三步曲：cordon（挡新）→ drain（驱逐，走优雅终止）→ uncordon（恢复）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PDB：只保护“主动驱逐”的副本数（ALLOWED = 可用数 − minAvailable）——核心服务必配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605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三层设计：副本数（第 5 章）+ 落点约束（本章）+ 运行期保护（PDB / 探针）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7 章讲“资源不够了怎么办”——扩缩容（HPA）与资源治理（requests / limits 体系、LimitRange、ResourceQuota）；调度器过滤里的“资源”就是第 7 章的主角</a:t>
            </a:r>
            <a:endParaRPr lang="en-US" sz="10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06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调度器过滤阶段和打分阶段各回答什么问题？举一个“过滤通过但打分靠后”的例子。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9105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63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 与 nodeAffinity 的本质区别是什么？什么场景必须用亲和？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0482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个副本配 podAntiAffinity(required, hostname) 在 3 节点集群会发生什么？为什么？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5328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taint 的 NoExecute 与 NoSchedule 的区别？容忍里 tolerationSeconds: 60 是什么意思？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449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DaemonSet 的 Pod 能跑到带 control-plane 污点的控制面节点上？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295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502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 能防止节点宕机导致的业务中断吗？为什么？（提示：自愿 vs 非自愿中断）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14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9867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设计一个“GPU 推理服务”的落点方案：要 GPU 节点、副本分散、节点维护时业务无损——需要哪几层配置？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26280"/>
            <a:ext cx="45720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15%）：必考命令 kubectl label node / taint / cordon / drain / uncordon / get pdb；必考机制 两阶段调度、nodeAffinity（required/preferred + matchExpressions）、podAntiAffinity + topologyKey、污点三种 effect、PDB 计算（minAvailable / maxUnavailable）；高频场景题 专用节点 / 分散高可用 / 维护窗口 → 配置对应机制；排障关联（域 5）：FailedScheduling → describe 看 Events</a:t>
            </a:r>
            <a:endParaRPr lang="en-US" sz="9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 自动扩缩与资源治理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 · HPA 水平扩缩 · VPA / CA / KEDA · 资源治理三层防线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05）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解释指标链路：kubelet → metrics-server → metrics API，知道 HPA 与 kubectl top 的数据来源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HPA 工作原理（控制循环 + 指标 → 期望副本数），说出指标类型与计算公式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HPA 伸缩节奏（稳定窗口/冷却）与 behavior 精细控制策略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区分三种扩缩的定位：HPA 水平 / VPA 垂直 / ClusterAutoscaler 节点级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解释资源治理三层防线：requests/limits → LimitRange → ResourceQuota 的管辖范围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393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LimitRange 与 ResourceQuota 的拒绝机制（准入控制，Forbidden / exceeded quota）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42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说出“没有限制”与“限制过严”的风险，能设计合理的资源治理方案</a:t>
            </a:r>
            <a:endParaRPr lang="en-US" sz="13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指标链路：扩缩容的数据基础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metrics-server：集群内的指标采集器（kube-system 里的 Deployment）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链路：kubelet（cAdvisor）→ metrics-server → metrics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消费方：kubectl top（人看）与 HPA 控制器（机器用）</a:t>
            </a:r>
            <a:endParaRPr lang="en-US" sz="15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指标链路：扩缩容的数据基础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requests/limits 是静态声明；“实际用了多少”需要动态数据——这就是 metrics-server 的角色。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节点上的容器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kubelet（cAdvisor）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CPU/内存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048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8288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从各节点拉取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聚合为标准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622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82880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metrics.k8s.io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暴露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9672" y="184708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554480"/>
            <a:ext cx="1828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27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top（人看）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HPA（机器用）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8036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谁提供“用量数据”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" y="33375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集群内指标采集器（kube-system 里的 Deployment，实验 05 Lab 1 安装）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从每个节点的 kubelet（cAdvisor）拉取 CPU/内存实际用量，聚合后暴露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8036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注意：实时用量不存历史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01184" y="33375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 只提供实时用量（不存历史）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历史趋势与告警需要 Prometheus 这类完整监控（第 15 章可观测性展开）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核心认知：没有 metrics-server，kubectl top 无数据、HPA 也无法工作（指标未知 → 无法决策）——实验 05 Lab 1 是 HPA 的前提。</a:t>
            </a:r>
            <a:endParaRPr lang="en-US" sz="12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HPA：水平自动扩缩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原理：控制循环 + 指标 → 期望副本数（周期约 15 秒）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指标类型（autoscaling/v2）：Utilization / AverageValue / Value / 自定义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伸缩节奏：稳定窗口防抖动，behavior 精细控制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局限与注意：指标延迟、只认 requests、与手动 scale 的关系</a:t>
            </a:r>
            <a:endParaRPr lang="en-US" sz="15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原理：又一个控制循环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HPA（HorizontalPodAutoscaler）把第 2 章的控制循环应用在“副本数”上——声明目标 CPU 60%、副本 2-10，剩下的交给它。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82880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读指标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（当前利用率）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48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572768"/>
            <a:ext cx="182880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计算期望副本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× 利用率比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622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1828800" cy="96012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期望 ≠ 当前？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修改 replicas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572768"/>
            <a:ext cx="18288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修改 replicas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补齐/缩减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循环永不停止（周期约 15 秒）——只有“期望 ≠ 当前”才修改 replicas；“否”→ 回到 ① 继续观察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15468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计算示例：副本 3 · 目标 CPU 60% · 当前利用率 90%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期望副本 = 3 × (90% / 60%) = 4.5 → 取整 5 → replicas 3 → 5（扩容）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注意：修改 replicas 只是改“期望状态”——真正补齐/缩减 Pod 的是 ReplicaSet（第 5 章）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指标类型（autoscaling/v2）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autoscaling/v2 支持四种指标类型——前三种内置，自定义/外部指标需要适配器（进阶）。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Utilization（利用率）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实际用量 / requests 的百分比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利用率 60%（最常用）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AverageValue（平均值）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每副本的平均绝对用量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每副本内存 200Mi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Value（总值）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整个工作负载的总量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总请求数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自定义/外部指标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等来源（需适配器）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QPS、队列长度（进阶）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核心：Utilization 的分母是 requests（不是节点容量）——HPA 的准确性依赖 requests 设置合理（第 4 章资源模型的意义又一处体现）。</a:t>
            </a:r>
            <a:endParaRPr lang="en-US" sz="13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伸缩节奏与 behavior 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指标是波动的——利用率在 59%/61% 间跳会让副本不停增减（抖动）。HPA 用稳定窗口平滑：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scaleUp 稳定窗口（扩容）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011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0 秒，可配置如 60s：利用率持续超目标这么久才扩容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scaleDown 稳定窗口（缩容）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5 分钟：利用率持续低于目标这么久才缩容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3547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缩容比扩容谨慎——扩错了最多多花钱，缩错了会扛不住流量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4297680" cy="2423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554480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scaleUp: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stabilizationWindowSeconds: 60     # 扩容稳定窗口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Percent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100                       # 一次最多翻倍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periodSeconds: 60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scaleDown: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stabilizationWindowSeconds: 300    # 缩容稳定窗口（默认 5 分钟）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Percent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50                        # 一次最多缩一半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14800"/>
            <a:ext cx="54864" cy="71323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879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生产要点：默认行为（5 分钟缩容稳定窗口）通常够用；关键业务可收紧 scaleUp 窗口（更快扩容）、拉长 scaleDown 窗口（更稳的缩容）。</a:t>
            </a:r>
            <a:endParaRPr lang="en-US" sz="12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局限与注意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指标延迟：metrics-server 采集有延迟（约 15 秒），HPA 决策滞后于流量变化——突发流量要预留余量（目标利用率别设 90%，留 60-70%）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01952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0195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最小/最大副本：minReplicas 保底（应对冷启动）、maxReplicas 封顶（防止失控扩容）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8046720" cy="6217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15184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与手动 scale 的关系：手动 kubectl scale 会被 HPA 覆盖（HPA 是权威）——要调整 HPA 的 min/max 而不是手动 scale，不要混用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80467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28416"/>
            <a:ext cx="54864" cy="62179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2841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与资源模型的关系：HPA 只认 requests——Pod 没配 requests，CPU 利用率指标不可用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24528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排障提示（CKA 域 5）：HPA 副本不动的排查先看两件事——metrics-server 是否就绪、Pod 是否配了 requests。</a:t>
            </a:r>
            <a:endParaRPr lang="en-US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垂直扩缩与集群扩缩：另外两个维度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VPA：自动调整 requests/limits（垂直），需重建 Pod（v1.27+ 可原地）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ClusterAutoscaler：节点级扩缩，云环境自动增减机器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三种扩缩的定位与决策逻辑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KEDA：事件驱动自动扩缩（进阶）</a:t>
            </a:r>
            <a:endParaRPr lang="en-US" sz="15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VPA 与 7.3.2 ClusterAutoscaler：另外两个维度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697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VPA（Vertical Pod Autoscaler）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原理：根据历史用量自动调整 Pod 的 requests/limits（而不是副本数）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176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为什么需要：应用需求会变（内存膨胀、业务高峰），人工调 requests 很烦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2615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机制：VPA 建议 → 修改 Deployment 模板 → 滚动更新（需重建 Pod 生效）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0540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注意：VPA 与 HPA 在 CPU/内存上不能同时用——常用“VPA 调 requests + HPA 管副本”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v1.27+ In-place Pod Resource Updates：不重启 Pod 原地更新资源字段（v1.36 已支持）——对重启敏感的有状态服务意义重大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54864" cy="2697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ClusterAutoscaler（CA）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01184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原理：集群资源不足时自动增减节点（云环境，调用云厂商 API）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01184" y="2176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触发：Pod 挤满所有节点（调度过滤失败 Pending）→ 加节点；节点长期空闲 → 减节点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01184" y="2615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注意：需要云环境——裸机集群无法自动加机器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01184" y="30540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 HPA 配合：形成“应用级 + 节点级”双层弹性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01184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排障线索：Pod 长时间 Pending → 检查集群容量与 CA 是否扩容（结合第 6 章调度）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41648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HPA（无状态应用的水平扩展是首选）；副本数不能随便加（有状态/单实例）→ VPA；节点容量瓶颈 → ClusterAutoscaler。三者可以组合（生产标准组合：HPA + CA）。</a:t>
            </a:r>
            <a:endParaRPr lang="en-US" sz="13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三种扩缩的定位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828800"/>
                <a:gridCol w="233172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调整什么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HPA（水平）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立即（改 replicas）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无状态应用，最常用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VPA（垂直）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requests/limits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需重建 Pod（v1.27+ 可原地）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有状态/不好水平扩展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ClusterAutoscaler（节点级）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分钟级（云 API）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集群容量不足时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93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HPA → 副本数不能随便加（有状态/单实例）用 VPA → 节点容量瓶颈用 ClusterAutoscaler；三者可以组合（生产标准：HPA + CA）。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9776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97764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0690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KEDA：事件驱动自动扩缩（进阶）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37083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只认 CPU/内存；消息队列堆积（Kafka/RabbitMQ 积压 1 万条 → 加消费者）正是 KEDA 场景——内置 70+ Scaler 直接读外部指标，以“自定义指标源”接入 HPA，用 ScaledObject 声明“队列长度 &gt; N 扩到 M”。决策：标准 CPU/内存 → HPA；事件驱动 → KEDA。</a:t>
            </a:r>
            <a:endParaRPr lang="en-US" sz="11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资源治理三层防线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第一层：requests/limits——Pod 自己声明（自觉）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第二层：LimitRange——命名空间内约束单个 Pod（默认值 + 上下限）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第三层：ResourceQuota——命名空间内约束总量（防膨胀）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三层协作、设计建议与多租户治理体系</a:t>
            </a:r>
            <a:endParaRPr lang="en-US" sz="15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第一、二层：requests/limits 与 LimitRange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77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124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第一层：requests/limits（Pod 自己声明）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每容器声明“要多少 / 最多用多少”（实验 02 Lab 10）。问题：靠自觉——Pod 不写就没有；写小了节点可能超卖；写大了浪费。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第二层：LimitRange——命名空间级别给“单个对象”设默认值与上下限（准入控制实现，第 12 章展开）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323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校验：Pod 声明超出范围 → 创建被拒（Forbidden）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9809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填充：Pod 没声明 → 自动补默认值（防止“裸奔”Pod——最重要的一条）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529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约束：统一命名空间的资源声明口径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395728"/>
            <a:ext cx="3566160" cy="1691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39572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命名空间 dev 的 LimitRange：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 必须 50m~2 核、内存 32Mi~1Gi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没写 requests/limits → 自动填默认值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dev apply -f lr-pod.yaml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 4 核 &gt; 上限 2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maximum cpu usage per Pod is 2,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request is 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245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核心认知：LimitRange 解决“单个 Pod 不守规矩”——要么超限被拒（Forbidden），要么没写被填默认值。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第三层：ResourceQuota（约束命名空间总量）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约束整个命名空间的累计用量——所有 Pod 的 requests/limits 加起来不能超过配额；超配额 → 新对象创建被拒；资源释放后自动恢复；还能配额对象数量（pods/services/pvc 等）防无限膨胀。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9776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64208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命名空间 dev 的 ResourceQuota：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requests.cpu: 10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requests.memory: 20Gi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limits.cpu: 20 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limits.memory: 40Gi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pods: 100    services: 50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pvc: 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664208"/>
            <a:ext cx="39776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664208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超过配额 → 创建被拒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dev apply -f new-pod.yaml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exceeded quota: dev-quota,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requested: requests.cpu=500m,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used: requests.cpu=9.7,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limited: requests.cpu=10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排障关联（CKA 域 5）：创建 Pod 报 exceeded quota → 看报错里的 Used / Hard——报错直说超了哪个配额，删除占用后自动恢复。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三层协作与设计建议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37744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Requests/Limits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（Pod 声明，自觉）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44368" y="1527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37744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（单 Pod 上下限 + 默认值，强制）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79008" y="1527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377440" cy="96012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ResourceQuota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（命名空间总量，防膨胀）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95728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395728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957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三层是“递进约束”：自觉声明 → 命名空间内强制单 Pod 默认值与上下限 → 兜底总量；后两层都在准入控制执行（创建时拦截，第 12 章展开原理）。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设计建议（生产视角）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01568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511296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每个生产命名空间都配 ResourceQuota（总量兜底）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配 LimitRange 的 default——强制每个 Pod 都有 requests（HPA 依赖它、调度依赖它）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401568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401568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3511296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测试命名空间配额可以小（倒逼省资源）；生产按业务量评估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拒绝机制都在准入控制：Forbidden / exceeded quota（创建时拦截）</a:t>
            </a:r>
            <a:endParaRPr lang="en-US" sz="11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设计指南：多租户治理体系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命名空间规划模型（按组织规模选）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模型一：按环境划分（小团队）     dev / staging / production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模型二：按团队 × 环境（中型组织）  team-order-dev / team-payment-prod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929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模型三：按业务域划分（大型组织）  domain-trade / domain-payment（跨域 NetworkPolicy 隔离，第 9 章）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4288"/>
          <a:ext cx="8046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6324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隔离强度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逻辑隔离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Namespace + RBAC（第 11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同信任域内团队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资源隔离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ResourceQuota + LimitRange（本章）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 Noisy Neighbor（吵闹邻居）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网络隔离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NetworkPolicy（第 9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跨团队安全边界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节点隔离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Taint/Toleration + 专用节点池（第 6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合规/安全敏感负载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793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超卖策略：测试 200-300%（requests 低、limits 高，允许争抢）· 生产 120-150%（requests 接近实际用量）· 核心服务 100%（Guaranteed QoS）；监控：节点实际利用率 ÷ requests 总和 &gt; 85% 触发扩容</a:t>
            </a:r>
            <a:endParaRPr lang="en-US" sz="11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实验演练指引（实验 05“资源管理和监控”）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本章机制对应配套实验手册实验 05（4 个 Lab），动手验证“指标 → HPA → 配额”全链路。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安装 metrics-server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指标链路的数据源——装好后 kubectl top node/pod 有数（requests/limits 基础在实验 02 Lab 10）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启用 HPA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0118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autoscaling/v2 配置 CPU/内存指标，压测观察副本数自动增减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3464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LimitRange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min/max/default/defaultRequest——超限 Forbidden、缺省自动填充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2944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ResourceQuota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01184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配额观察——超配额拒绝、资源释放后自动恢复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 是 HPA 的前提（无指标无决策）；Lab 3/4 对比记忆——LimitRange 管单个、ResourceQuota 管总量。</a:t>
            </a:r>
            <a:endParaRPr lang="en-US" sz="12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指标链路：kubelet（cAdvisor）→ metrics-server → metrics API → kubectl top / HPA——没 metrics-server 就没有 HPA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28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28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824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HPA：控制循环 + 指标 → 期望副本数（当前 × 利用率比）；Utilization 分母是 requests；稳定窗口防抖动（缩容默认 5 分钟）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95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94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三种扩缩：HPA 水平（加副本，首选）/ VPA 垂直（调 requests，需重建）/ CA 节点级（云环境加机器）——生产组合 HPA + 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16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三层防线：requests/limits（自觉）→ LimitRange（单 Pod 默认值/上下限，强制有 requests）→ ResourceQuota（命名空间总量）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拒绝机制都在准入控制：超限 Forbidden、超配额 exceeded quota——创建时拦截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959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502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与资源模型联动：requests 设得准 → 调度准、HPA 准、配额准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8 章配置管理（ConfigMap/Secret）——资源治理管“用多少”，配置管理管“怎么配”。</a:t>
            </a:r>
            <a:endParaRPr lang="en-US" sz="11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metrics-server 时，HPA 会怎样？kubectl top 会怎样？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 计算期望副本数时，为什么“当前利用率 / 目标利用率”用乘法？（提示：比例关系）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为什么缩容稳定窗口默认比扩容长？极端情况下把两个窗口都设 0 会怎样？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706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 Pod 没配 requests，HPA 的 CPU 利用率指标为什么不可用？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LimitRange 与 ResourceQuota 的管辖范围分别是什么？“exceeded quota”和“Forbidden: maximum cpu”分别来自哪层？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为什么生产建议给每个命名空间配 LimitRange 的 default？（提示：HPA/调度/配额都依赖 requests）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2/5）：kubectl autoscale --cpu=50% --min=2 --max=10；HPA 公式与稳定窗口；LimitRange 的 Forbidden 与 default 填充；ResourceQuota 的 exceeded quota；场景题：按需求配置资源治理。</a:t>
            </a:r>
            <a:endParaRPr lang="en-US" sz="12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 配置管理：ConfigMap 与 Secret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配置外部化 · ConfigMap 卷挂载与 env 注入 · Secret 与 base64 · Downward API · 生产实践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06）</a:t>
            </a:r>
            <a:endParaRPr lang="en-US" sz="12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解释“配置外部化”的必要性：镜像不可变、多环境复用、敏感信息暴露三大痛点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ConfigMap 的本质，以及两种消费方式（卷挂载 vs 环境变量）的机制差异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解释“卷挂载支持热更新、env 注入需要重启”的底层原因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Secret 与 ConfigMap 的关系，理解“base64 是编码不是加密”的深刻含义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Secret 的四种类型及各自用途（Opaque / tls / dockerconfigjson / service-account-token）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区分外部配置（ConfigMap / Secret）与自身元数据（Downward API）的界限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Secret 的安全边界：RBAC 收紧、etcd 静态加密、最小权限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设计一个应用的完整配置方案：哪些进 ConfigMap、哪些进 Secret、哪些进 Downward API</a:t>
            </a:r>
            <a:endParaRPr lang="en-US" sz="125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为什么需要“配置外部化”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三个痛点：镜像不可变被破坏、多环境无法复用、敏感信息暴露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十二要素（12-Factor）核心：配置与代码分离——同一份镜像跑所有环境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K8s 的答案：ConfigMap（非敏感）+ Secret（敏感），机制几乎一样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承上启下：第 4 章 env/command 硬编码 → 本章把配置“抽”出来统一管理</a:t>
            </a:r>
            <a:endParaRPr lang="en-US" sz="15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为什么需要“配置外部化”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章的 env / command 把配置写死在容器里——本章把配置从镜像 / yaml 中“抽”出来统一管理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镜像不可变被破坏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镜像一旦构建就不该改；改配置就得重新构建镜像、重新发布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2588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多环境无法复用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 / test / prod 的数据库地址、日志级别不同；写死一份只能服务一个环境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325880"/>
            <a:ext cx="54864" cy="1554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敏感信息暴露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4496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密码写进 yaml → 进 Git → 泄密；写进镜像 → 所有拉取镜像的人都能看到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的答案：两个专用对象（机制几乎一样，唯一的本质区别是数据的敏感程度）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56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456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非敏感配置：连接串、开关、日志级别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383280"/>
            <a:ext cx="54864" cy="713232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456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456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敏感配置：密码、Token、证书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十二要素（12-Factor）核心：配置与代码分离——同一份镜像，通过注入不同的配置运行在不同环境</a:t>
            </a:r>
            <a:endParaRPr lang="en-US" sz="11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ConfigMap：非敏感配置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本质：一个“键值对仓库”（data 区）——键可以是短值，也可以是整个文件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两种消费：卷挂载（键变文件）vs 环境变量注入（键变变量）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核心差异：卷挂载支持热更新，env 注入需要重启 Pod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经典陷阱：subPath 单文件挂载丧失热更新；immutable 与 Reloader 是生产方案</a:t>
            </a:r>
            <a:endParaRPr lang="en-US" sz="15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的本质与创建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8463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LOG_LEVEL: info        # 键值对（短配置）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APP_PORT: "8080"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app.conf: |            # 键=文件名（长配置）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server.port=8080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server.timeout=30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017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54864" cy="228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本质：键值对仓库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1554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data 区 = 键值对集合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19019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短配置：键 = 开关 / 参数，值 = 字符串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2249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长配置：键 = 文件名，值 = 整个文件内容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25968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一个 CM 可同时装两类配置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9443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非敏感：连接串、开关、日志级别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创建方式（实验 06 Lab 1 / Lab 2）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--from-literal=LOG_LEVEL=info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2428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--from-file=app.conf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--from-file=conf.d/    # 目录：每文件一个键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71830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configmap.yaml                            # 声明式（生产推荐）</a:t>
            </a:r>
            <a:endParaRPr lang="en-US" sz="105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两种消费方式：卷挂载 vs env 注入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3246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卷挂载：键变文件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35204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5087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mountPath: /etc/app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app-config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挂载后每个键变成一个文件：/etc/app/ 下有 LOG_LEVEL、APP_PORT、app.conf——适合“读配置文件”的应用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3246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env 注入：键变变量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35204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5087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LOG_LEVEL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valueFrom: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configMapKeyRef: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app-config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key: LOG_LEVEL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只把指定的键注入为环境变量——适合“读环境变量”的应用（12-Factor 风格）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共同点：数据都来自同一个 ConfigMap；区别只在“形态”——文件还是环境变量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读图要点：判断依据是“形态 + 读取方式”——配置文件 → 卷挂载；少量键值且应用读 env → env 注入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两种方式对比与热更新原理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卷挂载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env 注入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 → 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 → 环境变量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应用读取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读文件（配置类应用）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读环境变量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热更新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CM 后文件自动更新，无需重启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改后需重启 Pod 才生效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配置文件、整个 conf 目录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少量开关、连接参数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热更新的底层原理（重要）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474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4747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卷挂载 → 为什么能热更新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8770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定期把 ConfigMap 同步到本地缓存目录，挂载是“软链 / 绑定挂载”——CM 变了，文件内容跟着变（应用是否重读文件取决于实现）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47472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→ 为什么不能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92040" y="38770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环境变量是“进程启动时”注入的——进程已经跑起来，改 env 进不到正在运行的进程，只能重启 Pod（新 Pod 用新值）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645152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4645152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645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决策逻辑：需要频繁改配置、应用读文件 → 卷挂载（热更新）；少量一次性参数、应用读 env → env 注入。</a:t>
            </a:r>
            <a:endParaRPr lang="en-US" sz="12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陷阱与生产性能方案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560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挂载陷阱（经典坑，必读）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只挂 ConfigMap 里的单个文件：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374904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volumeMounts: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mountPath: /etc/nginx/nginx.conf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subPath: nginx.conf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是“直接复制文件”（不做软链接）——ConfigMap 更新后文件不会跟着变，彻底丧失热更新，只能重启 Pod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决策：适合“只挂单文件 + 配置基本不变”；要热更新别用 subPath（挂整个目录）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051560"/>
            <a:ext cx="3703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05156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immutable：不可变（省轮询）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48132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immutable: true 后禁止修改（只能删了重建）；kubelet 不再轮询检查变化 → 大规模集群控制面压力大幅下降；适合公共证书、系统级配置等“基本不变”的配置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423160"/>
            <a:ext cx="3703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42316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514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Reloader：热更新自动化（第三方）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8529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自动监听 ConfigMap / Secret 变化 → 滚动重启关联 Deployment，解决 env / subPath 不能热更新的自动化问题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34015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注解标记：reloader.stakater.com/auto: "true"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8862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生产组合：配置文件卷挂载（热更新）+ 少量参数 immutable（省轮询）+ 需要重启生效的场景用 Reloader 自动滚动。</a:t>
            </a:r>
            <a:endParaRPr lang="en-US" sz="12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Secret：敏感配置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结构与 ConfigMap 几乎一样，差别在：base64 编码、默认不显示内容、有类型字段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重要认知：base64 是编码不是加密——安全靠 RBAC + etcd 加密 + 最小权限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四种类型：Opaque / tls / dockerconfigjson / service-account-token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两个系统级消费特例：Ingress TLS 与 imagePullSecrets</a:t>
            </a:r>
            <a:endParaRPr lang="en-US" sz="15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与 ConfigMap 的关系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75488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mysql-pass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d29yZHByZXNzMTIz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值必须 base64 编码（"wordpress123"）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32120" y="1051560"/>
            <a:ext cx="3063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32120" y="105156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ConfigMap 的差别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值必须 base64 编码（CM 是明文）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describe / get 默认不显示内容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 type 类型字段（§8.3.3）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2651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RBAC 可单独收紧授权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消费方式相同：secret 卷 / secretKeyRef，挂载后自动还原明文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secret mysql-pass -o yaml → 密文直接可读、秒还原（实验 06 Lab 4 亲手验证）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只是“字节 → 可打印字符”的编码，任何人都能解码——“传输 / 存储格式”不等于安全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是编码不是加密：任何人拿到 yaml 都能秒解码——Secret 的真正安全依赖 RBAC + etcd 静态加密 + 最小权限（CKA 认知考点）。</a:t>
            </a:r>
            <a:endParaRPr lang="en-US" sz="12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的四种类型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Opaque（默认）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通用敏感值：密码 / Token / API Key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kubernetes.io/tls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TLS 证书（Ingress 的 HTTPS）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tls.crt + tls.key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kubernetes.io/dockerconfigjson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私有镜像仓库凭据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.dockerconfigjson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kubernetes.io/service-account-token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 令牌（系统使用）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自动管理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4612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337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两个“非通用”消费特例（不经 env / 卷，被系统直接引用）：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630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类型 → Ingress 的 spec.tls.secretName（实验 07 Ingress TLS）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dockerconfigjson 类型 → Pod 的 imagePullSecrets（拉私有镜像时用它认证）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tls my-tls --cert=cert.crt --key=key.key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docker-registry regcred --docker-server=HOST --docker-username=USER --docker-password=PASS</a:t>
            </a:r>
            <a:endParaRPr lang="en-US" sz="9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的安全边界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消费方式与 ConfigMap 完全相同（卷 / env + 两个系统级特例）——区别只在数据敏感性：Secret 更“金贵”，只给需要的 Pod 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收紧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secret 就是拿到全部值——Secret 的读权限要单独授权（第 11 章授权机制）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静态加密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etcd 里 Secret 是明文存储——配 EncryptionConfiguration 落盘加密，防备份泄露（实验 09 Lab 9）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34640" y="3108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Secret 只给需要的命名空间 / 应用；不用的不创建、不授权；定期轮换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7764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77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外部密钥管理（进阶）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34640" y="39776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生产可接 External Secrets（Vault / AWS Secrets Manager），集群里不落明文——知道存在即可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645152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45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一句话：把 base64 当加密是新手最常见的误解——Secret 的安全永远靠“权限 + 加密存储”，而不是编码本身。</a:t>
            </a:r>
            <a:endParaRPr lang="en-US" sz="12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8.4-8.6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 与生产实践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8.4 Downward API：注入“自己是谁”——Pod 自身元数据，与外部配置界限分明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8.5 最佳实践：配置全进对象、按敏感性分流、Secret 最小权限、多环境复用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8.6 实验 06“ConfigMap 和 Secret”：5 个 Lab + 2 个补充实操</a:t>
            </a:r>
            <a:endParaRPr lang="en-US" sz="15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API：注入“自己是谁”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§4.5.4 已讲过 Downward API（实验 06 补充实操）——本章对比，建立“三种注入”的完整图景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28346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注入来源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ConfigMap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数据库地址、开关、配置文件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应用“要什么”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Secret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外部敏感配置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密码、Token、证书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应用“凭什么”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Downward API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自身元数据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名、命名空间、节点名、labels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应用“我是谁”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33756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应用容器（env / 卷 两种注入通道）：ConfigMap → 外部配置（8.2） · Secret → 敏感配置（8.3） · Downward API → 自身元数据（§4.5.4）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822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判断标准：数据是“环境给的”（CM / Secret）还是“我自己身上的”（Downward）？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注入字段：fieldRef env（Pod 名 / 命名空间 / 节点名）+ downwardAPI 卷（labels / annotations 写进文件）</a:t>
            </a:r>
            <a:endParaRPr lang="en-US" sz="115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配置管理最佳实践 · 实验演练指引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4805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383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最佳实践（生产）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563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63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36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配置全进对象：Deployment yaml 零硬编码（地址 / 密码 / 开关不出现）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048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020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按敏感性分流：非敏感 → ConfigMap；敏感 → Secret（别全放 CM）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505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文件名即配置：配置文件用卷挂载（热更新）；少量参数用 env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990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最小权限：RBAC 收紧 + etcd 加密 + 定期轮换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多环境复用：同一镜像 + 不同命名空间的 CM/Secret = 一套镜像跑 dev/prod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9867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修改流程：改 CM（卷方式）→ 自动热更新；改 env → 滚动重启 Pod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1051560"/>
            <a:ext cx="33832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1051560"/>
            <a:ext cx="54864" cy="33832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143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06 指引（5 Lab + 2 补充）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1536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1 文件型 CM：--from-file + 卷挂载进 mysql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2 键值对 CM：--from-literal、键变文件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0" y="23774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3 env 映射：configMapKeyRef 注入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27980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4 Secret：base64 + secretKeyRef 注入 mysql 密码（亲手验证“秒还原”）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32186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5 文件型 Secret：配置文件封进 Secret、挂载还原明文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36393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补充 1：Secret 类型（tls / dockerconfigjson）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0" y="40599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补充 2：Downward API（fieldRef env + downwardAPI 卷）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1-3 对比记忆“卷 vs env”两种消费；Lab 4 重点体验“编码 ≠ 加密”</a:t>
            </a:r>
            <a:endParaRPr lang="en-US" sz="11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为什么外部化：镜像不可变、多环境复用、敏感信息不落地——同一份镜像跑所有环境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= 非敏感键值对仓库；两种消费：卷挂载（键变文件、热更新）vs env 注入（一次性、需重启）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读文件用卷、读 env 用 env；subPath 单文件挂载会彻底丧失热更新（经典坑）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与 CM 同构 + base64；base64 ≠ 加密——安全靠 RBAC + etcd 静态加密 + 最小权限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四种类型：Opaque / tls / dockerconfigjson / service-account-token；后两者是系统级消费特例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 注入“自己是谁”——与外部配置界限分明（CM=要什么，Secret=凭什么）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生产实践：配置全进对象、按敏感性分流、Secret 最小权限、多环境复用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9 章网络——tls 型 Secret 是 Ingress HTTPS 的原料；第 11 章 RBAC 为 Secret 访问控制提供机制</a:t>
            </a:r>
            <a:endParaRPr lang="en-US" sz="11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为什么“改 env 注入的配置”要重启 Pod，而“改卷挂载的配置”不用？（提示：进程启动时注入 vs 文件系统挂载）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get secret xxx -o yaml 里能看到密码吗？怎么防？（提示：编码 vs 加密）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私有镜像仓库的凭据用什么 Secret 类型？Pod 怎么用它？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数据库密码、日志级别、Pod 所在节点名，分别应该用 CM / Secret / Downward 哪个？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Secret 的“值”要 base64 编码？ConfigMap 为什么不用？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1/2）：create configmap / secret（--from-literal / --from-file）、configMapKeyRef / secretKeyRef、configMap / secret 卷、imagePullSecrets、create secret tls / docker-registry；卷挂载热更新 vs env 需重启、base64 是编码不是加密。排障（域 5）：secret "xxx" not found（引用名 / 命名空间错）、env 没生效（改了没重启）。</a:t>
            </a:r>
            <a:endParaRPr lang="en-US" sz="12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 服务、负载均衡与网络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四层网络全景 · Service 机制 · 集群 DNS · Ingress · NetworkPolicy · 完整走查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07）</a:t>
            </a:r>
            <a:endParaRPr lang="en-US" sz="12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画出集群的四个网络层次（节点 / Pod / Service / 集群外）及各自网段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550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Service 的完整机制：Endpoints 选择后端 + kube-proxy 写入转发规则（iptables / IPVS）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854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5798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Service 的四种类型与 headless，说出各自适用场景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883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解释集群 DNS（coredns）的解析规则与命名空间作用域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Ingress 的原理（对象 + 控制器 + host/path 路由 + TLS 终止），说出它与 Service 的分工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76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NetworkPolicy 的隔离原理（默认全通 → 白名单）与典型策略设计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306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793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走查“外部用户 → 应用 Pod”的完整路径（哪个组件做了什么）</a:t>
            </a:r>
            <a:endParaRPr lang="en-US" sz="12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网络全景：四个层次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集群里有四个网络层次，各司其职（第 3 章规划过网段）：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4747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节点网络（物理）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192.168.0.0/24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机器真实 IP，节点互通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Pod 网络（虚拟）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10.244.0.0/16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Pod 一个 IP（CNI 分配）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Service 网络（虚拟）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10.96.0.0/12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虚拟 IP（ClusterIP）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集群外访问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 IP:端口 / 域名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负载均衡器 / Ingress 进入集群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06240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关键模型：每个 Pod 一个 IP（CNI / Calico 分配），Pod 之间直接互通无需 NAT；没有 CNI，Pod 无 IP、节点不 Ready。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补充：IPv6 双栈——现代 Kubernetes 支持 IPv4 + IPv6 同时运行（--pod-cidrs 配双网段），默认单栈 IPv4。</a:t>
            </a:r>
            <a:endParaRPr lang="en-US" sz="11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Service：稳定入口的完整原理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 Service：Pod IP 是临时的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机制：Endpoints 选后端 + kube-proxy 写规则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四种类型与 headless、多端口与端口命名</a:t>
            </a:r>
            <a:endParaRPr lang="en-US" sz="15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机制：Endpoints + kube-proxy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IP 是临时的（重建即变）· 多副本时该访问哪个 IP？—— Service 提供“稳定虚拟 IP + DNS 名”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Endpoints（谁在服务）：控制器把 selector 匹配的 Pod IP:端口 写进 Endpoints 对象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web → selector app=web → Endpoints: [10.244.1.5:80, 10.244.2.8:80, 10.244.3.2:80]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Endpoints 为空 = selector 没匹配到 Pod（CKA 高频排障场景）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9748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06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kube-proxy（怎么转发）：每个节点把转发规则写进内核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发往 ClusterIP:80 的流量 → 随机 / 轮询选一个 Endpoints → DNAT 改写目标到 Pod 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转发路径（请求不经过 kube-proxy 进程）：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17830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应用请求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http://web-svc:80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4160520"/>
            <a:ext cx="178308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节点内核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（iptables / IPVS 规则）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72584" y="4160520"/>
            <a:ext cx="1783080" cy="73152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DNAT 改写目标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后端 Pod 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11696" y="4160520"/>
            <a:ext cx="1783080" cy="73152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容器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处理请求</a:t>
            </a:r>
            <a:endParaRPr lang="en-US" sz="10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两种实现：iptables 与 IPVS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737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iptables 模式（默认）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为每个 Service / Endpoints 生成 iptables 规则链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每个请求在规则里随机命中一个后端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随机算法，不是加权轮询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54864" cy="1737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IPVS 模式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内核级负载均衡（LVS）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 rr / wrr / lc 等调度算法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规则更少、性能更好（大量 Service 时明显）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64008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核心认知（易错点）：kube-proxy 不是代理进程——流量不经过它，它只负责把规则写进内核；它也不做服务发现（发现靠 DNS）。“规则写内核、转发在内核”是性能的关键。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转发发生在内核里：请求路径完全不经过 kube-proxy 进程——kube-proxy 只是“规则的搬运工”。</a:t>
            </a:r>
            <a:endParaRPr lang="en-US" sz="12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的四种类型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 是默认类型；四种类型由 spec.type 字段指定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2926080"/>
                <a:gridCol w="23774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ClusterIP（默认）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 IP，仅集群内可达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内部服务间调用（默认首选）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NodePort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每个节点开一个端口（30000-32767）→ 转发到 ClusterIP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/ 小规模外部访问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LoadBalancer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云厂商创建负载均衡器 → 指向 NodePort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云环境生产对外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ExternalName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DNS CNAME 指向外部域名（无 IP 无转发）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把集群外服务“伪装”成集群内服务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端口范围：30000-32767（固定）——实验 07 Lab 3 看到的 443:30573/TCP 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与 LoadBalancer 的访问链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325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NodePort：集群外直连节点端口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外部用户 → 任意节点 IP:31230 → kube-proxy 规则 → ClusterIP:80 → Pod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每个节点都开同一个端口，访问任意节点 IP 都能到达；适合测试 / 小规模外部访问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88920"/>
            <a:ext cx="54864" cy="1325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LoadBalancer：云负载均衡器接管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外部用户 → 云负载均衡器 → 节点 IP:NodePort → ClusterIP → Pod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云厂商创建负载均衡器并绑定到 NodePort——云环境生产对外首选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端口范围固定 30000-32767；实验 07 Lab 3 看到的 443:30573/TCP 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Service：不要虚拟 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clusterIP: None 的 Service 不创建虚拟 IP——DNS 直接返回所有后端 Pod IP 列表，调用方自己选（轮询 / 随机）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046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普通 Service：DNS 解析 web-svc → 1 个 ClusterIP（kube-proxy 转发）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headless：   DNS 解析 web-svc → N 个 Pod IP（调用方自行选择）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 ①：StatefulSet 稳定 DNS 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web-0.web-svc.namespace.svc——Pod 名解析由 StatefulSet 控制器写入 DNS，要求 Service 是 headless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74320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 ②：自己控制负载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需要“拿到所有后端 IP 自己选”的场景——如数据库客户端自己挑从库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关键点：headless 的“稳定 DNS 名”只有配合 StatefulSet 才有——普通 Deployment 的 Pod 没有 pod名.svc 解析。</a:t>
            </a:r>
            <a:endParaRPr lang="en-US" sz="1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多端口与端口命名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Service 可以暴露多个端口（如 80 HTTP + 443 HTTPS），每个端口必须有名字：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75488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http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80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8080   # 转发到 Pod 的 8080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https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443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8443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63040"/>
            <a:ext cx="3108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46304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字段说明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name：端口名（必须唯一）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port：Service 对外端口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targetPort：转发到 Pod 的端口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nodePort：NodePort 类型时指定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069080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targetPort 可以是端口号或容器端口名（第 4 章 ports.name）——用名字的好处：改端口号不用改 Service。</a:t>
            </a:r>
            <a:endParaRPr lang="en-US" sz="12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DNS：名字解析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coredns 的角色：集群内每个 Pod 的 /etc/resolv.conf 指向 coredns（kube-system 里的 Deployment）——应用用 Service 名访问，DNS 解析成 ClusterIP。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解析规则（从简写到完整）：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                              → 当前命名空间的 Service（简写）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                    → 指定命名空间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&lt;svc名&gt;.&lt;命名空间&gt;.svc                → 完整形式（FQDN，svc 是固定段）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&lt;svc名&gt;.&lt;命名空间&gt;.svc.cluster.local  → 带集群域（默认 cluster.local）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易错点：命名空间作用域——Pod 里写 mysql 只解析“当前命名空间”的 mysql；跨命名空间必须写 mysql.&lt;命名空间&gt;.svc。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排障视角：kubectl exec -it &lt;pod&gt; -- nslookup &lt;svc&gt;.&lt;ns&gt;.svc 返回 IP = DNS 正常；解析失败先查：Service 存在吗（名字 / 命名空间对了吗）→ coredns 正常吗（实验 07 Lab 4 完整流程）</a:t>
            </a:r>
            <a:endParaRPr lang="en-US" sz="11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Ingress：七层入口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为什么需要：四层的 NodePort / LB 没有域名与路径路由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原理：Ingress 对象声明规则 + 控制器真正转发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host/path 路由 · TLS 终止 · 与 Service 的分工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展望：Gateway API——标准化的演进方向</a:t>
            </a:r>
            <a:endParaRPr lang="en-US" sz="15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原理：对象 + 控制器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/ LoadBalancer 是四层（IP+端口）：每个服务都要开一个端口（端口资源有限、管理混乱）；没有“按域名 / 路径路由”能力（两个域名共用 80 端口做不到）。Ingress = 七层（HTTP/HTTPS）入口。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Ingress 对象：声明路由规则——哪个域名 / 路径 → 哪个 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95728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957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控制器（ingress-nginx，实验 07 安装）Watch 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62656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626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控制器生成 nginx 配置（server_name / location 规则）并加载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529584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9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外部流量 → ingress-nginx（NodePort / LoadBalancer）→ 按规则路由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关键认知：Ingress 对象本身不做转发——它只是“规则声明”；真正转发的是 Ingress 控制器。没有控制器，Ingress 对象是死的。</a:t>
            </a:r>
            <a:endParaRPr lang="en-US" sz="12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路由规则：host 与 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web-ingress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nginx   # 指定控制器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shop.example.com  # 域名 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 { name: shop-svc, port: 80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blog.example.com  # 域名 B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/admin        # 按路径再细分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 { name: blog-admin, port: 80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匹配域名（Host 头）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4920" y="1627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pathType: Prefix 前缀 / Exact 精确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 host 的规则 = 兜底（匹配所有域名）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423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4231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指向 Service（不是 Pod）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只做路由决策，实际转发由 Service + kube-proxy 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61188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61188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访问验证（无 DNS 时）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shop.example.com"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http://节点IP:NodePort</a:t>
            </a:r>
            <a:endParaRPr lang="en-US" sz="11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终止 · 与 Service 的分工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828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tls: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hosts: [shop.example.com]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secretName: shop-tls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shop.example.com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3444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终止（证书加解密）由 Ingress 完成，后端 Pod 保持 HTTP 简单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证书原料 = 第 8 章 kubernetes.io/tls Secret——第 8 章知识在这里落地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生产证书由 cert-manager 自动签发续期（进阶）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与 Service 的分工（易混点）：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七层：域名/路径路由 + TLS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90088" y="3840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3611880"/>
            <a:ext cx="237744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四层：负载均衡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41848" y="3840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97880" y="3611880"/>
            <a:ext cx="2377440" cy="82296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真正干活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一句话：Service 负责“负载均衡”（四层），Ingress 负责“路由”（七层）——Ingress 的 backend 指向 Service，不是直接指向 Pod。</a:t>
            </a:r>
            <a:endParaRPr lang="en-US" sz="12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展望：Gateway API（Ingress 的继任者）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600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的局限（生产暴露的问题）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能力被“注解”绑架（不同控制器各自发明注解，不可移植）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只能管南北向（外部进集群），管不了东西向（服务间流量）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路由 / 流量治理能力有限（权重分流靠控制器扩展）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 API 的核心模型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6733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GatewayClass（控制器实现，类比 StorageClass）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Gateway（入口实例：监听端口 / TLS）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HTTPRoute（host/path/权重/Header）→ 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27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Ingress 的关系：不是“替换即弃”——Ingress 仍被广泛支持，Gateway API 是演进方向（v1.36 已 GA）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关键优势：标准化（不再依赖控制器注解）· 南北向 + 东西向都支持 · 权重分流 / Header 路由内建（金丝雀 / A-B 发布的天然载体，呼应第 5 章发布策略）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决策逻辑：现有集群继续用 Ingress（成熟稳定）；新架构 / 需要高级流量治理 → 评估 Gateway API。用法与 Ingress 思路一脉相承。</a:t>
            </a:r>
            <a:endParaRPr lang="en-US" sz="12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NetworkPolicy：网络隔离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默认全通：扁平网络的风险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原理：podSelector / ipBlock + ingress / egress 白名单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典型策略设计：数据库层 · 业务层 · 拒绝兜底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依赖 CNI：Calico 支持、Flannel 不支持</a:t>
            </a:r>
            <a:endParaRPr lang="en-US" sz="15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NetworkPolicy：默认全通 → 白名单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默认情况下集群内所有 Pod 互通（Pod 网络扁平）——一个 Pod 被攻破，可横向访问任何其他 Pod（包括数据库）。NetworkPolicy = 网络层白名单：声明“谁可以访问哪些 Pod”。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NetworkPolicy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db-allow-app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podSelector:            # 作用对象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 { app: mysql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policyTypes: [Ingress, Egress]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ingress:                # 入站：谁可以访问 mysql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from: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podSelector: { matchLabels: { app: web }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ipBlock: { cidr: 10.0.0.0/8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egress:                 # 出站：mysql 可以访问谁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to: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podSelector: { matchLabels: { app: web }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protocol: TCP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3306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64592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0" y="1645920"/>
            <a:ext cx="54864" cy="32004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关键语义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1031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匹配的 Pod 一旦被某个 NetworkPolicy 覆盖，默认全通就失效——只允许规则里写明的来源（白名单制）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policyTypes 不写的方向不受影响（只限制 Ingress 时 Egress 仍全通）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注意：应用要访问集群 DNS → egress 要放行 DNS（53/UDP），否则 Pod 域名解析都断了（实验 07 Lab 6 实测踩坑）</a:t>
            </a:r>
            <a:endParaRPr lang="en-US" sz="105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典型策略设计 · CNI 依赖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生产基线（先想“谁必须能访问我”，逐条写 from / to）：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89888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898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数据库层：只允许业务 Pod 访问（podSelector: app=web）+ 监控网段（ipBlock）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804672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65376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653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业务层：只允许 Ingress 入口访问 + 放行 DNS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40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拒绝一切兜底：空规则 NetworkPolicy（podSelector: {} + 空 ingress）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 必须由支持它的 CNI 实现（重要）：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8688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CNI 插件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 支持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Calico（本课程）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原生支持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章选 Calico 的原因之一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Flannel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无网络策略能力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Cilium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支持（更强）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eBPF 方案，能力更强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决策逻辑：宁缺毋滥但要有——生产至少给数据库加隔离；验证：kubectl apply 策略后实际访问被拒（实验 07 Lab 6 用 nginx 实测）。</a:t>
            </a:r>
            <a:endParaRPr lang="en-US" sz="12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综合走查：外部用户访问应用的完整路径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DNS 解析：wp.example.com → 节点 IP（集群外 DNS）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00784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00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Ingress 路由：Host 头匹配规则 + TLS 终止（ingress-nginx，NodePort 31230）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12848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128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Service 负载均衡：wordpress Service（ClusterIP）四层转发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724912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249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kube-proxy DNAT：改写目标 → wordpress Pod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36976"/>
            <a:ext cx="54864" cy="43891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369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应用处理 + MySQL：Pod 通过 Service 名解析访问 MySQL（DB 层有 NetworkPolicy 保护）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54864" cy="685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每层职责：DNS（名字→IP）→ Ingress（域名/路径路由 + TLS）→ Service（负载均衡）→ kube-proxy（转发规则）→ Pod（干活）——排障从外层往内层逐层验证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对应实验：实验 07“网络和服务”（Lab 1-6 + 补充）、实验 11 WordPress 案例；Service/DNS 排障顺序见实验 07 Lab 4。</a:t>
            </a:r>
            <a:endParaRPr lang="en-US" sz="11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四层网络：节点（物理）/ Pod（每 Pod 一 IP，CNI）/ Service（虚拟 IP）/ 外部（NodePort / LB / Ingress）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367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机制：Endpoints（选后端）+ kube-proxy（规则写内核，iptables 随机 / IPVS 轮询）——流量不经过 kube-proxy 进程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214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四种类型：ClusterIP / NodePort / LoadBalancer / ExternalName；headless 返回 Pod IP 列表（StatefulSet 稳定 DNS 名）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609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DNS：coredns 解析 svc.ns.svc；命名空间作用域是易错点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Ingress：对象声明规则 + 控制器真正转发；host/path 路由 + TLS 终止——管路由（七层），Service 管负载均衡（四层）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NetworkPolicy：默认全通 → 白名单制；podSelector / ipBlock + ingress / egress；依赖 CNI（Calico 行、Flannel 不行）；注意放行 DNS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970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696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走查：DNS → Ingress → Service → kube-proxy → Pod，排障从外到内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10 章讲存储（PV/PVC/StorageClass）——“应用数据放哪”；第 11 章 RBAC 在 NetworkPolicy 之外提供“谁能做什么”的另一层安全。</a:t>
            </a:r>
            <a:endParaRPr lang="en-US" sz="115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流量真的经过 kube-proxy 进程吗？iptables 和 IPVS 模式的本质区别是什么？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Service 的 DNS 返回什么？为什么 StatefulSet 需要 headless？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跨命名空间访问 Service，DNS 名怎么写？只写 mysql 会发生什么？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706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对象不部署控制器会怎样？backend 为什么指向 Service 而不是 Pod？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给数据库配了“只允许 app 访问”的 NetworkPolicy，为什么数据库 Pod 突然“域名解析失败”了？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外部用户访问 WordPress 的完整路径中，哪一层做域名路由、哪一层做负载均衡、哪一层做端口转发？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3：服务与网络，20%，CKA 第二重）：kubectl expose 多端口 Service、headless + StatefulSet、Ingress（host/path + TLS）、NetworkPolicy（podSelector/ipBlock、ingress/egress）；排障关联（域 5）：Endpoints 为空、DNS 失败、Ingress 404/502、策略误拦。</a:t>
            </a:r>
            <a:endParaRPr lang="en-US" sz="12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 存储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 · PV/PVC 解耦 · StorageClass 动态供应 · 存储方案选型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08）</a:t>
            </a:r>
            <a:endParaRPr lang="en-US" sz="12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解释容器存储的痛点：写入发生在可写层，容器删除数据即消失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区分三种卷类型：emptyDir / hostPath / 配置卷的适用边界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PV/PVC 解耦设计的价值：应用声明需求、管理员提供资源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 PV/PVC 生命周期（Provision→Bind→Use→Reclaim）与访问模式、回收策略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区分静态绑定（手动建 PV）与动态供应（StorageClass 自动建）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StorageClass 机制：provisioner / 默认类 / 绑定模式 / 回收策略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local-path 的单节点局限，为有状态应用做出存储选型决策</a:t>
            </a:r>
            <a:endParaRPr lang="en-US" sz="13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存储问题全景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容器文件系统为什么“靠不住”：可写层随 Pod 一起消失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三个存储需求：持久化 / 共享 / 解耦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K8s 的答案：卷 → PV/PVC → StorageClass 层层抽象</a:t>
            </a:r>
            <a:endParaRPr lang="en-US" sz="15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存储问题全景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容器文件系统为什么“靠不住”：写入发生在镜像可写层——容器删除，可写层一起消失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重建 → 容器内文件全部丢失　｜　Pod 被调度到其他节点 → 原节点上的数据够不着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231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数据跨 Pod 生命周期存活——删了重建，数据还在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28600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24231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内多个容器共享数据（sidecar 读主容器日志）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28600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应用不关心底层细节（本地盘/网络盘/云盘一样用）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承接第 4 章 Pod“无状态”认知：需要持久数据的应用（数据库 / 上传文件）必须显式挂存储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的答案：层层抽象——卷（Pod 级）→ PV/PVC（集群级）→ StorageClass（自动化）</a:t>
            </a:r>
            <a:endParaRPr lang="en-US" sz="12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卷（Volume）：Pod 内的存储抽象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emptyDir：Pod 内临时共享盘——Pod 删除即清空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hostPath：宿主机目录——数据在节点磁盘，绑定节点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configMap / secret：只读配置卷（第 8 章配置注入）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边界认知：卷都“绑定节点”——单机思维，跨节点要靠集群级抽象</a:t>
            </a:r>
            <a:endParaRPr lang="en-US" sz="15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卷（Volume）：Pod 内的存储抽象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卷是 Pod 级概念：声明在 Pod 里、挂载进容器，生命周期与 Pod 一致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194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emptyDir · 临时共享盘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创建时为空目录：容器重启不丢，Pod 删除即清空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典型用途：容器间共享（sidecar 读主容器日志）、临时缓存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被调度到别的节点 = 新 Pod = 新 emptyDir（数据不迁移）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1：emptyDir 随 Pod 消失）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54864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hostPath · 宿主机目录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直接挂宿主机的一个目录（如 /data/mysql）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数据在节点磁盘上——Pod 删了还在，但只在该节点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漂移到其他节点就找不到数据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典型用途：单节点实验、kubelet 等系统组件（实验 08 Lab 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54864" cy="2194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/ secret · 配置卷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章的配置注入：键变文件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本质也是卷——只读配置卷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用途：配置与密钥以文件形式挂进容器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86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边界认知：emptyDir 和 hostPath 都“绑定节点”——它们是“单机思维”的存储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多节点集群要“数据跟着应用走”→ 需要集群级抽象（PV/PVC）</a:t>
            </a:r>
            <a:endParaRPr lang="en-US" sz="11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与 PVC：存储解耦（核心）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为什么需要两层：应用不写存储细节、管理员统一管理资源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PV：集群级资源——管理员“提供什么”（容量/访问模式/回收策略）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PVC：命名空间级请求——应用“需要什么”（只写 PVC 不写底层）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生命周期：Provision → Bind → Use → Reclaim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CKA 核心考点：绑定机制、访问模式、回收策略、静态 vs 动态</a:t>
            </a:r>
            <a:endParaRPr lang="en-US" sz="15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为什么需要两层 · PV：存储的“货架”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241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直接让应用指定宿主机目录（hostPath）的问题：① yaml 里写死了存储细节（路径/机器）——换存储就要改应用　② 管理员想统一管理存储资源（哪些盘可用/多大/怎么回收）没有抓手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19072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647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解耦设计（与 RBAC 的 Subject/Binding 思想同源）：PV——管理员“提供什么”；PVC——应用“需要什么”，应用不知道也不关心底层是 NFS 还是云盘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661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54864" cy="2148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—— 集群级资源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一块“已就绪的存储”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由管理员创建（或 StorageClass 自动创建）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描述：容量 · 访问模式 · 回收策略 · 底层实现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底层实现：hostPath / NFS / 云盘（CSI）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429768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237744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mysqldata-pv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5Gi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ReadWriteOnce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persistentVolumeReclaimPolicy: Retain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hostPath: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/data/mysql</a:t>
            </a:r>
            <a:endParaRPr lang="en-US" sz="11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访问模式 · 回收策略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访问模式（Access Modes）：一块 PV 能被几个节点/几个 Pod 同时用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488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回收策略（Reclaim Policy）：PVC 删除后，PV 怎么处理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ReadWriteOnce（RWO）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单节点读写（数据库标配）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ReadOnlyMany（ROX）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多节点只读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ReadWriteMany（RWX）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多节点读写（共享存储如 NFS 才支持）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Retain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保留数据（PV 变 Released，管理员手动处理——数据安全）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自动删除底层存储（云盘等可自动删）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Recycle（已废弃）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清理后复用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5204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352044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核心认知：访问模式是“底层存储能力”的约束——hostPath 只能 RWO；NFS 支持 RWX。应用声明 PVC 时选的模式必须 PV 支持。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3：静态绑定验证访问模式与容量匹配）</a:t>
            </a:r>
            <a:endParaRPr lang="en-US" sz="11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PVC：应用的存储请求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= 命名空间级请求：应用声明“需要多大、什么访问模式”——只写 PVC，不写底层细节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mysqldata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ReadWriteOnce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""   # 禁用动态供应（§10.4）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5Gi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6304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匹配规则（静态绑定）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≥ 请求 &amp;&amp; 访问模式匹配 &amp;&amp; storageClassName 匹配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一个 PV 绑定一个 PVC（一对一）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管理视角：PV = 我提供什么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应用视角：PVC = 我需要什么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实测易错点：有默认 StorageClass 时，PVC 不写 storageClassName 会走动态供应——静态绑定必须写 ""（实验 08 Lab 3）</a:t>
            </a:r>
            <a:endParaRPr lang="en-US" sz="12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 · 静态 vs 动态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9659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Provision 供应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管理员建 PV / 动态供应自动建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Bind 绑定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匹配 PV → 状态 Bound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96596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Use 使用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挂载 PVC 写数据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19659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Reclaim 回收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1508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删除 → 按回收策略处理 PV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PV：Available（待绑定）→ Bound（已绑定）→ Released（PVC 删了，Retain 后）→ Available / 删除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PVC：Pending（等待匹配）→ Bound（匹配成功）→ 删除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排障：PVC 一直 Pending → kubectl describe 看 Events——检查 PV 是否存在 / 容量 / 访问模式 / SC 是否一致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动态供应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谁建 PV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管理员手动建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StorageClass 自动建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存储资源固定 / 要精细控制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 PVC、云环境自动扩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PV 都要手工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声明即用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3 手动建 PV + PVC 静态绑定；Lab 4 动态供应——亲手对比两种方式）</a:t>
            </a:r>
            <a:endParaRPr lang="en-US" sz="11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StorageClass：动态供应（自动化）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为什么需要：静态绑定每个应用都要手动建 PV——忙不过来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provisioner 自动创建 PV 并绑定——声明即用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默认类：PVC 不写 storageClassName 时自动用它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绑定模式 WaitForFirstConsumer：节点本地存储的必需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在线扩容 + 快照：磁盘管理与数据保护手段</a:t>
            </a:r>
            <a:endParaRPr lang="en-US" sz="15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StorageClass：让“建 PV”自动化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241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静态绑定的问题：每个应用都要管理员先手动建好 PV——应用多了根本忙不过来；且 PV 容量是死的（应用要 8G 但只建了 5G 的 PV？）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023360" cy="1920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local-path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rancher.io/local-path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reclaimPolicy: Delete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机制：声明即用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PVC（storageClassName: local-path）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provisioner 收到请求 → 自动创建 PV（在节点本地目录建文件夹）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自动绑定 → PVC Bound → Pod 挂载使用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324612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StorageClass：storageclass.kubernetes.io/is-default-class: "true" 注解标记默认类——PVC 不写 storageClassName 时自动用它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6110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教学顺序（本课程设计）：StorageClass 讲完概念再安装——实验 08 Lab 4 才装 local-path；学完 10.3（静态）再学 10.4（动态），对比最清晰</a:t>
            </a:r>
            <a:endParaRPr lang="en-US" sz="11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绑定模式 · 回收策略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645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Immediate · 立即绑定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创建就绑定（PV 立即建好）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——可能建在与 Pod 无关的节点上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适合网络存储（NFS / 云盘）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645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WaitForFirstConsumer · 等消费再绑定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等第一个 Pod 调度后再绑定——PV 建在 Pod 所在节点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这类“节点本地存储”必须用这个：提前绑定可能建在别的节点，Pod 调度过来时数据在别处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960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回收策略：动态供应的 PV 跟随 StorageClass（reclaimPolicy: Delete 常见）——PVC 删除 = 数据删除（local-path 会删掉本地目录）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要保留数据：临时改 PV 的回收策略为 Retain，或用备份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PVC 删除 = 数据删除：Delete 策略下 local-path 会删掉本地目录——删 PVC 前确认数据已备份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08 Lab 4：安装 local-path 后观察“PV 自动生成、目录自动创建”）</a:t>
            </a:r>
            <a:endParaRPr lang="en-US" sz="11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在线扩容 · Volume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971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在线扩容（不重建 Pod）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问题：磁盘满了怎么办？生产刚需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前提：StorageClass 的 allowVolumeExpansion: true（未开启则 PVC 的 storage 不可改）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生效：底层存储支持时应用无感（local-path 支持）；部分存储需 Pod 重启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只能扩不能缩——缩减有数据风险，K8s 不支持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3566160" cy="548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pvc mysqldata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'{"spec":{"resources":{"requests":{"storage":"10Gi"}}}}'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2971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VolumeSnapshot · 存储快照（数据保护）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CSI 快照：给 PVC 打“时间点快照”——比拷贝文件更一致、更快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用途：备份前的快速一致快照 / 数据库迁移 / 测试环境克隆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恢复：从快照创建新 PVC（VolumeSnapshotContent）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前提：底层 CSI 驱动支持快照——local-path 不支持；云盘/NFS 类支持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示例：source.persistentVolumeClaimName: mysqldata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与第 14 章 etcd 快照的区别：etcd 快照保“集群状态”、VolumeSnapshot 保“应用数据”——两者互补（Velero 灾备就是组合使用）</a:t>
            </a:r>
            <a:endParaRPr lang="en-US" sz="115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存储方案选型：本地 vs 共享 vs 云盘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local-path：节点本地目录——零成本，但单节点 / 不可共享 / 无冗余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NFS / 云盘：多节点可访问（RWX 共享）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CSI：Kubernetes 与存储厂商的标准接口（生产接入方式）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选型决策树：持久 → 共享 → 生产 → 核心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多副本共享的前提是存储可共享</a:t>
            </a:r>
            <a:endParaRPr lang="en-US" sz="15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的本质与局限 · 共享存储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776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108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local-path：PV = 节点上的一个本地目录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路径：/opt/local-path-provisioner/&lt;pvc名&gt;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优点：零成本、快（本地盘）、教学演示动态供应足够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局限（必须理解）：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单节点：Pod 漂移/扩容到其他节点 → 数据够不着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多副本挂同一 PVC（RWX）不支持——local-path 只能 RWO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节点故障 = 数据风险：本地盘没有冗余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11 WordPress 多副本共享 PVC 受限的根源）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3931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8803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 · 适用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网络文件系统：一台服务器导出目录，所有节点挂载（支持 RWX）——自建环境多副本共享存储，教学扩展首选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云盘 CSI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云盘挂到节点，一般 RWO；对象存储 OSS/S3 天然共享——云环境生产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分布式存储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Ceph / Longhorn：软件定义存储，强一致/多副本——大规模生产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水平扩展的前提是存储可共享——这也是 local-path 最本质的局限（实验 11 的教训）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选型要点：要共享 → 必须 RWX 方案（local-path 不行）；要生产 → 必须可托底的方案（云盘 / 分布式）</a:t>
            </a:r>
            <a:endParaRPr lang="en-US" sz="11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选型决策树 · CSI 标准接口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应用需要持久存储？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051560"/>
            <a:ext cx="21945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emptyDir / 不挂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多副本要共享？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2194560" cy="4572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NFS / 对象存储（RWX）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6916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331720"/>
            <a:ext cx="21945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hostPath / local-path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33172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核心数据库？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2971800"/>
            <a:ext cx="219456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分布式存储 / 云盘 + 备份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2971800"/>
            <a:ext cx="17373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云盘 CSI（RWO）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611880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读图要点：判断顺序——持久与否 → 是否共享 → 是否生产 → 是否核心；“共享”与“生产”是两条最关键的岔路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CSI（Container Storage Interface）：K8s 与存储厂商的标准接口（类似第 3 章 CRI）——任何存储实现 CSI 就能被 K8s 动态供应，“装一个 CSI 驱动”就是接入某类存储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4663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实例：Rook-Ceph——Ceph（分布式存储，多副本/自愈）经 Rook（Operator）部署进集群，以 CSI 驱动提供动态供应（StorageClass）</a:t>
            </a:r>
            <a:endParaRPr lang="en-US" sz="10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卷（Pod 级）：emptyDir 临时共享 / hostPath 宿主机目录（绑节点）/ 配置卷（CM·Secret）——单机思维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PV/PVC（集群级）：PV=管理员提供的存储资源，PVC=应用的存储请求，绑定一对一——解耦“提供”与“使用”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生命周期：Provision → Bind → Use → Reclaim；访问模式是底层能力约束；回收策略 Retain 保数据 / Delete 自动删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StorageClass（自动化）：provisioner 自动建 PV——声明即用；默认类；WaitForFirstConsumer 是节点本地存储的必需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选型：local-path 单节点 → NFS/云盘（共享）→ CSI 生态（生产标准）——多副本共享的前提是存储可共享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教学顺序：StorageClass 在实验 08 Lab 4 才安装（讲概念再动手）；实验 08 四个 Lab 顺序与本章一致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11 章安全（认证/授权）——存储的权限控制（谁能用哪个 PVC/Secret）也是安全的一部分；第 18 章 WordPress 持久化（PVC + local-path）落地本章知识</a:t>
            </a:r>
            <a:endParaRPr lang="en-US" sz="11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78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容器内写的文件，Pod 删除后还在吗？emptyDir 和 hostPath 的数据分别在什么情况下会丢？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93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819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与 PVC 各自是谁创建的？为什么应用只写 PVC 不写 PV？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122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一直 Pending，可能的原因有哪些（至少三个）？怎么排查（describe 看 Events）？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的 PV 为什么必须是 WaitForFirstConsumer 绑定？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72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3 副本应用要共享同一个 PVC，local-path 行吗？应该用什么方案？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为什么说“水平扩展的前提是存储可共享”？（结合第 5 章 StatefulSet 与本章 local-path）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343400"/>
            <a:ext cx="45720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708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4 存储 10%）：PV/PVC 绑定与生命周期、访问模式、回收策略、StorageClass（provisioner/默认类/绑定模式）；高频场景题：静态 vs 动态、PVC 排障（Pending → 匹配条件）、多副本共享选型。</a:t>
            </a:r>
            <a:endParaRPr lang="en-US" sz="11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 认证与授权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安全模型三道门 · 认证（你是谁）· 授权（你能干什么）· RBAC 与最小权限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09：认证与授权）</a:t>
            </a:r>
            <a:endParaRPr lang="en-US" sz="12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Kubernetes 安全模型的三道门（认证/授权/准入）与各自回答的问题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区分两种身份（User 给人、ServiceAccount 给程序）与两种认证凭据（证书/Token）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X.509 证书认证的机制（CA 签发、CN 即用户名、kubeconfig 携带）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v1.24+ 的 SA Token 机制（动态签发，无长期 token）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完整解释 RBAC 三要素（Subject/Role/ClusterRole/Binding）与两种范围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写出自定义 Role 的 rules（apiGroups / resources / verbs）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解释“认证 ≠ 授权”（能登录但 Forbidden）并用实例说明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应用最小权限原则设计授权方案（含 kubectl auth can-i 验证）</a:t>
            </a:r>
            <a:endParaRPr lang="en-US" sz="125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安全模型总览：三道门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apiserver 安全部分展开为三道门：认证 → 授权 → 准入控制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每道门各有独立拒绝出口：401 Unauthorized / 403 Forbidden / 拒绝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“能登录但不让操作”= 第一道门过了、第二道门没过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本章讲前两道门；第 12 章讲第三道门（准入控制）</a:t>
            </a:r>
            <a:endParaRPr lang="en-US" sz="15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安全模型总览：三道门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Authentication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（你是谁？）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授权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（你能干什么？）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准入控制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Admission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（请求合法吗？）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1143000"/>
            <a:ext cx="1828800" cy="10515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etcd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0487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0255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（策略不符）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读图要点：三道门依次通过、各自有独立的拒绝出口——认证失败 401、授权失败 403、准入失败策略不符；“能登录但不让操作”就是第一道门过了、第二道门没过。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27248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回答的问题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你是谁？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401 Unauthorized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Lab 1/2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你能干什么？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403 Forbidden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Lab 3/4/5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请求本身合法吗？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拒绝（策略不符）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 09 Lab 7/8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核心认知：三道门依次通过——认证通过但授权不足 → Forbidden（“能登录但不让操作”）；授权通过但准入拦截 → 也拒绝（第 12 章）。</a:t>
            </a:r>
            <a:endParaRPr lang="en-US" sz="12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认证：你是谁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两种身份：User（人）与 ServiceAccount（程序）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认证方式：X.509 客户端证书 / Bearer Token / 基础认证 / OIDC 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X.509 机制：CA 签发、CN 即用户名——“签发证书 = 创建用户”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v1.24+：SA Token 动态签发，不再自动创建长期 token</a:t>
            </a:r>
            <a:endParaRPr lang="en-US" sz="15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两种身份 与 11.2.2 认证方式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373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给谁用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用户名格式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人（管理员/开发）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客户端证书 /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等（自定）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程序（Pod 内应用）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Token（Bearer）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system:serviceaccount:&lt;ns&gt;:&lt;名字&gt;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06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注意：Kubernetes 没有 User 对象（User 是“外部概念”，通过证书 CN 识别）；SA 是真实对象（存在集群里）。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认证方式（apiserver 支持的）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" y="3328416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" y="33101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【X.509 客户端证书】最常用——kubeconfig 里带证书，apiserver 用 CA 校验签名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3675888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" y="3657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【Bearer Token】SA 的 token（HTTP 头 Authorization: Bearer &lt;token&gt;）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" y="4023360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40050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【基础认证】用户名/密码，一般不启用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" y="4370832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4128" y="43525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【OIDC】企业单点登录（Keycloak/Dex/企业 SSO）——生产人员认证事实标准，见下页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" y="4718304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4128" y="47000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【其他】Webhook 认证等</a:t>
            </a:r>
            <a:endParaRPr lang="en-US" sz="11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OIDC：企业人员认证的事实标准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用户登录企业 SSO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（Keycloak/AD/Okta）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 ID Token（JWT）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用 token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apiserver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OIDC 认证器验证签名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username / groups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（来自 token 声明）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097280"/>
            <a:ext cx="1828800" cy="13716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48856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之后的 RBAC 照常工作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（username/groups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参与授权）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04872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697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配置（kubeadm 环境改 manifest）：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--oidc-issuer-url / --oidc-client-id / --oidc-username-claim / --oidc-groups-claim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1188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好处：统一账号体系（员工离职一个按钮禁用）· 支持 MFA · 组（groups）随 SSO 自动映射到 RBAC；实操：kubectl oidc-login 插件完成登录换 token 流程（进阶）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核心认知：证书认证适合“少量管理员”，OIDC 适合“大量企业用户”——考试不考 OIDC 配置，但真实企业环境绕不开。</a:t>
            </a:r>
            <a:endParaRPr lang="en-US" sz="12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X.509 证书认证的机制（实验 09 Lab 1）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管理员用 CA 签发用户证书：openssl 生成密钥 → 用 ca.key 签发；证书 CN = 用户名（CN=train → 用户 train），O = 用户组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里配置三段：cluster（apiserver 地址 + CA）+ user（客户端证书）+ context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请求时：kubectl 出示客户端证书 → apiserver 用 CA 校验签名 → 通过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认证结果：用户名 = 证书 CN（如 train），进入授权环节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多身份：一个 kubeconfig 可装多个 cluster/user/context，用 context 切换身份——“同一台机器上管理员与普通用户身份并存”（实验 09 Lab 1/2 亲手建了多个 context）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                       # 列出（* 当前）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train@kubernetes       # 切到 train 身份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核心认知：“签发证书”就是“创建用户”——集群没有用户注册表，信任链就是 CA 签名；证书泄露 = 身份泄露（私钥要保管好）。</a:t>
            </a:r>
            <a:endParaRPr lang="en-US" sz="12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ServiceAccount 与 Token（v1.24+ 的重要变化）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685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15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 是给 Pod/程序用的身份：Pod 指定 serviceAccountName，容器内自动挂载 SA 的 token 文件——应用用它调 apiserver（实验 09 Lab 2 实测）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46120"/>
                <a:gridCol w="3246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旧机制（v1.24 之前）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新机制（v1.24+）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怎么来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 创建时自动生成一个长期 token secret（永不过期）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不再自动创建 token secret；用 kubectl create token &lt;sa&gt; 动态签发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长期有效——泄露就永远有效（安全风险）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短期 token（默认 1 小时），过期重新签发——安全得多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520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token chengzh          # 动态签发（1 小时有效）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eyJhbGciOiJSUzI1NiIsImtpZCI6...      # JWT 格式（第 3 章见过）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考试/实操注意：用 kubectl describe secret 翻 token 是旧版做法；v1.24+ 已不再自动创建长期 token secret——考试按新机制作答。</a:t>
            </a:r>
            <a:endParaRPr lang="en-US" sz="12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授权：你能干什么（RBAC）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RBAC 三要素：Subject（谁）＋ Role/ClusterRole（权限）＋ Binding（关联）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两种范围：Role（命名空间）vs ClusterRole（集群）——范围由绑定方式决定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rules 三要素：apiGroups / resources / verbs（CKA 必考）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 ≠ 授权：证书有效但 Forbidden——“能登录”和“能操作”是两回事</a:t>
            </a:r>
            <a:endParaRPr lang="en-US" sz="15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三要素（CKA 必考）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Subject（谁）＋ Role / ClusterRole（权限）＋ Binding（关联）＝ 授权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Subject（谁）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SA / Group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——授权对象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373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Role / ClusterRole（权限）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列表：能对哪些资源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做什么操作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737360"/>
            <a:ext cx="54864" cy="1051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Binding（关联）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把谁和什么权限绑一起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生效范围由绑定方式决定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Group（组）绑定机制：Subject 不只是单个 User/SA——组可以整体授权，管理成本大幅下降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2918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来源：证书 O（Organization）字段 = 组名（CN=train, O=devs → train 属于 devs 组）；OIDC 的 groups claim = 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绑定：kubectl create clusterrolebinding devs-readonly --clusterrole=view --group=devs（组内所有用户生效）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内置特殊组：system:masters（超级管理员）· system:serviceaccounts:&lt;ns&gt;（该 ns 全部 SA）· system:authenticated（所有已认证用户）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认知：给“组”授权是生产惯例（人进人出只改 SSO 组成员，不改 K8s 绑定）；system:masters 是最高权限组（第 3 章 super-admin.conf 的 O 字段就是它）。</a:t>
            </a:r>
            <a:endParaRPr lang="en-US" sz="11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vs ClusterRole（权限的范围）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ClusterRole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命名空间内（如 default 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全集群（所有命名空间 + 集群级资源）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该命名空间的 Pod/Svc 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全部命名空间 + Node/PV/Namespace 等集群资源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必须指定命名空间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9184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4015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易混点：Role 是“权限集合”，范围由绑定方式决定——ClusterRole 被 RoleBinding 绑定时，只在那个命名空间生效（实验 09 Lab 4 实测：权限范围被限制在绑定命名空间）。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记忆：Role 管“一个命名空间的家务”，ClusterRole 管“整个集群的事”</a:t>
            </a:r>
            <a:endParaRPr lang="en-US" sz="12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RoleBinding vs ClusterRoleBinding（生效范围）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RoleBinding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ClusterRoleBinding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生效范围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授权对象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该命名空间内的资源权限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所有命名空间 + 集群级资源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可绑定的角色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 或 ClusterRole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只能绑 ClusterRole（绑 Role 会报错）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337560"/>
            <a:ext cx="64008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337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准确规则：RoleBinding 可以绑 Role 或 ClusterRole（绑 ClusterRole 时限制在命名空间内）；ClusterRoleBinding 只能绑 ClusterRole（全集群生效）。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实战：实验 09 Lab 4 用 RoleBinding 给 SA 授权——跨命名空间访问即失败，正是“绑定方式决定范围”的直接验证。</a:t>
            </a:r>
            <a:endParaRPr lang="en-US" sz="11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写法（自定义权限）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120640" cy="3108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rbac.authorization.k8s.io/v1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Role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dev-role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[""]                 # 核心组（Pod/Svc/ConfigMap）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["pods", "pods/log"] # pods/log 是子资源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 "list", "watch"]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["apps"]             # apps 组（Deployment 等）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["deployments"]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["get","list","watch","create","update","patch","delete"]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["batch"]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["jobs"]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 "list", "watch", "create"]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06440" y="109728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161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apiGroups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14356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组：核心组用 ""（空字符串）；查法：kubectl api-resources 看 APIGROUP 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06440" y="2121408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2121408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185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245973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资源名（复数）：pods / services / deployments / nodes…；子资源如 pods/log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06440" y="3145536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3145536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209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4838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 list / watch / create / update / patch / delete；* 表示全部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常见错误：apiGroups 写错（核心组写成 core/v1）→ 权限不生效（返回 Forbidden）——先 kubectl api-resources 确认 APIGROUP（CKA 高频考点）。</a:t>
            </a:r>
            <a:endParaRPr lang="en-US" sz="12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内置角色（现成的权限模板）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cluster-admin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超级管理员（绑给 admin.conf）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命名空间内全权（含 RBAC 管理）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读写（不含 RBAC）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5204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118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常用组合：普通开发 → view / edit；项目负责人 → admin；运维/管理员 → cluster-admin。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原则：优先用内置角色，不够再自定义——内置角色是社区打磨过的权限模板。</a:t>
            </a:r>
            <a:endParaRPr lang="en-US" sz="13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vs 授权（核心辨析）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证书有效（认证通过）≠ 有权限（授权通过）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实例（实验 09 Lab 1/3）：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54864" cy="74980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1226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签发用户证书 train → kubectl 能连上 apiserver（认证通过）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54864" cy="74980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8094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但 get pods → Forbidden：pods is forbidden: User "train" cannot list resource "pods"（授权未配置——train 没有任何 Role/Binding）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74980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962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创建 ClusterRoleBinding（cluster-admin → train）→ 立刻能操作（授权即时生效，不需要重启任何组件）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一句话：认证回答“你是谁”，授权回答“你能干啥”——“能登录”和“能操作”是两件独立的事，这是本章最重要的认知。</a:t>
            </a:r>
            <a:endParaRPr lang="en-US" sz="12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最小权限设计（Least Privilege）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原则：只给完成工作所需的最小权限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【够用就好】开发只读 → view；要改配置 → edit；不要给所有人 cluster-admin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904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【按团队隔离】按团队/项目拆分命名空间 + RoleBinding（隔离授权范围）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591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【SA 最小化】SA 只挂自己需要的权限（Pod 不该有集群管理权限）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28600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28600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591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【定期审计】谁的权限过期了、谁还挂着 cluster-admin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验证工具：kubectl auth can-i —— 不用真试就能检查“某个身份能不能做某个操作”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8046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844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get pods                         # 当前身份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create deployments --as=dev-user  # 模拟 dev-user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list secrets --as=system:serviceaccount:default:my-sa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实战价值：给权限之前先验证、给完再验证一次；排障“为什么 Forbidden”时用它确认是授权没配还是规则写错（CKA 排障必用）。</a:t>
            </a:r>
            <a:endParaRPr lang="en-US" sz="115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实验演练指引（实验 09“认证与授权”Lab 1-6）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生成用户证书：openssl 用 CA 签发 train 证书 + kubeconfig 三段式——认证≠授权的 Forbidden 实例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§11.2.3 / 11.3.6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 SA：kubectl create token 动态签发——v1.24+ 新机制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给用户授权：ClusterRoleBinding + 自定义 Role rules——三要素写法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§11.3.4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 SA 授权：RoleBinding 命名空间级 + 跨命名空间失败——两种 Binding 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§11.3.3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用户证书 API 方式（补充）：CSR API 签发证书（进阶）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§11.2.3 补充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dashboard 综合演练：SA + RBAC + Token 完整链路（浏览器输 Token 登录）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§11.2-11.4 总装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 重点体验“认证通过但 Forbidden”；Lab 3/4 对比两种 Binding 的生效范围；Lab 6 把全章机制串起来——浏览器输 Token 登录的背后就是本章全部机制。</a:t>
            </a:r>
            <a:endParaRPr lang="en-US" sz="115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三道门：认证（你是谁）→ 授权（你能干啥）→ 准入（请求合法吗）——依次通过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45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认证：User（人，证书 CN 即用户名）/ SA（程序，动态 token）；签发证书 = 创建用户；v1.24+ 用 kubectl create token 动态签发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20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933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三要素：Subject + Role/ClusterRole + Binding——Role 定权限内容、Binding 定生效范围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414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两种范围：Role（命名空间）/ClusterRole（集群）；RoleBinding（命名空间）/ClusterRoleBinding（全集群）；RoleBinding 绑 ClusterRole 时限制在命名空间内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895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三要素：apiGroups（核心组 ""）/ resources（复数）/ verbs——写错 apiGroups 是最常见错误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3375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内置角色：cluster-admin / admin / edit / view——优先内置，不够自定义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13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8561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≠ 授权：Forbidden 实例（能登录但不让操作）；授权即时生效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261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2336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最小权限：够用就行 + kubectl auth can-i 验证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12 章讲第三道门（准入控制与容器安全）——PSA 强制安全标准、SecurityContext 容器加固；第 13 章讲集群级安全（证书续期 / etcd 加密）。</a:t>
            </a:r>
            <a:endParaRPr lang="en-US" sz="11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“签发一张用户证书”在 Kubernetes 里相当于“创建一个用户”——为什么？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007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733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v1.24 之前 SA 自动创建长期 token，为什么被改掉？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3113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037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与 ClusterRole、RoleBinding 与 ClusterRoleBinding 的交叉组合，生效范围分别是什么？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340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Role 里 apiGroups: [""] 是什么意思？写成 core/v1 会怎样？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train 证书有效但 get pods 报 Forbidden——问题出在哪道门？怎么修？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221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794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给一个“只能看 default 命名空间 Pod 和日志”的账号，写出完整的 RBAC 方案（Role + Binding + 验证命令）。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1/2/3，考试高频）：必考 kubectl create role/clusterrole/rolebinding/clusterrolebinding；机制考 RBAC 三要素与范围、rules 三要素、认证 vs 授权；高频场景题：给用户/SA 配权限、跨命名空间失败排查；排障用 kubectl auth can-i（域 5）。</a:t>
            </a:r>
            <a:endParaRPr lang="en-US" sz="12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 准入与容器安全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第三道门 · Pod 安全标准 · 容器加固 · 镜像安全 · 策略即代码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 Lab 7/8）</a:t>
            </a:r>
            <a:endParaRPr lang="en-US" sz="12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解释准入控制（Admission）的时机与角色，区分 Mutating 与 Validating 两类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列举常见准入控制器（LimitRange / ResourceQuota / PSA）并说出它们各自拦什么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Pod Security Admission 的三个级别（privileged / baseline / restricted）与命名空间标签实施方式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SecurityContext 的关键字段（runAsNonRoot / readOnlyRootFilesystem / capabilities）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Pod 级与容器级 securityContext 的生效范围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解释“SecurityContext 是自觉、PSA 是强制”的配合关系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imagePullSecrets 的机制（私有仓库凭据怎么注入）</a:t>
            </a:r>
            <a:endParaRPr lang="en-US" sz="125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准入控制：第三道门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认证、授权之后、写入 etcd 之前——资源落地前的最后一道闸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Mutating 补默认值 · Validating 拒绝请求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LimitRange / ResourceQuota / PSA 都靠这一关执行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7 章“自动填 requests”“Forbidden 拒绝”都来自这里</a:t>
            </a:r>
            <a:endParaRPr lang="en-US" sz="15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时机与角色：第三道门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73736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（你是谁）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173736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（你能干啥）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1920240" cy="10515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（请求合法吗？）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1417320" cy="10515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371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etcd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写入 etcd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 / 修改 → Forbidden / 补默认值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375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角色：对象创建 / 更新 / 删除时，一组准入控制器按顺序检查（和修改）请求——这是“规则能拦在资源落地之前”的机制：LimitRange / ResourceQuota / PSA 都靠它，第 7 章的两层防线在这里执行。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准入是“资源落地前的最后一道闸”——认证授权决定“能不能来”，准入决定“来的是不是合格”；既能拒绝（Validating）也能修改（Mutating）。</a:t>
            </a:r>
            <a:endParaRPr lang="en-US" sz="12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两类控制器：Mutating 与 Validating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Mutating（修改型）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修改请求内容（如自动填默认值）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 给没写 requests 的 Pod 补默认值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Validating（校验型）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校验请求，不合法拒绝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 超限拒绝、PSA 违规拒绝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流程顺序：先 Mutating（补默认）→ 再 Validating（按补完的值校验）——LimitRange“先填默认值、再校验是否超限”是同一步里的两个阶段。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认知：第 7 章看到的“自动填 requests”和“Forbidden 拒绝”都是准入控制器的功劳——资源被拒绝时的报错（Forbidden / exceeded quota / violates PodSecurity）都来自这一关。</a:t>
            </a:r>
            <a:endParaRPr lang="en-US" sz="125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常见准入控制器：本章知识点的汇聚点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拦截 / 修改什么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Pod 资源上下限（填默认 + 校验）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ResourceQuota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命名空间总量配额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PodSecurity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安全标准（§12.2）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自动挂 SA token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11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NamespaceLifecycle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阻止在删除中的命名空间建资源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本章的“汇聚点”：PSA（§12.2）将在此执行 Pod 安全标准；LimitRange / ResourceQuota 的“拒绝”效果已在第 7 章亲手验证。</a:t>
            </a:r>
            <a:endParaRPr lang="en-US" sz="12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PSA：Pod 安全标准的强制执行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PSP 已废弃（v1.21 弃用、v1.25 移除）——一律使用 PSA 命名空间标签方式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三个安全级别：privileged（无限制）/ baseline（最小限制）/ restricted（最严格）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三个动作：enforce 强制 · audit 审计 · warn 警告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违规 Pod 创建即被拒绝——安全标准变成命名空间级强制规则</a:t>
            </a:r>
            <a:endParaRPr lang="en-US" sz="15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PSA · 三个安全级别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 靠 Pod“自觉”——谁能保证每个 Pod 都写了非 root？PSA 把安全标准变成“命名空间级的强制规则”：违规的 Pod 创建即被拒绝（准入校验）。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privileged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无限制（默认，相当于没有 PSA）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最小限制（默认建议）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 privileged、hostPath、hostNetwork / hostPID / hostIPC、特权端口等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restricted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最严格（生产核心）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全部 + 非 root（runAsNonRoot）、只读根文件系统、drop ALL、seccompProfile: RuntimeDefault 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级别选择：baseline 是生产默认（挡住最常见的高危配置）；restricted 给核心 / 多租户场景（要求苛刻，可能影响正常应用——需要应用配合加固）。</a:t>
            </a:r>
            <a:endParaRPr lang="en-US" sz="12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Seccomp Profile：restricted 的强制项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seccomp 限制容器能发起的系统调用——攻击面收敛：即使容器被攻破，危险 syscall 也被拦。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seccompProfile: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RuntimeDefault    # 使用运行时的默认 seccomp 配置（containerd 内置）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type: Localhost + localhostProfile: 自定义 profile（进阶）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06324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RuntimeDefault：containerd 内置的默认策略（阻断 mount / 未授权 ptrace 等危险调用）——restricted 级别要求它。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931920"/>
            <a:ext cx="54864" cy="7315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不配置 = Unconfined（无限制）——v1.27+ 的新 Pod 默认带 RuntimeDefault 注释（行为向安全靠拢）。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8：seccomp 是 restricted 的强制项）</a:t>
            </a:r>
            <a:endParaRPr lang="en-US" sz="11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实施方式：命名空间标签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 通过在命名空间上打标签实施（不是 Pod 上）——按命名空间定标准。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731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label ns psa-demo pod-security.kubernetes.io/enforce=baseline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92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enforce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强制：违规 Pod 创建被拒（最常用）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允许创建，但记录审计日志（先观察再强制）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允许创建，但给用户警告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343400"/>
            <a:ext cx="54864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渐进式落地建议：先 warn / audit 观察哪些应用会违规 → 修好后再切 enforce——避免一上来强制把现有应用全拒了。</a:t>
            </a:r>
            <a:endParaRPr lang="en-US" sz="115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违规的后果：读懂 Forbidden 报错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psa-demo run bad --image=busybox --privileged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 pods "bad" is forbidden: violates PodSecurity "baseline:latest":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privileged (container "bad" must not set securityContext.privileged=true)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报错三要素：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108960"/>
            <a:ext cx="54864" cy="411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违反了哪个级别 → baseline（命名空间 enforce 标签定的标准）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611880"/>
            <a:ext cx="54864" cy="411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违反哪条规则 → privileged（禁止设置 securityContext.privileged=true）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14800"/>
            <a:ext cx="54864" cy="411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怎么修 → must not set…：去掉违规字段，或换合规配置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排障（域 5）：报错 violates PodSecurity = PSA 拦截——核对命名空间标签与 Pod 配置；实验 09 Lab 8 亲手验证。</a:t>
            </a:r>
            <a:endParaRPr lang="en-US" sz="12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SecurityContext：容器加固（12.3.1 / 12.3.2）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默认风险：容器内 whoami 是 root（实验 09 Lab 7 实测）——容器内 root 与宿主机共享内核权限，容器被攻破 = 拿到宿主机 root 级别能力（有逃逸风险）。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securityContext:                      # Pod 级：对 Pod 内所有容器生效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runAsNonRoot: true                  # 禁止以 root（UID 0）运行，否则拒绝启动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runAsUser: 1000                     # 指定运行用户（UID）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fsGroup: 1000                       # 卷文件的属组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securityContext:                    # 容器级：只对本容器生效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readOnlyRootFilesystem: true      # 根文件系统只读（防写入恶意文件）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capabilities: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drop: ["ALL"]                   # 丢弃全部 Linux 能力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add: ["NET_BIND_SERVICE"]       # 按需加回（绑定低端口）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allowPrivilegeEscalation: false   # 禁止提权（setuid 等）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7：非 root 运行 + 只读根文件系统 + drop 能力的实测对比；关键字段逐一说明见下页）</a:t>
            </a:r>
            <a:endParaRPr lang="en-US" sz="11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四个关键字段：作用与防什么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runAsNonRoot + runAsUser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root 运行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容器逃逸、root 权限滥用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readOnlyRootFilesystem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根文件系统只读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恶意文件写入（挂载卷仍可写）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capabilities.drop: ["ALL"]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丢弃能力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危险内核能力（SYS_ADMIN 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allowPrivilegeEscalation: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禁止提权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子进程提权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生产常用组合：drop: ["ALL"] + add: ["NET_BIND_SERVICE"]（只留绑低端口的能力）——最小能力原则。</a:t>
            </a:r>
            <a:endParaRPr lang="en-US" sz="125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生效范围 · 自觉 vs 强制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级（spec.securityContext）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容器级（containers[].securityContext）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生效范围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内所有容器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本容器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典型字段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runAsUser / runAsNonRoot / fsGroup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readOnlyRootFilesystem / capabilities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覆盖关系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容器级可以覆盖 Pod 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SecurityContext：Pod 自己声明安全要求（“我自觉”）——不写就没人管。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32004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32004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PSA：命名空间强制标准（“你必须安全”）——不达标创建即拒。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生产配合：PSA 定红线（baseline / restricted 标签）+ SecurityContext 落实细节（非 root / 只读 / 丢能力）——restricted 要求的正是 SecurityContext 那套字段（循环关系：先学 SC 才知道 restricted 要求什么）。</a:t>
            </a:r>
            <a:endParaRPr lang="en-US" sz="12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镜像安全：凭据 · 最小镜像 · 签名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创建凭据 Secret（存 .dockerconfigjson）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kubectl create secret docker-registry regcred \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--docker-server=&lt;仓库&gt; --docker-username=&lt;用户&gt; --docker-password=&lt;密码&gt;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Pod 声明使用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imagePullSecrets: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name: regcred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kubelet 拉取时用该凭据认证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29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imagePullSecrets 按命名空间生效——每个命名空间都要创建自己的凭据；Pod 必须显式引用（不会自动用）。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0233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最小镜像：distroless / alpine 精简基础镜像——攻击面小、体积小（第 3 章感受过镜像体积影响）。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镜像签名（cosign 等）：发布时签名、部署时校验——防供应链攻击（进阶概念，知道存在即可）。</a:t>
            </a:r>
            <a:endParaRPr lang="en-US" sz="115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策略即代码：OPA Gatekeeper / Kyverno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 只覆盖“Pod 安全”这一维度——生产还要约束“镜像来自可信仓库”“必须带资源限制”“禁止特定标签”等自定义策略。PSA 做不了，交给策略引擎：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3258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Kyverno 策略示例（概念）：要求所有 Pod 必须带资源限制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kyverno.io/v1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ClusterPolicy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{ name: require-resources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require-limits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match: { any: [{ resources: { kinds: ["Pod"] } }]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validate: { message: "Pod 必须声明 resources", pattern: { spec: { containers: [{ resources: { limits: {} } }] } } }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策略写法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OPA Gatekeeper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通用策略引擎（OPA / Rego）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Rego 语言 + ConstraintTemplate（学习曲线陡）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Kyverno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专为 K8s 设计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YAML 声明式（match + validate），上手快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PSA 的关系：PSA 是内置的“Pod 安全标准”（三级别）；Gatekeeper / Kyverno 是可编程的任意准入规则（超越 Pod 安全，管所有资源）。决策逻辑：只需要 Pod 安全标准 → PSA 够用；需要自定义 / 组织级策略 → 引入 Kyverno（YAML 友好）或 OPA Gatekeeper（表达力最强）。生产组合：PSA 定基线 + Kyverno / Gatekeeper 定组织级策略（镜像仓库白名单、必带标签、资源要求）。</a:t>
            </a:r>
            <a:endParaRPr lang="en-US" sz="11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准入控制（第三道门）：认证授权之后、写入 etcd 之前——Mutating 改请求（补默认值）、Validating 拒请求；LimitRange / ResourceQuota / PSA 都靠它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PSA：三个级别（privileged / baseline / restricted）+ 三个动作（enforce / audit / warn）+ 命名空间标签实施——baseline 是生产默认，渐进式落地（warn → enforce）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SecurityContext：runAsNonRoot / runAsUser（非 root）、readOnlyRootFilesystem（只读根）、capabilities drop / add（最小能力）、Pod 级 vs 容器级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自觉 vs 强制：SecurityContext 是声明、PSA 是执行——PSA 定红线、SC 落实细节；restricted 要求的正是 SC 那套字段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镜像安全：imagePullSecrets（私有仓库凭据，命名空间级）、最小镜像、签名（概念）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衔接第 13 章：集群级安全（证书体系 / etcd 加密 / kubelet 安全）——从“Pod 安不安全”上升到“集群信任链安不安全”</a:t>
            </a:r>
            <a:endParaRPr lang="en-US" sz="115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准入控制在请求处理流程的哪个位置？“补默认值”和“拒绝请求”分别是哪类控制器？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章的“exceeded quota”报错，是哪道门拦下的？（提示：不是认证也不是授权）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和 restricted 的核心区别是什么？生产默认推荐哪个？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一个应用必须以 root 跑（老镜像改不了），PSA enforce=restricted 会发生什么？怎么处理（提示：audit / warn 或专门命名空间）？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 的 runAsNonRoot: true 与 runAsUser: 1000 各自防什么？只写其中一个够吗？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私有仓库的 Pod 拉镜像报 ImagePullBackOff（ErrImagePull），可能是什么原因？（提示：imagePullSecrets）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1/2/3）：kubectl label ns xxx pod-security.kubernetes.io/enforce=baseline、PSA 三级别三动作、SecurityContext 关键字段、imagePullSecrets；排障（域 5）：violates PodSecurity / ImagePullBackOff。</a:t>
            </a:r>
            <a:endParaRPr lang="en-US" sz="12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集群安全加固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信任链三线 · 证书体系与续期 · etcd 静态加密 · kubelet 安全 · 审计日志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09）</a:t>
            </a:r>
            <a:endParaRPr lang="en-US" sz="12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画出集群信任链：CA → 各组件证书 → 双向 TLS，说清“证书过期 = 集群瘫痪”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执行证书检查与续期（kubeadm certs check-expiration / renew）并知道续期后注意事项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etcd 静态加密机制（EncryptionConfiguration、aescbc、identity 兜底）与验证方法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kubelet 的认证授权模式：anonymous 禁用 + Webhook 委托 apiserver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 Secret 的安全边界：RBAC + 加密存储 + 最小权限（纵深防御）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说出“数据安全”的两道防线（静态加密 + 网络隔离）及各防什么</a:t>
            </a:r>
            <a:endParaRPr lang="en-US" sz="13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集群信任链总览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信任根是 CA：签发全部组件证书（第 3 章生成）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三条安全线：证书线 / 数据线 / 节点线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一句话总览：证书保通信、加密保落盘、kubelet 保入口</a:t>
            </a:r>
            <a:endParaRPr lang="en-US" sz="15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集群信任链总览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143000"/>
            <a:ext cx="137160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16128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 信任根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3 章生成）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签发全部组件证书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54864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证书线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/ etcd / kubelet 组件证书——过期即瘫痪 → §13.2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240280"/>
            <a:ext cx="54864" cy="1554480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数据线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里的数据——Secret 默认明文 → §13.3 静态加密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40280"/>
            <a:ext cx="54864" cy="1554480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节点线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API 访问控制——入口不裸奔 → §13.4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一句话总览：证书保证“通信可信”，静态加密保证“落盘安全”，kubelet 安全保证“节点入口不裸奔”——三条线缺一不可。</a:t>
            </a:r>
            <a:endParaRPr lang="en-US" sz="12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组件证书全景（谁有证书）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kubeadm init 生成的 PKI 体系（/etc/kubernetes/pki/）：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ca.crt / ca.key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信任根：签发所有其他证书（最宝贵，必须保管好）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apiserver.crt / 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对外服务（kubectl/组件连它时验证）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apiserver-kubelet-client.crt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→ kubelet（§13.4 的客户端身份）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apiserver-etcd-client.crt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→ etcd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etcd/ca.crt + server/peer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集群内部与客户端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front-proxy-ca.crt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 API（扩展 apiserver）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sa.pub / sa.key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 token 签名（第 11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注意：ca.key 是签发一切的私钥——泄露 = 攻击者可伪造任何组件身份；备份但要加密保管。</a:t>
            </a:r>
            <a:endParaRPr lang="en-US" sz="12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证书过期 = 集群瘫痪（为什么）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46888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双向 TLS 通信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双方互验证书（§2.6.3）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证书默认 1 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0515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728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证书过期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对方校验失败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x509: certificate has expired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2468880" cy="105156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476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通信中断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证书过期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/ 组件全连不上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8046720" cy="1280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514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某组件证书过期 → 对方校验失败（x509: certificate has expired）→ 通信失败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apiserver 证书过期 → kubectl 连不上、所有组件连不上 → 集群“瘫痪”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kubelet 证书过期   → 节点与 apiserver 失联 → 节点 NotReady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结论：证书续期是集群的例行运维（不是可选项）——剩余 &lt;90 天就安排续期。</a:t>
            </a:r>
            <a:endParaRPr lang="en-US" sz="12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检查与续期（例行运维）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certs check-expiration    # 检查：每个证书的到期时间与剩余时间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certs renew all           # 续期全部（到期时间顺延 1 年）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                EXPIRES                  RESIDUAL TIME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admin.conf                 Aug 15, 2027 13:52 UTC   364d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                 Aug 15, 2027 13:52 UTC   364d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kubelet.conf               Aug 15, 2027 13:52 UTC   364d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续期后的注意事项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93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控制面静态 Pod 由 kubelet 自动重建（加载新证书）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8770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kubeconfig（admin.conf 等）不会自动更新 → kubeadm init phase kubeconfig admin 重新生成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续期后验证：kubectl get nodes 正常；kubelet 节点证书自动轮换（实验 09 Lab 9）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生产实践：证书续期纳入例行维护（配合实验 12 维护窗口）；剩余 &lt;90 天就安排续期。</a:t>
            </a:r>
            <a:endParaRPr lang="en-US" sz="11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证书即身份 + TLS 密码套件加固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880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与证书（回顾）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里的 client-certificate-data 就是用户身份证书（第 11 章 Lab 1 亲手签发过）——“身份”在 Kubernetes 里就是一张 CA 签发的证书，这条线从安装贯穿到用户管理。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3474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34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users[].user: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client-certificate-data: &lt;证书 base64&gt;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client-key-data: &lt;私钥 base64&gt;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28803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密码套件加固（安全敏感环境）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合规场景还要求限制 TLS 版本与密码套件（apiserver 启动参数，改 manifest）：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651760"/>
            <a:ext cx="3474720" cy="1234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2651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--tls-min-version=VersionTLS12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--tls-cipher-suites=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TLS_ECDHE_RSA_WITH_AES_128_GCM_SHA256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核心认知：默认配置“安全够用”（Go 默认已排除弱套件）；等保 / 金融合规要求显式声明时按上例配置——改 apiserver manifest，与 §13.5 审计日志同类操作。</a:t>
            </a:r>
            <a:endParaRPr lang="en-US" sz="11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安全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通信层面：全链路 TLS（2379 / 2380）——没有明文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落盘层面：静态加密（EncryptionConfiguration）——Secret 默认明文是问题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备份层面：快照含明文 Secret——当敏感数据对待</a:t>
            </a:r>
            <a:endParaRPr lang="en-US" sz="15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通信加密 + 13.3.3 备份安全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971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通信层面：全链路 TLS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apiserver 用 apiserver-etcd-client 证书连 etcd（2379）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etcd 节点间用 peer 证书（2380）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结论：通信层面没有明文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──(apiserver-etcd-client, 2379)──▶ etcd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 ──(peer 证书, 2380)──▶ etcd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9718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备份安全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14 章 / 实验 12 的 etcd 快照也含明文 Secret（未配静态加密时）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备份文件 = 敏感数据：加密存储 + 异地 + 访问控制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风险级别：备份泄露 ≈ 磁盘泄露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200400"/>
            <a:ext cx="34747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735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备份策略：加密存储 · 异地保存 · 访问控制——备份与磁盘同级别对待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能拿到 etcd 备份 / 数据文件的人 = 看到所有密码（未加密时）——这正是 §13.3.2 静态加密要解决的问题。</a:t>
            </a:r>
            <a:endParaRPr lang="en-US" sz="11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静态加密：机制与配置（数据线核心）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问题：etcd 里存的 Secret 默认是明文——base64 只是格式（第 8 章）！落盘即密文是目标：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apiserver.config.k8s.io/v1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EncryptionConfiguration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resources: ["secrets"]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aescbc: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key1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secret: &lt;32字节随机密钥&gt;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identity: {}   # 兜底：解密旧数据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54864" cy="3200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机制要点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8745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apiserver 写数据前加密、读数据时解密——落盘即密文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5328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启用：--encryption-provider-config 参数（改 manifest，静态 Pod 自动重启）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4920" y="31912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provider 顺序 = 加密优先级：aescbc 加密写入，identity 兜底解密存量明文（必须放最后）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4920" y="3849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只对新写入的数据加密；旧数据下次更新时加密（最终一致）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9）完整实操：enc.yaml → 改 apiserver manifest → 容器内 etcdctl 验证加密前缀。</a:t>
            </a:r>
            <a:endParaRPr lang="en-US" sz="11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静态加密：验证与密钥管理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验证思路：创建新 Secret 后，读 etcd 原始数据应看到 k8s:enc:aescbc:v1:key1: 前缀（密文）；而 kubectl get secret 仍正常返回明文——对应用透明。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1874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kube-system exec etcd-node1 -- etcdctl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--endpoints=https://127.0.0.1:2379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--cacert=/etc/kubernetes/pki/etcd/ca.crt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--cert=/etc/kubernetes/pki/etcd/server.crt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--key=/etc/kubernetes/pki/etcd/server.key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/registry/secrets/&lt;ns&gt;/&lt;name&gt;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输出以 k8s:enc:aescbc:v1:key1: 开头（密文）→ 加密生效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4904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etcdctl 要进容器执行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169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宿主机不带 etcdctl；etcd 静态 Pod 走 hostNetwork，容器内 127.0.0.1 即宿主 etcd（实验 09 Lab 9 实测修正）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749040"/>
            <a:ext cx="54864" cy="1143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密钥管理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4169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密钥泄露 = 数据可解——生产用 KMS（云厂商密钥服务）托管密钥，让加密密钥与密文分离存储、可轮换</a:t>
            </a:r>
            <a:endParaRPr lang="en-US" sz="105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kubelet 也有 API（10250）——入口必须认证授权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默认基线：anonymous 禁用 + 认证授权全 Webhook 委托 apiserver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生产红线：不要改成 anonymous 允许或 AlwaysAllow（等于节点裸奔）</a:t>
            </a:r>
            <a:endParaRPr lang="en-US" sz="150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安全：10250 入口与认证授权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/var/lib/kubelet/config.yaml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anonymous: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false   # 禁止匿名访问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webhook: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    # TokenReview 认证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mode: Webhook      # SubjectAccessReview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09728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207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机制解读：全部委托 apiserver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002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认证：请求者 token 交给 apiserver 的 TokenReview 验证——kubelet 自己不存用户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22037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授权：能否对 pod/xxx 做 exec 交给 SubjectAccessReview——与集群 RBAC 一套规则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807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谁连 10250：apiserver 取日志 / 执行命令 / metrics；匿名不禁 = 任何人都能操作节点容器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→ kubelet 使用 apiserver-kubelet-client 证书（§13.2.1）——节点侧同样验证对端身份。（实验 09 Lab 9 查看安全配置）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一句话：kubelet 的入口与 apiserver 共用同一套身份体系——生产不要改成 anonymous 允许或 AlwaysAllow，那等于节点裸奔。</a:t>
            </a:r>
            <a:endParaRPr lang="en-US" sz="12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Server 审计日志（集群的“天眼”）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事件（Events）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对象状态变化的流水账（第 15 章，1 小时 TTL）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审计（Audit）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所有访问 apiserver 的请求全记录——谁（用户/SA）、何时、做了什么、结果如何——安全审计 / 合规 / 入侵检测的“天眼”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87452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不记录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2103120"/>
            <a:ext cx="1874520" cy="64008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元数据（默认推荐）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18745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请求体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2103120"/>
            <a:ext cx="187452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响应体（最贵）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记录粒度 → 成本递增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402336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108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/etc/kubernetes/audit-policy.yaml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Metadata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["secrets"]   # 重点盯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RequestResponse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["pods"]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None               # 兜底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存储与用途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输出：文件 / webhook 后端（--audit-log-path）→ 集中采集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886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用途：谁删了 Secret（取证）→ 合规审查 → 入侵检测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251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默认不启用：需 policy 文件 + apiserver 参数（改 manifest 重启生效）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生产建议：Metadata 起步（够审计用），敏感资源（Secret/证书）单独加细；RequestResponse 极少用（控制面压力大）；审计是等保合规常见要求。</a:t>
            </a:r>
            <a:endParaRPr lang="en-US" sz="105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密钥与数据安全（汇总）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9319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2331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的三道保护（§8.3.5 深化）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RBAC：谁能读 Secret（第 11 章授权）——读 Secret = 拿到全部值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静态加密：etcd 落盘密文（§13.3.2）——防备份 / 磁盘泄露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最小权限：只创建 / 挂载需要的 Secret；定期轮换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3474720" cy="6858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三者缺一不可：只有 RBAC，备份泄露就全完；只有加密，授权失控也没用——纵深防御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39319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54864" cy="23317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网络隔离（第 9 章 NetworkPolicy 视角）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静态加密防“数据被读走”；网络隔离防“流量到不了数据”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数据库只允许业务 Pod 访问（podSelector 白名单）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攻击者即使进集群也够不着数据库——纵深防御第一道物理防线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154680"/>
            <a:ext cx="3474720" cy="25603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= 最后一道门：默认拒绝 + 白名单放行（§9.5）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纵深防御全景（第 9-13 章串起来）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网络隔离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流量到不了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权限拿不到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静态加密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读走解不开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审计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出事查得到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9572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740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08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信任链三线：证书（通信可信）/ 静态加密（落盘安全）/ kubelet 安全（节点入口）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824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550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证书体系：ca.key 最宝贵；过期 = 集群瘫痪；check-expiration / renew 例行化（kubeconfig 需手动重生成）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67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静态加密：aescbc 写 + identity 兜底读存量；验证看 k8s:enc:aescbc:v1:key1:；生产密钥用 KMS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79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安全：anonymous 禁用 + 认证授权全 Webhook 委托——与集群一套身份体系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91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三道保护：RBAC + 静态加密 + 最小权限——纵深防御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全景：网络隔离 → RBAC → 静态加密 → 审计（机制在本章，流程在第 14 章运维）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 Lab 9（本章核心实操）：kubeadm certs check-expiration / renew + etcd 静态加密完整实操（enc.yaml → manifest → etcdctl 验证）+ kubelet 安全配置查看。</a:t>
            </a:r>
            <a:endParaRPr lang="en-US" sz="110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252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为什么说“证书过期 = 集群瘫痪”？apiserver 与 kubelet 证书过期的影响面分别是什么？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静态加密只对新写入的数据生效，旧 Secret 怎么办？（提示：identity 兜底 + 更新时加密）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 etcd 备份文件能解密吗？没配静态加密呢？配了但密钥也泄露了呢？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89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的 anonymous 改成允许会有什么风险？Webhook 模式的意义是什么？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9300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56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数据安全的纵深防御有几层？各防什么？（网络隔离 / RBAC / 静态加密 / 审计）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证书续期后为什么 kubeconfig 可能需要重新生成？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1/3）：kubeadm certs check-expiration / renew · EncryptionConfiguration（aescbc / identity）· kubelet 认证授权（Webhook）· Secret 安全边界；排障（域 5）：x509: certificate has expired。</a:t>
            </a:r>
            <a:endParaRPr lang="en-US" sz="110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 集群维护与运维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 · 节点维护流程 · 集群升级 · etcd 备份策略 · 控制面高可用 · 运维日历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12）</a:t>
            </a:r>
            <a:endParaRPr lang="en-US" sz="120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说出运维的四大对象（节点/控制面/数据/版本）与各自的例行动作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执行完整的节点维护流程（cordon → drain → 维护 → uncordon），解释 PDB 的保护作用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939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描述集群升级的完整流程（准备 → 控制面 → worker 逐台 → 验证），解释顺序背后的原因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69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说出升级的版本兼容窗口（为什么不能跳版本）与回滚预案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44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etcd 备份策略（周期/保留/异地/恢复演练），解释“恢复会丢什么”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解释控制面高可用架构（多控制面 + 负载均衡）与 etcd Raft 奇数节点的原理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掌握命名空间配额治理与对象清理的运维视角</a:t>
            </a:r>
            <a:endParaRPr lang="en-US" sz="135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运维思维：从“命令”到“流程”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本章定位：从“会敲命令”升级为“懂流程”——维护窗口、升级、备份都是流程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集群运维围绕四大对象：节点 / 控制面 / 数据 / 版本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运维铁律：先备份再动集群、先演练再上生产</a:t>
            </a:r>
            <a:endParaRPr lang="en-US" sz="150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运维思维：从“命令”到“流程”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13 章的每个机制（drain/备份/证书）在运维中不是孤立命令，而是流程的一部分——集群运维围绕四个对象：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例行动作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机制来源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维护窗口（cordon/drain/uncordon）、污点隔离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证书续期、etcd 备份、升级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13 章、本章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备份策略、恢复演练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升级、回滚预案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运维铁律：先备份再动集群（升级/维护/恢复前），先演练再上生产（恢复演练、升级演练）——流程的价值在于“出事时有预案”。</a:t>
            </a:r>
            <a:endParaRPr lang="en-US" sz="120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节点管理流程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维护窗口三步曲：cordon → drain → 维护 → uncordon（先挡新、再腾空、后恢复）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异常处理：本地卷 / PDB 拦截 / 驱逐失败三场景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PDB 业务保护 + 污点隔离：故障隔离、专用节点、灰度节点</a:t>
            </a:r>
            <a:endParaRPr lang="en-US" sz="150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维护窗口三步曲（流程化）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§6.5 讲过机制，运维视角是完整流程：先挡新 → 再腾空 → 后恢复（实验 12 · Lab 3 节点维护演练）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14173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cordon node2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隔离：新 Pod 不调度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55448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drain node2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排空：业务优雅迁移，PDB 约束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55448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执行维护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换硬件 / 重启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554480"/>
            <a:ext cx="54864" cy="14173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uncordon node2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恢复调度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246120"/>
            <a:ext cx="54864" cy="1188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为什么分三步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703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cordon 与 drain 分开是为了平滑——先挡新流量（存量业务不受影响），再逐台腾空（配合 PDB 保证可用性），维护完恢复；“排空 = 业务无感迁移”依赖第 4 章的优雅终止与第 6 章的 PDB（两条链路的汇合点）。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验证点：drain 后确认业务全在别处；uncordon 后确认节点 Ready——每一步都有验证</a:t>
            </a:r>
            <a:endParaRPr lang="en-US" sz="105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Drain 异常处理与业务保护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卡住现象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delete Pods with local storage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挂了本地卷（emptyDir/hostPath）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drain 加 --delete-emptydir-data（确认数据可丢后）；或先处理这些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drain 一直 Pending（PDB 拦）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应用可用副本已低于 PDB 下限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评估：等业务恢复 / 临时调 PDB / --disable-eviction 强驱（慎用）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驱逐后 Pod 起不来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调度不满足（资源/亲和/污点）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修调度条件；或 --force 跳过驱逐校验（慎用）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0632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 与业务保护（运维视角）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核心服务必须配 PDB（min-available / max-unavailable）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被拦（ALLOWED DISRUPTIONS = 0）→ 先评估再决定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维护窗口前检查 kubectl get pdb -A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306324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污点隔离（节点级运维手段）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故障隔离：NoExecute 先驱逐（快速止损），再排查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专用节点：GPU/高内存打污点，只放匹配负载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灰度节点：新版本节点先隔离，验证完再放开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铁律：--force / --disable-eviction 是“明确后果”的开关——先想清楚再传；PDB 卡住时优先“解决问题”而不是“绕开保护”。</a:t>
            </a:r>
            <a:endParaRPr lang="en-US" sz="120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集群升级：完整流程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升级前先做三件事：备份 etcd / 版本窗口 / 兼容性说明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顺序铁律：kubeadm → 控制面 → worker 逐台（容量只少一台）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失败回滚靠 etcd 快照；版本兼容窗口 ±1 次版本（不能跳版本）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Addons 升级是容易漏的一环</a:t>
            </a:r>
            <a:endParaRPr lang="en-US" sz="150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升级准备与升级顺序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 etcd（§14.4）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升级失败要能回滚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upgrade plan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044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查看当前可升级的版本与依赖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读兼容性说明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 breaking changes（如 API 移除）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升级顺序（为什么是这个顺序）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升级 kubeadm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先升安装工具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031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402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控制面 apply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upgrade apply：迁移组件 + 更新证书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404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控制面 kubelet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kubelet/kubectl 升级 + 重启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406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971800"/>
            <a:ext cx="45720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worker 逐台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drain → 升级 → upgrade node → uncordon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408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验证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Ready + 新版本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12 · Lab 2 kubeadm 集群升级：先 kubeadm → 控制面 apply → worker 逐台 drain/upgrade/uncordon；升级前先备份是铁律）</a:t>
            </a:r>
            <a:endParaRPr lang="en-US" sz="110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升级顺序背后的原因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先升：旧 kubeadm 不认识新版本的升级流程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控制面先行：apiserver 新版本才能接受新版本 worker 的注册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逐台：一台一台 drain/升级/恢复——集群容量只少一台，业务无感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版本一致：最终所有节点同版本（跨一个次版本兼容，但一致最稳）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升级中的业务保障（三条机制叠加）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升级时：drain（PDB 约束逐个驱逐）→ 业务 Pod 迁移到其他节点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→ 滚动/重建（第 5 章）→ 优雅终止（第 4 章）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三层保障：PDB（驱逐有保护）+ 优雅终止（下线不丢请求）+ 多副本（迁移有备份）</a:t>
            </a:r>
            <a:endParaRPr lang="en-US" sz="115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失败回滚与版本兼容窗口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2743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失败与回滚预案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升级失败先看 kubeadm upgrade plan 的兼容性提示（多数失败是版本/依赖问题）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回滚手段：etcd 快照恢复到升级前（§14.4）——这就是“升级前备份”的意义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部分失败（某 worker 没起来）：单独修复该节点，不要回滚整个集群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版本兼容窗口（不能跳版本）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3474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691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不支持跨次要版本升级：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1.36 → 1.37 → 1.38（每次只升一个次版本）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原因：控制面与节点的版本差有上限（±1 次版本），跳版本会导致不兼容。升级要一步一步来——多次小版本升级 vs 一次大跳。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1/5）：必考流程——升级顺序、节点维护流程、etcd 备份恢复五步；排障关联（域 5）——升级失败先看 upgrade plan 的提示。</a:t>
            </a:r>
            <a:endParaRPr lang="en-US" sz="115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Addons 升级管理（容易漏的一环）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upgrade 只升级核心组件（控制面 + kubelet）——不升级 Addons（CNI 插件、CoreDNS、ingress-nginx、metrics-server 等）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升级后核对清单：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CNI（Calico）：版本是否兼容新 K8s？→ 查官方兼容矩阵，按需升级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（升级 CNI 是高风险操作，先 drain 或选低峰）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CoreDNS：kubeadm 会提示可升级版本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kubectl -n kube-system rollout restart deploy/coredns 前先确认镜像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其他组件（ingress-nginx/metrics-server/dashboard）：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各自按官方发布节奏升级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生产教训：K8s 升级后“集群正常但功能异常”（网络策略失效/ingress 行为变化/指标没了），八成是 Addons 版本不兼容——把 Addons 升级写进升级流程清单（14.3.2 顺序口诀的补充项）。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节点自动扩缩（Cluster Autoscaler/Karpenter，云环境）概念见第 7 章 §7.3.2</a:t>
            </a:r>
            <a:endParaRPr lang="en-US" sz="105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备份策略：不只是“存个快照”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/ 实验 12 已实操快照命令，本章讲策略——备份的三个决策：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每日 + 每次重大变更（升级/迁移）后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恢复丢失窗口最小化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滚动保留 N 份（如 7 天）+ 月度归档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防磁盘膨胀 + 可回退到更早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异地（与集群分离：另一台机器/对象存储）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集群整体故障（机房挂）时备份还能用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备份文件加密存储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备份里有 Secret（第 13 章 §13.3.3）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12 · Lab 1 etcd 备份与恢复：snapshot save/status/restore 五步 + 备份策略认知）</a:t>
            </a:r>
            <a:endParaRPr lang="en-US" sz="110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恢复演练：“恢复会丢什么”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4805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 = 集群回滚到快照时刻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069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之后的所有变更（新建的 Pod、修改的配置）都会丢失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恢复前先想清楚：快照时刻到现在丢了什么？丢得起吗？——往往“丢几分钟数据”优于“集群瘫痪”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定期演练：备份能不能用，只有恢复过才知道——CKA 的 etcd restore 题考的就是流程熟练度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143000"/>
            <a:ext cx="3383280" cy="16002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114300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停 apiserver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snapshot restore 到新目录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替换数据目录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恢复 manifest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验证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恢复流程五步（实验 12 · Lab 1）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验证闭环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3429000"/>
            <a:ext cx="338328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备份(snapshot save) → 验证(snapshot status)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演练(restore 到临时环境) → 定期循环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“备份 + 验证 + 演练”三件套缺一不可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运维铁律：没有验证过的备份 = 没有备份。</a:t>
            </a:r>
            <a:endParaRPr lang="en-US" sz="120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控制面高可用（概念层）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3 章的单控制面集群有一个单点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控制面节点挂了：kubectl 连不上、调度停摆、业务 Pod 状态无法维持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生产环境控制面必须冗余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多控制面架构（kubeadm 支持）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840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负载均衡器（VIP 192.168.0.100:6443）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 ×3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584448"/>
            <a:ext cx="3840480" cy="4572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630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 Worker × 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/ worker 只连 VIP——任一控制面节点挂掉，其他两个继续服务（控制面无单点）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--control-plane-endpoint：给多个控制面一个统一入口（负载均衡 VIP）——kubectl/worker 都连它；kubeadm 用 --control-plane-endpoint 指定 VIP、join --control-plane 加入其余节点。架构细节（kubeadm 配置/证书分发）是进阶运维内容——本章建立概念，知道生产长什么样。</a:t>
            </a:r>
            <a:endParaRPr lang="en-US" sz="110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Raft：为什么是奇数节点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集群用 Raft 共识算法（第 2 章 §2.4.2）：写操作需要多数派（超过一半）节点确认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节点 etcd：容忍 1 台挂（2/3 仍是多数派）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节点 etcd：容忍 2 台挂（3/5 仍是多数派）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偶数节点（如 4）：挂 2 台 = 2/4 不是多数派 → 集群只读/不可用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4 节点不比 3 节点更“高可用”（容错数相同），还多花钱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49040"/>
            <a:ext cx="64008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490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为什么奇数：N 节点能容忍 (N-1)/2 台故障——3 和 4 容错都是 1 台，4 没有意义；所以 etcd 用 3/5/7 奇数节点（CKA 必考概念）。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恢复会丢“快照之后的变更”，但升级失败回滚时——丢几分钟数据远优于集群瘫痪（呼应 §14.4.2）</a:t>
            </a:r>
            <a:endParaRPr lang="en-US" sz="105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高可用与灾备架构（HA/DR）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4389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灾备等级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基础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4h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24h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快照 + 异地存储（§14.4）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快照 + PV 快照（第 10 章）+ Velero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高级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15min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多集群主备 + 数据同步 + DNS 切换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同城双活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AZ 集群 + 全局负载均衡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故障域设计：故障域从小到大（容器 → Pod → 节点 → 机架 → AZ → 区域）——单个故障域失败不应导致服务完全不可用；控制面跨 2 个故障域，核心业务 Pod 跨 2 个 AZ（topologyKey: zone）。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Velero = 集群对象备份（Deployment/ConfigMap/…）+ PV 数据备份 → 整应用级恢复、跨集群迁移、集群级灾难恢复（etcd 都丢了也能救回应用）。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617720"/>
            <a:ext cx="45720" cy="411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617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决策逻辑：etcd 快照保“集群本身”、Velero 保“业务应用”——生产灾备是两者组合（L2 及以上等级标配 Velero）。</a:t>
            </a:r>
            <a:endParaRPr lang="en-US" sz="120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运维日历与资源治理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SRE 规范的落地载体——把“该做的事”固定成日历，与第 16 章 SRE 规范配套：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执行标准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监控告警巡检 + Pod 异常扫描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自动化巡检脚本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资源利用率分析 + 容量趋势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requests vs 实际使用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证书有效期检查 + etcd 碎片整理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剩余 &lt; 90 天必须续期（第 13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每季度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安全漏洞扫描 + RBAC 权限审计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Trivy + kubectl auth can-i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每半年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灾备演练（etcd 恢复 + Velero 恢复）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必须验证 RTO/RPO 达标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版本升级（不跨大版本）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 staging → 再 production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1148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87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命名空间与资源治理（运维视角）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4988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配额巡检：kubectl get resourcequota -n &lt;ns&gt;——哪些命名空间接近配额（该扩容/清理了）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对象清理：无用命名空间直接删（连带清空）；残留的 Failed/Completed Pod 定期清理（CronJob 的 historyLimit 配合）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资源账单：按命名空间聚合用量（kubectl top + 配额数据）——成本归属</a:t>
            </a:r>
            <a:endParaRPr lang="en-US" sz="105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 = 流程：维护窗口三步曲、升级五步走、备份三件套——每个动作都有“为什么这个顺序”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节点维护：cordon（挡新）→ drain（排空，PDB 保护）→ 维护 → uncordon；污点用于故障隔离/专用节点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升级：备份 → kubeadm 先升 → 控制面 apply → worker 逐台 → 验证；不能跳版本（±1 兼容窗口）；回滚靠 etcd 快照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备份策略：每日+变更后、滚动保留、异地存放、定期恢复演练（“没验证过的备份 = 没有备份”）；恢复丢“快照之后的变更”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控制面高可用：多控制面 + VIP（--control-plane-endpoint）；etcd Raft 奇数节点（3/5/7，容错 (N-1)/2）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治理：配额巡检、对象清理、按命名空间归账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15 章讲可观测性（监控/日志/事件三支柱）——“集群管得好不好”要用数据说话；第 16 章讲排障方法论（故障来了怎么查）。</a:t>
            </a:r>
            <a:endParaRPr lang="en-US" sz="115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为什么维护节点要“先 cordon 再 drain”而不是直接 drain？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 worker 时为什么要逐台而不是全部一起升？（提示：集群容量与业务）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kubeadm 不能跨次要版本升级？跳版本会怎样？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备份恢复后，“丢失”的是什么？升级失败回滚时为什么能接受这个丢失？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etcd 比 3 节点更可靠吗？为什么？（提示：Raft 多数派）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“没有验证过的备份 = 没有备份”——怎么才算“验证过”？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考点标注（域 1/5）：必考命令 etcdctl snapshot save/status/restore；必考流程——etcd 备份恢复五步、升级顺序、节点维护流程；必考概念——Raft 奇数节点、--control-plane-endpoint、版本兼容窗口。</a:t>
            </a:r>
            <a:endParaRPr lang="en-US" sz="110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 可观测性：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监控、日志与事件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三支柱体系 · 指标与 Prometheus · 日志收集模式 · 事件与审计 · 排障入口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05 / 10 / 14）</a:t>
            </a:r>
            <a:endParaRPr lang="en-US" sz="120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说出可观测性三支柱（指标/日志/事件）各自回答什么问题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区分实时指标（metrics-server / kubectl top）与完整监控（Prometheus 体系）的定位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 Prometheus 体系的最小架构（采集/存储/告警/展示）——不深挖 PromQL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Kubernetes 的日志架构（stdout 标准）与两种收集模式（sidecar / daemonset）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知道事件的来源与用途（kubectl get events）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理解审计日志的概念（apiserver 请求全记录）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44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用三支柱配合定位一个故障（哪个支柱回答哪一步）</a:t>
            </a:r>
            <a:endParaRPr lang="en-US" sz="1300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可观测性三支柱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三个问题对应三个数据源：指标 / 日志 / 事件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互相印证：事件指方向、日志给细节、指标做佐证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生产可观测性 = 三者组合（Traces 见 §15.5）</a:t>
            </a:r>
            <a:endParaRPr lang="en-US" sz="1500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可观测性三支柱：三个问题三个数据源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“集群出问题了吗？出在哪？为什么？”——三个问题对应三个数据源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1945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 Metrics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现在用量如何？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 / 应用暴露数字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top、Prometheus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Logs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应用说了什么？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stdout / stderr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logs、ELK/Loki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 Events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集群发生了什么？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对象变化记录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get events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读图要点：三支柱各回答一个问题、互相印证——事件指方向（哪里变了）、日志给细节（应用内部）、指标做佐证（资源层面）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排障分工：事件指方向（哪里变了）→ 日志给细节（应用内部）→ 指标做佐证（资源层面）——互相印证，第 16 章展开。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1/2：指标链路实操；实验 10 Lab 1：describe / logs / events 三板斧）</a:t>
            </a:r>
            <a:endParaRPr lang="en-US" sz="1050" dirty="0"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指标（Metrics）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实时指标：metrics-server + kubectl top（第 7 章回顾）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完整监控：Prometheus 体系（历史 + 告警 + 可视化）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PromQL 极简实战：至少会看一条典型查询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生产指标实践：利用率 / 应用指标 / 告警分层</a:t>
            </a:r>
            <a:endParaRPr lang="en-US" sz="1500" dirty="0"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实时指标：metrics-server（第 7 章回顾）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指标链路：kubelet → metrics-server → metrics API——运维视角的用途：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node          # 每个节点的 CPU/内存用量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pod -A        # 每个 Pod 的用量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51460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99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实时快照、零配置、够 HPA 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1460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2999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不存历史（看不了趋势）、不告警、粒度粗（节点 / Pod 级）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“实时”的含义：metrics-server 只保留当前快照——历史趋势要靠 Prometheus 体系（§15.2.2）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1：安装 metrics-server → kubectl top node/pod 有数）</a:t>
            </a:r>
            <a:endParaRPr lang="en-US" sz="1050" dirty="0"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完整监控：Prometheus 体系（概念）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生产级监控需要历史、告警、可视化——这就是 Prometheus 生态（CNCF 毕业项目）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node-exporter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968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 /metrics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5728" y="193852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 scrape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（定期拉）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182880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91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（时序库 + PromQL）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37744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Alertmanager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规则触发 → 通知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377440" cy="658368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 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 / 大盘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66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66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383280"/>
            <a:ext cx="64008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3832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决策逻辑：教学/小集群 → metrics-server 够用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→ Prometheus 体系（历史 + 告警 + 大盘）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部署形态：kube-prometheus-stack（Prometheus + Grafana + 告警一体，Helm 一键装）——知道存在与用途即可，不用手搓</a:t>
            </a:r>
            <a:endParaRPr lang="en-US" sz="1150" dirty="0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PromQL 极简实战（会看、会写一条就够）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查询语言——至少掌握一条典型查询；rate = 每秒增量（计数器最常用处理）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节点 CPU 使用率（rate 处理计数器）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(avg by (instance) (rate(node_cpu_seconds_total{mode="idle"}[5m])) * 100)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container_memory_usage_bytes{namespace="default"}   # Pod 内存用量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8046720" cy="713232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1284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NodeCPUHigh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(100 - (avg by (instance) (rate(node_cpu_seconds_total{mode="idle"}[5m])) * 100)) &gt; 80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5m        # 持续 5 分钟才告警（防抖动）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采集配置：ServiceMonitor——Prometheus Operator 用它声明“抓哪些服务的指标”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0156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monitoring.coreos.com/v1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ServiceMonitor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{ matchLabels: { app: myapp } }   # 选 Service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port: metrics                              # 指标端口（应用暴露 /metrics）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核心认知：指标采集的“最后一公里”= 应用暴露 /metrics + ServiceMonitor 声明抓取（kube-prometheus-stack 已帮你做好）</a:t>
            </a:r>
            <a:endParaRPr lang="en-US" sz="1050" dirty="0"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生产指标实践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三类指标 + 三层告警：从基础设施到业务体验，逐层贴近用户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利用率指标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CPU / 内存利用率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用量与 requests 的比值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（结合第 7 章 requests/limits）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54864" cy="2103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应用指标（RED，进阶）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请求量（QPS）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错误率（Errors）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延迟（Duration）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54864" cy="2103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告警分层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节点级：NotReady / 磁盘满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Pod 级：重启次数 / 探针失败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应用级：错误率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告警是生产值班的核心：规则（CPU &gt; 80% 持续 5 分钟）→ Alertmanager 通知 → 处理闭环（§15.2.2）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2：启用 HPA——指标的实际消费者，指标链路闭环；实验 14：kube-prometheus-stack 实操）</a:t>
            </a:r>
            <a:endParaRPr lang="en-US" sz="1050" dirty="0"/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日志（Logs）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logs 的边界：单 Pod、当前容器、不持久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日志架构：stdout 是标准（运行时捕获 + 轮转）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收集模式：daemonset（主流）vs sidecar（文件化老应用）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生产实践：分级采样 / 敏感脱敏 / 保留策略</a:t>
            </a:r>
            <a:endParaRPr lang="en-US" sz="1500" dirty="0"/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的边界 · stdout 是标准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98448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              # 当前容器日志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-c &lt;容器&gt;      # 多容器指定容器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    # 崩溃前的日志（排障核心）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注意：容器重启后 kubectl logs 只能看到“当前容器”的日志——看上一个（崩溃的）实例要用 --previous；容器删除 = 日志消失（kubectl 层面）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日志架构：stdout 是标准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容器把日志写到 stdout/stderr → 容器运行时（containerd）捕获并轮转 → 每节点落盘 /var/log/containers/（kubelet 供 kubectl logs 读取）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应用不需要写文件——写文件（普通文件卷）反而麻烦：轮转、清理、收集都要自己管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打日志 = 打 stdout——K8s 应用的日志铁律：镜像里配好日志输出到 stdout，后面的收集才顺。</a:t>
            </a:r>
            <a:endParaRPr lang="en-US" sz="1200" dirty="0"/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日志收集模式：daemonset vs sidecar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只能看单 Pod；生产要把所有 Pod 的日志集中（检索 / 告警 / 合规）——两种收集模式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691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模式一：daemonset 收集（每节点一个，主流）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每个节点一个采集 Pod（filebeat / fluentd / vector）→ 读 /var/log/containers/ → 发到集中存储（ES/Loki/S3）→ Kibana/Grafana 检索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优点：一个 DaemonSet 管全集群、应用无感知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缺点：采集器自己也要日志（注意循环）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1691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模式二：sidecar 收集（每 Pod 一个，特殊场景）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里：主容器（写日志文件）+ sidecar 容器（读文件转发）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优点：应用日志文件化（老应用只写文件）、可加过滤/格式转换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缺点：每个 Pod 多一个容器（资源/复杂度翻倍）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246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选型：默认 daemonset 模式（第 5 章 DaemonSet 的典型场景）；sidecar 只用于“必须文件化”的老应用。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生产日志实践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日志分级与采样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ERROR/WARN/INFO 分级，采样防日志爆炸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敏感信息脱敏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日志里别打密码——Secret 不落日志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保留策略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 vs 存储成本</a:t>
            </a:r>
            <a:endParaRPr lang="en-US" sz="950" dirty="0"/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 · 审计 · 分布式追踪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事件：apiserver 记录的对象变化流水账（get events）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审计：记录访问 apiserver 的所有请求（谁/何时/做了什么）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追踪：一个请求的完整路径（Trace/Span，慢在哪一环）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三支柱 + 追踪齐备，才能高效定位微服务故障</a:t>
            </a:r>
            <a:endParaRPr lang="en-US" sz="1500" dirty="0"/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事件（Events）与审计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事件：对象状态变化的流水账（第 2 章 describe 里见过）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804672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898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-A                       # 全集群事件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--sort-by=.lastTimestamp    # 按时间排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xxx                        # 单对象的事件（Events 段）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典型事件：Scheduled（调度成功）、Pulled（拉镜像）、FailedScheduling（调度失败）、Unhealthy（探针失败）、Killing（终止）、BackOff（重启退避）——排障时“发生了什么”的第一手来源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517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注意：Event 是临时的（默认 1 小时左右清理）——出问题要“趁热看”；生产可配置事件持久化（进阶）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审计日志：apiserver 请求全记录（概念）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web-1  →  审计日志：用户 kubernetes-admin 在 12:00:03 DELETE pods/web-1（200 OK）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用途：安全审计（谁删了 Secret？）、合规、取证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默认不启用（要配置 AuditPolicy 指定记录级别）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一句话：事件 =“对象发生了什么”；审计 =“谁对 apiserver 做了什么”</a:t>
            </a:r>
            <a:endParaRPr lang="en-US" sz="1100" dirty="0"/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分布式追踪（Tracing）：请求的一生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问题：微服务里一个请求经过 A → B → C，出问题时“慢在哪一环”？日志（局部）与指标（统计）都答不了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28016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5ms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463040"/>
            <a:ext cx="155448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订单服务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120ms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137160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95ms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2286000"/>
            <a:ext cx="1554480" cy="54864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库存服务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40ms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 慢在这里！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贯穿所有 span → 火焰图/瀑布图 → 一眼定位“慢在哪一环”；技术栈：OpenTelemetry SDK + Jaeger/Tempo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核心概念（OpenTelemetry 标准——云原生追踪事实标准）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Trace（追踪）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一个请求的全链路，由 traceID 关联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Span（跨度）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链路上的一段：一次服务调用/操作，含耗时与状态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传播（Propagation）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请求头携带 traceID 传递（traceparent 头），各服务把 span 上报到追踪后端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核心认知：Metrics“出问题了”· Logs“说了什么”· Traces“慢在哪一环”——三支柱 + 追踪齐备，才能高效定位故障</a:t>
            </a:r>
            <a:endParaRPr lang="en-US" sz="1150" dirty="0"/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排障入口：三支柱怎么配合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用第 16 章会展开的方法论，提前看一眼三支柱的配合——从现象出发，三步定位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47548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故障现象：应用 502——从现象出发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01952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019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事件：kubectl get events -A →“Unhealthy”（readiness 探针失败）→ 定位到某个 Pod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32304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323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日志：kubectl logs &lt;pod&gt; --previous →“OutOfMemoryError”→ 定位根因方向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962656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626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指标：kubectl top pod → 内存 800Mi / limit 512Mi（OOM 佐证）→ 确认根因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93008"/>
            <a:ext cx="54864" cy="47548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930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修复：调内存 limits（第 4 章）→ 验证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分工记忆：事件指方向、日志给细节、指标做佐证——第 16 章排障方法论的数据侧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10 Lab 1：排查三板斧——describe（事件）/ logs / events 的标准动作）</a:t>
            </a:r>
            <a:endParaRPr lang="en-US" sz="1050" dirty="0"/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三支柱：指标（用量）/ 日志（说了什么）/ 事件（发生了什么）——互相印证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指标：metrics-server（实时、零配置、供 HPA）→ Prometheus 体系（历史 + 告警 + 大盘，生产标准）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日志：stdout 是标准（运行时捕获 + 轮转）；收集默认 daemonset 模式，sidecar 用于文件化老应用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事件：对象状态变化流水账（describe 的 Events 段 / get events）——临时性（约 1 小时）要趁热看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审计：apiserver 请求全记录（谁、何时、做了什么）——默认不启用，安全 / 合规用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追踪：Trace / Span——请求“慢在哪一环”（生产可观测性完整版）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44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排障分工：事件指方向 → 日志给细节 → 指标做佐证；第 16 章整合成完整排障方法论</a:t>
            </a:r>
            <a:endParaRPr lang="en-US" sz="1250" dirty="0"/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三支柱各自回答什么问题？“Pod 一直在重启”分别可以从哪个支柱看到什么？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 与 Prometheus 的定位差异？（实时 vs 历史 / 告警）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为什么应用要把日志打到 stdout 而不是写文件？写文件会有什么问题？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收集和 sidecar 收集各自的取舍？默认选哪个？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事件默认保留多久？为什么排障要“趁热看”？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事件与审计日志的区别是什么？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5：故障排查 30%）：kubectl logs --previous、stdout 日志架构、事件、metrics 链路；Prometheus/审计了解级。</a:t>
            </a:r>
            <a:endParaRPr lang="en-US" sz="1200" dirty="0"/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故障排查与可靠性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分层排障框架 · 证据链思维 · 典型故障图谱 · 可靠性工程 · SRE 运营规范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10）· CKA 域 5（30%）</a:t>
            </a:r>
            <a:endParaRPr lang="en-US" sz="1200" dirty="0"/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说出分层排障框架（节点/Pod/容器/网络/存储）与每层的判断依据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掌握证据链思维：现象 → 事件 → 日志 → 根因的取证顺序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熟记排障纪律：先恢复再排查、一次只改一个、报错即答案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对典型故障（NotReady/ImagePullBackOff/CrashLoop/探针失败/PVC 挂载失败）说出排查路径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解释可靠性工程三件套（滚动更新调优/优雅终止/PDB）如何让故障少发生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解释主动演练（混沌思想）的意义与基本方法</a:t>
            </a:r>
            <a:endParaRPr lang="en-US" sz="1350" dirty="0"/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排障方法论：先有框架，再动手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分层排查框架：从外到内五层，每层专属命令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证据链思维：现象 → 事件 → 日志 → 指标 → 根因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排障三条铁律：报错即答案 / 先恢复再排查 / 一次只改一个</a:t>
            </a:r>
            <a:endParaRPr lang="en-US" sz="1500" dirty="0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分层排查框架：从外到内，逐层定位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E8F4FD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节点层：机器/kubelet 正常吗？（NotReady？）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/ journalctl / df / free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8046720" cy="621792"/>
          </a:xfrm>
          <a:prstGeom prst="rect">
            <a:avLst/>
          </a:prstGeom>
          <a:solidFill>
            <a:srgbClr val="E8F4FD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1168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975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层：调度/镜像/状态正常吗？（Pending/CrashLoop？）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1975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wide / describe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21792"/>
          </a:xfrm>
          <a:prstGeom prst="rect">
            <a:avLst/>
          </a:prstGeom>
          <a:solidFill>
            <a:srgbClr val="FFF3E0"/>
          </a:solidFill>
          <a:ln w="15240">
            <a:solidFill>
              <a:srgbClr val="E08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24912"/>
            <a:ext cx="411480" cy="41148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88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容器层：应用本身正常吗？（日志/退出码）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26883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--previous / exec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8046720" cy="621792"/>
          </a:xfrm>
          <a:prstGeom prst="rect">
            <a:avLst/>
          </a:prstGeom>
          <a:solidFill>
            <a:srgbClr val="FFF3E0"/>
          </a:solidFill>
          <a:ln w="15240">
            <a:solidFill>
              <a:srgbClr val="E08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38144"/>
            <a:ext cx="411480" cy="41148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网络层：流量/名字解析通吗？（Endpoints/DNS）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/ nslookup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21792"/>
          </a:xfrm>
          <a:prstGeom prst="rect">
            <a:avLst/>
          </a:prstGeom>
          <a:solidFill>
            <a:srgbClr val="FDECEA"/>
          </a:solidFill>
          <a:ln w="15240">
            <a:solidFill>
              <a:srgbClr val="D94F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51376"/>
            <a:ext cx="411480" cy="411480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存储层：卷挂载/绑定正常吗？（Pending/FailedMount）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pvc / describe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548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读图要点：先确认“下面一层没白查”——节点挂了，查 Pod 日志是浪费；每层都有专属命令。</a:t>
            </a:r>
            <a:endParaRPr lang="en-US" sz="1100" dirty="0"/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证据链思维：现象 → 事件 → 日志 → 根因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取证顺序就是证据链——不要一上来乱敲命令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集群视角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xxx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“发生了什么”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Scheduled / Pulled / Unhealthy / Killing…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54864" cy="2468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日志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应用视角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--previous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“应用说了什么”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报错堆栈 / 连接失败…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指标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资源视角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/ node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“资源佐证”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内存超限 / OOM…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根因定位 → 修复 → 验证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 的 Events 段永远是最快的切入点——90% 的问题在事件 + 日志两步内定位。</a:t>
            </a:r>
            <a:endParaRPr lang="en-US" sz="1200" dirty="0"/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排障纪律：三条铁律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26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报错信息就是答案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的报错几乎都直说“差在哪”：manifest not found=镜像名错、配额、调度条件——先读报错，再想别的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54864" cy="2926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53619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先恢复、再排查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生产故障第一优先恢复业务（rollout undo 回滚、scale 副本、重启），恢复后再慢慢查根因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54864" cy="2926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536192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一次只改一个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改完验证、不行再改下一个——多变量同时改 = 无法定位（与 Git 二分思路一致）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纪律的本质：把排障变成“可复现的流程”而不是“碰运气”</a:t>
            </a:r>
            <a:endParaRPr lang="en-US" sz="1150" dirty="0"/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各层排障详解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节点层：NotReady —— kubelet 心跳与节点资源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Pod 层：Pending / ImagePullBackOff / CrashLoopBackOff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容器层：logs / exec / kubectl debug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网络层：Endpoints / DNS / 连通性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存储层：PVC Pending / FailedMount</a:t>
            </a:r>
            <a:endParaRPr lang="en-US" sz="1500" dirty="0"/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节点层：NotReady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判断依据：kubectl get nodes 显示 NotReady（Ready 依赖 kubelet 心跳 + 网络就绪）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                   # 哪台 NotReady？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node node2          # 看 Conditions/事件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到该节点：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systemctl status kubelet           # kubelet 活着吗？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journalctl -u kubelet -n 50        # kubelet 日志（第一手线索）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 -h / free -m                    # 磁盘满/内存不足？（节点资源压力）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 a                               # 网络通吗？（CNI 依赖）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0332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常见根因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挂了/配置错 · 磁盘满（镜像清理）· 内存压力 · 网络插件（calico）异常 · 证书问题</a:t>
            </a:r>
            <a:endParaRPr lang="en-US" sz="1200" dirty="0"/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层：Pending / ImagePullBackOff / CrashLoopBackOff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判断依据：kubectl get pods -o wide 看 STATUS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排查路径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未调度/未就绪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看 Events：资源/亲和/污点，或镜像拉取中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ImagePullBackOff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镜像拉不下来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Events：镜像名/标签/私有仓库凭据/网络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CrashLoopBackOff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容器反复崩溃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logs --previous 崩溃前输出；Last State 退出码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探针失败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被重启/被摘除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事件：哪个探针、为什么失败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CrashLoop 退出码解读（第 4 章 §4.4.1）——先读退出码，再查日志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8046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206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= 正常退出（任务型用了 Always）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= 应用错误（看日志）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 = 命令不存在（镜像里没有，如 busybox 无 bash）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 = SIGKILL（OOM/被强杀）→ 查 limits 与 top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 = SIGTERM（被优雅终止，可能正常下线）</a:t>
            </a:r>
            <a:endParaRPr lang="en-US" sz="950" dirty="0"/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容器层：应用自己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Running 但功能不对 → 进容器看应用（常见坑：环境变量/配置注入错了——describe 核对 Env 与 Mounts，第 8 章）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--tail=50        # 当前日志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       # 崩溃前的日志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&lt;pod&gt; -- sh        # 进容器（v1.36 用 --）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          # 状态/环境变量/挂载（验证配置对不对）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里没有 shell/工具（精简镜像）怎么办？——不 SSH 进节点（不干净、权限大），用 kubectl debug：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临时容器（v1.23+ 稳定）：kubectl debug -it &lt;pod&gt; --image=nicolaka/netshoot --target=&lt;容器名&gt; -- sh（共享进程/网络命名空间，排障后自动消失）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副本调试：kubectl debug &lt;pod&gt; -it --copy-to=debug-pod --image=busybox -- sh（启动调试副本，不改原 Pod）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节点调试：kubectl debug node/&lt;节点名&gt; -it --image=ubuntu（在节点上起特权调试 Pod，替代 SSH）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决策逻辑：能进容器 → exec；容器没工具/进不去 → debug 临时容器；要查节点 → debug node——全程 kubectl，不给 SSH 权限。</a:t>
            </a:r>
            <a:endParaRPr lang="en-US" sz="1200" dirty="0"/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网络层：访问不通（Service/DNS 排查流程）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有后端吗？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web-svc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06440" y="13533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ENDPOINTS 为空 = selector 没匹配上（检查 Service 与 Pod 标签）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 解析对吗？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xxx -- nslookup web-svc.default.svc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31343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解析失败 = Service 名/命名空间写错，或 coredns 异常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73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xxx -- wget -O- http://web-svc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2735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 = 网络 OK；不通 = kube-proxy/CNI 问题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经典根因：Service 的 selector 拼错标签（app=web vs app=Web）→ Endpoints 空 → 服务 502——实验 10 Lab 4 亲手踩过。</a:t>
            </a:r>
            <a:endParaRPr lang="en-US" sz="1200" dirty="0"/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存储层：卷挂不上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pvc                    # PVC 状态（Pending = 没绑定）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pvc              # Events：no persistent volumes available（没有匹配的 PV）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                    # PV 存在吗/容量/访问模式/SC 匹配吗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             # Events 的 FailedMount（挂载失败：路径/权限/存储节点）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Pending = PV 不匹配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/ 访问模式 / SC 对不上（第 10 章 §10.3.4）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补 PV 或改 SC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FailedMount = 底层存储问题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节点挂了 / 权限问题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修底层存储（不是改 PVC）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09160"/>
            <a:ext cx="54864" cy="411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判断要点：先分清是“没有匹配的 PV”（PVC Pending）还是“挂不上”（FailedMount）</a:t>
            </a:r>
            <a:endParaRPr lang="en-US" sz="1150" dirty="0"/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典型故障图谱（现象 → 根因 → 修复速查）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2514600"/>
                <a:gridCol w="22402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常见根因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 NotReady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journalctl -u kubelet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 挂/磁盘满/网络插件异常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 kubelet/清磁盘/查 calico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 Pending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Events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资源不足/亲和不满足/污点不容忍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requests/删约束/加容忍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ImagePullBackOff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Events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镜像名错/私有仓库没凭据/加速站失效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改镜像名/配 imagePullSecrets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CrashLoopBackOff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logs --previous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命令错/配置错/启动即崩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command/配置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退出码 137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看内存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超内存 limits 被 OOM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limits/查内存泄漏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 502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endpoints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selector 错 → Endpoints 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修标签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DNS 解析失败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nslookup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名字/命名空间错、coredns 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改名字/查 coredns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PVC Pending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pvc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 不匹配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 PV/改 SC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FailedMount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存储节点问题/权限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修底层存储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探针 Unhealthy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探针路径/端口/阈值不对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调探针（第 4 章）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exceeded quota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resourcequota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命名空间配额用完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清资源/调配额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Forbidden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auth can-i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RBAC 没配/规则错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 Binding/修 rules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73168"/>
            <a:ext cx="8046720" cy="329184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7731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记忆法：每类故障的第一条命令 + describe 的 Events 段——覆盖 90% 的排障</a:t>
            </a:r>
            <a:endParaRPr lang="en-US" sz="1100" dirty="0"/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可靠性工程：让故障少发生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发布可靠性：滚动更新策略调优（0/1 零中断）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下线可靠性：优雅终止深化（preStop + grace period）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驱逐可靠性：PDB 保护计算（自愿中断）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主动演练：混沌思想——故障会来，不如主动让它来一次</a:t>
            </a:r>
            <a:endParaRPr lang="en-US" sz="1500" dirty="0"/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发布可靠性 + 16.4.2 下线可靠性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651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发布：滚动更新策略调优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25%/25%：允许短暂少 1 个副本（快速但有小中断）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176272"/>
            <a:ext cx="356616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21762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maxUnavailable: 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maxSurge: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 0/1：任何时刻不少服务 + 多起一个 → 新 Pod 就绪（readiness）→ 才停旧的 → 零中断发布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651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下线：优雅终止深化（§4.4.4）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01184" y="1719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完整流程：摘流量 → preStop → SIGTERM → grace period → SIGKILL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做反注册/排空（sleep 或调注册中心 API）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grace period 要够：默认 30s，不够调大 terminationGracePeriodSeconds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验证：发布/缩容时观察旧 Pod 是否“优雅退出”（describe 看 Killing 事件时间线）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64008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前提：新 Pod 必须配 readinessProbe——没有探针的滚动更新是“盲更新”；优雅终止的配置是生产标准动作</a:t>
            </a:r>
            <a:endParaRPr lang="en-US" sz="1350" dirty="0"/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驱逐可靠性 + 16.4.4 主动演练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驱逐可靠性：PDB 保护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ALLOWED DISRUPTIONS = 可用副本 − minAvailable（第 6 章 §6.5.2）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价值：节点维护/升级（第 14 章）时业务无损的保障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578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核心服务必配：数据库 / 网关 / 所有多副本应用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9626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边界：只保护自愿中断（drain），节点宕机管不了（那是控制器自愈的事）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主动演练：混沌思想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01184" y="1719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“故障会来，不如主动让它来一次”——混沌工程思想（Netflix Chaos Monkey 起源）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受控演练：杀一个 Pod → 验证自愈（ReplicaSet 重建）；停一台 worker（drain + 关机）→ 验证业务迁移 + PDB；断一个副本的网络 → 验证 Service 只把流量给就绪 Pod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目的：验证“系统宣称的能力”真的存在——平时演练过，真出事才不慌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本课程实验 10 Lab 5 与实验 02 Lab 9 的删除对比，就是最小的主动演练。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 = 发布不中断 + 下线不丢请求 + 驱逐有保护——三件套对应“怎么不出事”</a:t>
            </a:r>
            <a:endParaRPr lang="en-US" sz="1150" dirty="0"/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 运营规范：把可靠性“制度化”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834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 / Error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SLI（指标）→ SLO（目标）→ SLA（对外承诺）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 SLI：可用性（成功/总请求）、延迟（P99）、吞吐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487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核心交易：可用性 ≥99.95%，P99 &lt; 500ms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内部工具：可用性 ≥99.9%，P99 &lt; 2s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Budget：99.95% SLO = 每月允许 21.9 分钟不可用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预算耗尽 → 冻结新功能发布聚焦稳定性；充足 → 可激进发布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54864" cy="2834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故障复盘（Post-mortem）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模板：① 事件概要（何时/多久/影响范围）② 时间线（精确到分钟）③ 根因分析（5 Whys）④ 影响评估 ⑤ 改进措施（每条有 Owner + Deadline）⑥ 经验教训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文化：对事不对人（Blameless）；72 小时内完成初稿；改进项进入排期跟踪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8046720" cy="7315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24528"/>
            <a:ext cx="64008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245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核心认知：复盘的价值不在“追责”而在“系统改进”——每个改进措施闭环，SLO 才会逐年提高（配合第 14 章 §14.6 运维日历执行）。</a:t>
            </a:r>
            <a:endParaRPr lang="en-US" sz="2000" dirty="0"/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10“故障排查”（5 个 Lab）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1673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71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排查三板斧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 / logs / events 的标准动作（§16.1.2 的实操）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75104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75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29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CrashLoopBackOff 排查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185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bad-image（ImagePullBackOff）+ bad-cmd（CrashLoop）→ 退出码定位（§16.2.2）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5117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3347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节点 NotReady 排查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28437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服务与日志定位（§16.2.1）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0954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Service/DNS 排查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5021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错 → Endpoints 空 → 修复闭环（§16.2.4）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50208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可靠性演练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160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 0/1 调优 + preStop 优雅下线 + PDB 计算（§16.4）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1-4 是排障（出事怎么查），Lab 5 是可靠性（怎么不出事）——排障 + 可靠性 = 域 5 的完整能力</a:t>
            </a:r>
            <a:endParaRPr lang="en-US" sz="1150" dirty="0"/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分层框架：节点 → Pod → 容器 → 网络 → 存储，从外到内、每层专属命令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证据链：现象 → 事件（describe/get events）→ 日志（logs --previous）→ 指标（top）→ 根因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三条纪律：报错即答案、先恢复再排查、一次只改一个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故障图谱：12 类典型故障的现象 → 第一步 → 根因 → 修复（速查表）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可靠性三件套：滚动更新 0/1（发布不中断，前提是 readiness）+ 优雅终止（下线不丢请求，preStop + grace）+ PDB（驱逐有保护）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主动演练：杀 Pod/杀节点验证自愈——“宣称的能力”要演练过才算数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17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18 章综合实战——用 WordPress 把全书机制串成真实应用，排障方法论将用于全链路故障定位</a:t>
            </a:r>
            <a:endParaRPr lang="en-US" sz="1100" dirty="0"/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3385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一个“503 Service Unavailable”，你的排查顺序是什么？（从分层框架出发写完整步骤）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093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和 kubectl logs --previous 的区别？什么场景必须用 --previous？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21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CrashLoop 退出码 137 和 143 分别意味着什么？怎么进一步确认？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“报错即答案”——举三个报错例子，说明它们各自直说了什么问题？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1455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滚动更新要“零中断”，除了 maxUnavailable: 0 还需要什么配置？（提示：readiness）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为什么说“PDB 只管自愿中断”？节点宕机时谁在保护业务？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169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主动演练的最小实践是什么？在实验环境怎么验证“自愈”？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考点标注（域 5，30%，权重最高）：describe Events 段、退出码解读、NotReady（kubelet）、Service/DNS（Endpoints）、PVC、Forbidden、exceeded quota、PDB、滚动更新、优雅终止。</a:t>
            </a:r>
            <a:endParaRPr lang="en-US" sz="1200" dirty="0"/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章 Helm 与 Kustomize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应用打包与部署 · Chart/Release/Repository · values 模板渲染 · base/overlay · 企业交付流程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 Lab 6 / 实验 13）</a:t>
            </a:r>
            <a:endParaRPr lang="en-US" sz="1200" dirty="0"/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说出裸 YAML 管理在生产中的三个痛点，以及工具链的解决思路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Helm 的核心模型（Chart / Release / Repository）与 Chart 目录结构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理解模板化原理（values 注入 + 模板渲染）与 install / upgrade / rollback 的版本机制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Kustomize 的 base / overlay 定制机制，说出它与 Helm 的定位差异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设计一个企业应用交付流程（Chart 版本化 + 多环境 values + CI/CD 集成）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 CRD 与 Operator 是 Kubernetes 的扩展机制（为第 18 章展望铺垫）</a:t>
            </a:r>
            <a:endParaRPr lang="en-US" sz="1350" dirty="0"/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为什么需要应用交付工具链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裸 YAML 管理的三个痛点：重复 / 无法参数化 / 无版本管理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工具链定位：Helm（打包与发布）+ Kustomize（配置定制）互补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决策逻辑：应用要分发/复用 → Helm；项目内多环境 → Kustomize</a:t>
            </a:r>
            <a:endParaRPr lang="en-US" sz="1500" dirty="0"/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YAML 管理的三个痛点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每个环境（dev / staging / prod）都要一份几乎一样的 YAML，只差镜像 tag、副本数、域名——复制粘贴，改一处漏三处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215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无法参数化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 Deployment 模板，环境不同值不同——YAML 里没有“变量”概念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无版本管理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0936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文件散落，没有“应用包”的概念——回滚、分发、依赖管理无从谈起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1188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教学清晰 ≠ 生产可用：第 18 章 WordPress 用十几个裸 YAML 手动管理——生产立刻会遇到这些痛点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工具链解决思路：把“变与不变”分离——结构写一次、差异参数化 / 补丁化、包版本化管理。</a:t>
            </a:r>
            <a:endParaRPr lang="en-US" sz="1200" dirty="0"/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工具链的定位（两个互补的工具）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打包与发布：把一组资源打包成 Chart（应用包），带模板和默认值，一条命令安装 / 升级 / 回滚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Linux 的 apt / yum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Kustomize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配置定制：不引入模板语言，用 overlay 覆盖 base——“原样 + 差异”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配置补丁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61188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767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决策逻辑：应用要分发 / 复用 → Helm；自己项目的多环境定制 → Kustomize；两者也可组合（Helm 渲染后 Kustomize 再补丁，生产常见）。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2245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本教材重点讲 Helm（更常用、CKAD 考点），Kustomize 讲清定位与机制。</a:t>
            </a:r>
            <a:endParaRPr lang="en-US" sz="1150" dirty="0"/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Helm：Kubernetes 的包管理器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核心模型：Chart（安装包）/ Release（运行实例）/ Repository（软件源）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Chart 目录结构 + 模板化原理（values 注入 → 渲染出最终 YAML）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常用命令与 revision 版本回滚机制（实验 09 Lab 6 / 实验 13）</a:t>
            </a:r>
            <a:endParaRPr lang="en-US" sz="1500" dirty="0"/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核心模型（三个概念）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（安装包）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打包单元：资源模板 + 默认值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 .deb / .rpm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44368" y="1572768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install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21945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23444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3716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（运行实例）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057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一次安装的实例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有名字、版本号、可回滚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79008" y="1572768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/ 获取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21945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23444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3716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（软件源）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 的存放与分发中心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repo add 添加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8046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54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helm install → Chart 变成 Release：同一 Chart 可多次安装成多个 Release（如 dev/web、prod/web）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Repository 是 Chart 的“软件源”：helm repo add 添加、发布/获取 Chart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Release 有版本号（revision）可回滚——这是“包管理器”价值的基础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 Lab 1：Chart 结构解剖 / 打包发布）</a:t>
            </a:r>
            <a:endParaRPr lang="en-US" sz="1100" dirty="0"/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 目录结构（解剖一个应用包）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457200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Chart.yaml          # 元数据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# name/version/appVersion/依赖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values.yaml         # 默认配置值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# （镜像 tag/副本数/域名）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values-prod.yaml    # （可选）环境覆盖值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          # 资源模板（Go template）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ingress.yaml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_helpers.tpl    # 公共模板片段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charts/             # （可选）子 Chart 依赖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49240" y="1234440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1234440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307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Chart.yaml — 元数据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0" y="1600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/ version / appVersion / 依赖声明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2039112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2039112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112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values.yaml — 默认值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2404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tag、副本数、域名……“变化”都在这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2843784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843784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916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templates/ — 模板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7840" y="3209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资源模板，Go template 语法，values 注入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648456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3648456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charts/ — 子 Chart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77840" y="40142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可选依赖；_helpers.tpl 为公共片段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451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核心认知：模板里写结构、values 里写变化——安装时用 values 渲染出最终 YAML</a:t>
            </a:r>
            <a:endParaRPr lang="en-US" sz="1250" dirty="0"/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模板化原理（values 注入 + 渲染）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530352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templates/deployment.yaml（片段）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{{ .Values.replicaCount }}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{{ .Values.image.repository }}:{{ .Values.image.tag }}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replicaCount: 3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repository: nginx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tag: "1.27"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渲染结果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nginx:1.27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0" y="1188720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18872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280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模板语言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5910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template：{{ .Values.xxx }} 取值、条件、循环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2267712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2267712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 优先级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670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--set 命令行 &gt; 指定 values 文件 &gt; values.yaml 默认值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3346704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3346704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438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渲染检查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template myapp ./myapp——先看渲染结果再装（排障利器）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13：values 多环境——同一 Chart 在不同环境渲染出不同 YAML）</a:t>
            </a:r>
            <a:endParaRPr lang="en-US" sz="1100" dirty="0"/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常用命令（安装 / 升级 / 回滚）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bitnami https://charts.bitnami.com/bitnami   # 添加仓库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nginx                                      # 搜索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my-release ./myapp                             # 安装（首次）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my-release ./myapp -f values-prod.yaml         # 带环境配置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my-release ./myapp --set image.tag=1.28        # 升级（改 values）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my-release 1                                  # 回滚到 revision 1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                                                   # 查看 Release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my-release                                   # 卸载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657600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版本与回滚：install → revision 1 → upgrade → revision 2 → rollback 回到 2——与第 5 章 Deployment 的 revision 机制同源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每次变更留历史、出问题一键回滚——包管理器的价值：应用级回滚，不止资源级（实验 09 Lab 6 装过 dashboard；实验 13 演练全流程）</a:t>
            </a:r>
            <a:endParaRPr lang="en-US" sz="1200" dirty="0"/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Kustomize：环境化定制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理念相反：不引入模板语言——资源保持原样，用覆盖表达差异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机制：base（标准资源）+ overlay（环境差异补丁）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apply -k：kubectl 内置支持，无需额外工具</a:t>
            </a:r>
            <a:endParaRPr lang="en-US" sz="1500" dirty="0"/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定位与机制：不用模板，用覆盖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480560" cy="29260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base/（一份“标准”资源）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deployment.yaml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replicas: 3, image: nginx:1.27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kustomization.yaml   # 声明资源清单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overlays/prod/（环境差异）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kustomization.yaml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 replicas: 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 image tag: 1.28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改域名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57800" y="1188720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188720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298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base：一份标准资源，其他环境都从它派生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57800" y="2121408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2121408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23113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overlay：环境的差异描述——patches 补丁 / 覆盖 / 加前缀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3054096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3054096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1638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无需模板语法：diff 式思维“标准 + 差异”，差异即变更，容易 review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-k overlays/prod    # -k = kustomize（kubectl 内置支持）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 Lab 3：Kustomize 多环境对比）</a:t>
            </a:r>
            <a:endParaRPr lang="en-US" sz="1100" dirty="0"/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vs Kustomize（决策逻辑）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2004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Kustomize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+ values（渲染）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 + overlay（覆盖）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学习曲线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需学 Go template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平缓（无模板语言）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分发/复用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强（Chart 可发布到仓库）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弱（目录内使用）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强（Release revision）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无（靠 git）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支持（charts 依赖）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应用打包分发、第三方应用安装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项目内多环境定制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决策逻辑：装别人的应用 / 发布自己的应用包 → Helm；自己项目 dev/prod 差异化 → Kustomize。生产常见组合：Helm 装基础组件（如 Prometheus Operator），Kustomize 管业务应用的环境差异。</a:t>
            </a:r>
            <a:endParaRPr lang="en-US" sz="1150" dirty="0"/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企业发布流程（Helm + CI/CD）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481328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构建镜像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推仓库（tag v1.2.3）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76272" y="1188720"/>
            <a:ext cx="1481328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更新 Chart values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（image tag）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39312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3904" y="1188720"/>
            <a:ext cx="1481328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打包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package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66944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1188720"/>
            <a:ext cx="1481328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发布到 Chart 仓库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（私有 repo / OCI）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94576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59168" y="1188720"/>
            <a:ext cx="1481328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部署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upgrade --install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values-prod.yaml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五步闭环：镜像与 Chart 都版本化（v1.2.3）；打包 / 发布在 CI 自动完成，部署时只传参数（upgrade --install 幂等 + 环境 values）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多环境管理：一套 Chart 跑所有环境（配置外部化——第 8 章思想在交付层的延伸）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values.yaml 默认值 + 各环境独立覆盖：dev（副本 1 / latest / 测试域名）、prod（副本 5 / 固定 tag / 正式域名 + TLS）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593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./myapp -f values-dev.yaml  --namespace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867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./myapp -f values-prod.yaml --namespace prod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安全（概念）：Chart 签名验证（provenance，--verify）防供应链投毒 · 私有 Chart 仓库访问控制 · 生产用固定镜像 tag（不用 latest，复用第 4 章拉取策略）</a:t>
            </a:r>
            <a:endParaRPr lang="en-US" sz="1150" dirty="0"/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痛点：裸 YAML 重复 / 无法参数化 / 无版本管理——工具链的解决思路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92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Helm：Chart（包）→ Release（实例）→ Repository（仓库）；values.yaml + templates/ 渲染出最终 YAML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95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全生命周期：install / upgrade / rollback——revision 机制支持应用级回滚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99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Kustomize：base + overlay 覆盖式定制（无模板语言）；kubectl apply -k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027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选型：分发 / 装第三方 → Helm；项目内多环境 → Kustomize；两者可组合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企业流程：Chart 版本化 + 多环境 values + CI/CD——“一套 Chart 跑所有环境”；扩展铺垫：CRD + Operator（第 18 章展望）</a:t>
            </a:r>
            <a:endParaRPr lang="en-US" sz="1300" dirty="0"/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Chart、Release、Repository 分别是什么？两次 helm install same-chart 会产生什么？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 的优先级顺序是什么？--set 与 -f 文件、values.yaml 谁覆盖谁？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template 有什么用途？（提示：先看渲染结果再装）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与 Kustomize 的核心机制差异？什么场景选 Kustomize？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为什么生产推荐固定镜像 tag 而不是 latest？（结合第 4 章拉取策略）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upgrade --install 的幂等语义是什么？生产为什么常用它？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考点标注：Helm 为 CKAD 考点（Chart 安装 / 升级 / 回滚、values 定制）；Kustomize 的 kubectl apply -k 属 CKAD 常用操作；CKA 以实验 13 实践为主、非直接考点。</a:t>
            </a:r>
            <a:endParaRPr lang="en-US" sz="1200" dirty="0"/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章 综合实战：应用发布全流程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 → 逐层落地 → 三层验证 → 规范清理 · CRD 与 Operator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11）</a:t>
            </a:r>
            <a:endParaRPr lang="en-US" sz="1200" dirty="0"/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从需求出发设计一个 Web 应用的集群架构（数据/应用分离原则）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用全书机制逐层落地：Secret/PVC → Deployment/探针 → Service/Ingress → HPA → PDB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说出“为什么前端无状态、数据库有状态”的架构决策依据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执行三层验证（全链路/持久化/扩展）并解释每个验证证明什么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说出多副本共享存储的限制与应对（local-path 的边界认知）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按规范顺序清理整套应用（先入口后数据）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= 全书机制的“总装”：用一个真实应用（WordPress 站点）把第 4-16 章核心机制串成完整链路——配套实验 11“综合演练：WordPress 应用发布”（5 个 Lab）。</a:t>
            </a:r>
            <a:endParaRPr lang="en-US" sz="1150" dirty="0"/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从需求到架构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需求拆解：一个博客站 → 四个子问题（数据 / 密码 / 前端 / 访问）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架构核心原则：数据与应用分离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前端无状态多副本 · 数据库有状态独立存储</a:t>
            </a:r>
            <a:endParaRPr lang="en-US" sz="1500" dirty="0"/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需求拆解：一个需求，四个子问题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需求：发布一个 WordPress 博客站——域名访问、可注册发文、数据不能丢、流量大了能扛。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拆成四个子问题，每个都对应前面某章机制。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数据放哪？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数据库（独立有状态）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章 StatefulSet 思想、第 10 章存储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密码怎么管？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Secret 注入（不落 yaml）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8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前端怎么跑？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WordPress 多副本 Deployment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怎么访问？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+ Ingress（域名）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需求拆解 = 把业务问题翻译成技术选型：数据（第 5/10 章）、凭据（第 8 章）、应用（第 5 章）、访问（第 9 章）。</a:t>
            </a:r>
            <a:endParaRPr lang="en-US" sz="1150" dirty="0"/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架构设计：数据与应用分离（核心原则）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17904" y="12070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214884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43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wp.example.com 域名路由 + TLS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86784" y="12070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182880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 负载均衡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前端线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数据线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48840"/>
            <a:ext cx="54864" cy="1188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Deployment（前端 · 无状态）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 + HPA + 探针——删了重建不影响业务，可随时折腾（扩缩/滚动更新）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数据挂 PVC：wordpress-pvc（上传文件/主题）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4884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StatefulSet（数据库 · 有状态）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 mysql-0 · 有序启动 · 独立 PVC（数据持久、身份稳定）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 = Secret mysql-pass（不落 yaml）；经 MySQL Service 服务名连接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52044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520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读图要点：一条入口、两条数据线——所有流量经 Ingress → Service 分发；前端无状态挂 PVC，数据库有状态独立 PVC + Secret。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0624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06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决策记忆：“能无状态就无状态，必须有状态就给它最稳妥的家”——分离是容器化架构的第一原则。</a:t>
            </a:r>
            <a:endParaRPr lang="en-US" sz="2000" dirty="0"/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逐层落地（全书机制总装）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数据层：Secret + PVC + StatefulSet（MySQL 有状态）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应用层：Deployment + PVC + 探针（WordPress 无状态）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访问层：Service + Ingress · 扩展层：HPA · 保护层：PDB / 配额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每一层都是前面某章机制的“总装”</a:t>
            </a:r>
            <a:endParaRPr lang="en-US" sz="1500" dirty="0"/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数据层：MySQL + Secret + PVC（StatefulSet）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243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25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Secret：mysql-pass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密码只存 Secret，yaml 零明文（第 8 章）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243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225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模板：volumeClaimTemplates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每个副本独立 PVC，数据落节点（第 10 章）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2494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231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StatefulSet：mysql 单副本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80160" y="2560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从 Secret 注入 · 稳定标识 mysql-0（第 5 章）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0312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8032" y="22494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231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Service：ClusterIP / headless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94960" y="2560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应用用服务名连接，不关心 Pod IP（第 9 章）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246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反模式警示：Deployment 跑数据库 = Pod 名随机、存储不绑定——有状态应用必须 StatefulSet。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“单副本”决策：数据库不适合随意多副本（写冲突）——教学环境单点，生产用主从（第 14 章 HA 思想）。</a:t>
            </a:r>
            <a:endParaRPr lang="en-US" sz="1150" dirty="0"/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应用层与访问层：Deployment 双线 + Service/Ingress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886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9659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· WordPress + Deployment + PVC（18.2.2）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PVC：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wordpress-pvc 存主题/上传文件——用户数据的持久化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Deployment：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 + env（WORDPRESS_DB_HOST=mysql 服务名）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readinessProbe：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就绪才接流量（滚动更新/Service 的前提）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上传的图片/主题属“应用数据”——删 Pod 数据还在（实验 11 Lab 5 验证）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886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4864" cy="1965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访问层 · Service + Ingress（18.2.3）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Service：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ClusterIP（内部负载均衡）→ 第 9 章 §9.2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Ingress：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wp.example.com → wordpress Service（域名路由）→ 第 9 章 §9.4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访问验证：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指定 Host 头访问 NodePort（见下方命令）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是 Pod 之上的稳定访问层，Ingress 是集群入口的域名路由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548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wp.example.com" http://节点IP:NodePort/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链路：wp.example.com → Ingress → Service → Pod（先通 Service，再接 Ingress，逐层验证）。</a:t>
            </a:r>
            <a:endParaRPr lang="en-US" sz="1150" dirty="0"/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扩展层：HPA + 多副本（存储限制的认知）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scale 到多副本（第 5 章）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93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wordpress --replicas=5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Pod 变 5，多副本分担流量（同一节点可共存）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HPA：CPU 超目标自动扩缩（第 7 章）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093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 观测 CPU → 自动调整 replicas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观察：kubectl get hpa（超出目标自动扩）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0604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local-path 的边界（第 10 章 §10.5.1）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7238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wordpress-pvc 是节点本地存储：多副本跨节点时 PVC 无法同时挂载（RWO + 单节点）→ 教学环境“多副本”堆在同一节点；生产多副本共享存储必须用 NFS / 云盘。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这个限制就是第 10 章选型知识的实战体现：存储选型决定你能怎么扩展。</a:t>
            </a:r>
            <a:endParaRPr lang="en-US" sz="1200" dirty="0"/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保护层：探针 / 优雅终止 / PDB（生产加配）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生产版还应有（本课程实验为教学简化版）：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 + livenessProbe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readinessProbe（已配）+ livenessProbe 防死锁 → 第 4 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排空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发布不丢请求 → 第 4 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551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PDB（PodDisruptionBudget）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min-available=1，节点维护有保护 → 第 6 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18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ResourceQuota / LimitRange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命名空间治理 → 第 7 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“能跑”与“生产可用”的差距就在保护层——演练跑通链路后，对照保护层清单逐项补配。</a:t>
            </a:r>
            <a:endParaRPr lang="en-US" sz="1200" dirty="0"/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验证体系：怎么证明“能用了”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三个验证对应三层承诺：通不通（全链路）· 丢不丢（持久化）· 够不够（扩展）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143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全链路验证 —— 证明“链路通了”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wp.example.com" http://节点IP:NodePort/wp-admin/install.php  →  返回 WordPress 安装页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证明：Ingress 路由 ✓ → Service 转发 ✓ → Pod 运行 ✓ → MySQL 连通 ✓；首次访问 302 到安装页，用 -L 跟随（实验 11 实测）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43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持久化验证 —— 证明“数据不丢”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persistence-ok &gt; /var/www/html/persist.txt（PVC 里） → 删除全部 WordPress Pod → 新 Pod cat 读取 → persistence-ok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证明：PVC 持久化生效（第 10 章“删 Pod 数据还在”）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4048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扩展验证 —— 证明“能扛流量”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wordpress --replicas=5 → Pod 变 5；kubectl get hpa（CPU 超目标自动扩）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证明：弹性机制就绪（第 5 / 7 章）</a:t>
            </a:r>
            <a:endParaRPr lang="en-US" sz="1050" dirty="0"/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清理规范：先入口后数据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清理顺序的原则：先停流量 → 再删应用 → 最后删数据（第 10 章“PVC 删除 = 数据删除”）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37360" cy="12344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入口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Ingress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HPA（先停流量与伸缩）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042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737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应用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Service（工作负载消失）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616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737360" cy="12344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数据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PVC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确认数据不要了才删！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463040"/>
            <a:ext cx="1737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凭据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122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最后删命名空间（清残留）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删除顺序的意义：流量与伸缩先停，避免删除过程中仍有请求进来；工作负载消失后再动数据，避免重建读取失败。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删除 = 数据物理删除（local-path Delete 回收）——确认不要数据再删；想保留就留着 PVC。</a:t>
            </a:r>
            <a:endParaRPr lang="en-US" sz="1200" dirty="0"/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展望：CRD 与 Operator（集群扩展机制）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17 章用的是 Kubernetes 内置资源（Pod / Deployment / Service…）；生产中还常见“会自我管理”的扩展资源（cert-manager 自动签发证书、Prometheus Operator 管理监控）——它们的底座就是 CRD + Operator。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CRD：自定义资源定义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Kubernetes 认识“你自己的资源类型”——业务对象成为一等公民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Certificate → apply 创建 → kubectl get certificates 查看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注意：CRD 只是“数据表”——对象创建了，谁来处理它？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Operator：CRD + 控制器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“会处理自定义资源的控制器”（第 5 章控制循环模式复用）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cert-manager：声明 Certificate → 自动申请/校验/签发 → 写入 tls Secret → 到期续期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9 章 Ingress TLS 的证书从此“自动化”）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94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Operator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cert-manager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证书自动签发与续期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Prometheus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/ Grafana 实例的生命周期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云厂商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云资源（数据库 / 负载均衡）即代码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数据库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/ PostgreSQL 集群（主从 / 备份）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决策逻辑：资源是“标准 K8s 对象”→ 用 Helm 装（第 17 章）；需要“应用自身运维逻辑”→ 找/写 Operator（CRD + 控制器）——Helm 解决“怎么装”，Operator 解决“装完怎么自我管理”。</a:t>
            </a:r>
            <a:endParaRPr lang="en-US" sz="1100" dirty="0"/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11“综合演练：WordPress 应用发布”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MySQL 数据库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Secret + PVC + Service（数据层落地 §18.2.1）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发布 WordPress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Deployment + env + PVC + readinessProbe（应用层 §18.2.2）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水平扩展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多副本 + HPA（扩展层 §18.2.4）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Ingress 域名发布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wp.example.com 路由 + 全链路验证（§18.2.3 / 18.3.1）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数据持久化验证 + 清理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删 Pod 数据仍在 + 按序清理（§18.3.2 / 18.4）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教学建议：本章是“毕业设计”——不看书能独立完成 5 个 Lab 并解释每个配置为什么，才算真正掌握全书。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完成后再对照 §18.2.5 保护层清单（PDB / 配额）补配，做生产化练习。</a:t>
            </a:r>
            <a:endParaRPr lang="en-US" sz="1150" dirty="0"/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978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97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704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架构设计：需求拆解 → 数据与应用分离（无状态多副本 + 有状态独立存储）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739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逐层落地：Secret/PVC（数据）→ Deployment/探针（应用）→ Service/Ingress（访问）→ HPA（扩展）→ PDB/配额（保护）——每层都是前面某章的“总装”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边界：多副本共享 PVC 受限（RWO / 单节点）——生产用 NFS / 云盘（第 10 章选型实战）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0083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80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三层验证：全链路（通不通）/ 持久化（丢不丢）/ 扩展（够不够）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844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清理规范：先入口 → 再应用 → 后数据（PVC 删除 = 数据删除）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87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生产化差距：保护层（liveness / preStop / PDB / 配额）是“能跑”与“生产可用”的差距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19 章 CKA 考试指南——把全书知识转化为考试能力（考点速查、时间策略、模拟演练）。</a:t>
            </a:r>
            <a:endParaRPr lang="en-US" sz="1100" dirty="0"/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WordPress 前端可以多副本，MySQL 却保持单副本？（数据与应用分离原则）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本演练中“多副本”实际堆在同一节点——为什么？生产怎么解决？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验证“持久化”时，为什么要删除全部 Pod 再读？（而不是读正在运行的 Pod）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清理时为什么“先删 Ingress / HPA 再删 Deployment”？（提示：流量与伸缩）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要发布一个“有上传文件、多副本、要扛流量”的站点，存储方案怎么选（对比 local-path / NFS / 云盘）？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这个演练里哪些配置属于“保护层”（生产必配但教学简化）？补全后的完整清单是什么？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考点（全部 5 域综合）：Secret 注入 / PVC / Service+Ingress / HPA / 探针 / PDB——Lab 能独立完成即实操达标。</a:t>
            </a:r>
            <a:endParaRPr lang="en-US" sz="1200" dirty="0"/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章 CKA 考试指南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 · 五大域考点浓缩 · 效率技巧 · 常见陷阱 · 备考路线图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备考冲刺章（实验 01-12 即题库）</a:t>
            </a:r>
            <a:endParaRPr lang="en-US" sz="1200" dirty="0"/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CKA 的考试形式与规则：时长 / 题型 / 环境 / 评分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按五大域列出考点浓缩清单：命令 / 机制 / 对应章节与实验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511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掌握考试效率技巧：dry-run 生成 yaml、上下文切换、时间分配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369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095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v1.36 语法差异与高频易错点（陷阱清单）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67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制定自己的备考路线图并执行模拟演练（实验 11 自测）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是实操考试——会做比会背重要；本章所有技巧都建立在前面章节的动手基础上。</a:t>
            </a:r>
            <a:endParaRPr lang="en-US" sz="1250" dirty="0"/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在线实操：2 小时 · 约 15-20 道题 · 每题一个集群场景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多集群终端：每题先 use-context 切换——答错集群 = 白做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无外网：kubectl explain 是唯一字典 · 按结果评分（部分得分）</a:t>
            </a:r>
            <a:endParaRPr lang="en-US" sz="1500" dirty="0"/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在线实操：真实集群终端，不是选择题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小时 · 约 15-20 道题 · 每题一个集群场景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浏览器内终端 + 多个预置集群（不同 context）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无外网：镜像/文档都取不到——靠记忆和命令补全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按操作结果（对象是否正确创建/配置）——部分得分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环境要点与评分思路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14216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9867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多集群：每题开头 kubectl config use-context &lt;目标&gt; 切换——答错集群 = 白做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245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补全默认可用 + vi/nano 编辑器；无外网不能用在线文档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4622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按“期望对象是否达标”给分——partial credit 存在，做一半有一半分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727448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7000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时间策略：每题平均 7 分钟，卡住 5 分钟就跳过，回头再补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无外网环境：kubectl explain 是唯一字典——所有命令与字段结构靠记忆 + 命令补全。</a:t>
            </a:r>
            <a:endParaRPr lang="en-US" sz="1200" dirty="0"/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五大域考点浓缩（全书速查）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域 1 集群架构 25% · 域 2 工作负载 15% · 域 3 网络 20%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域 4 存储 10% · 域 5 故障排查 30%（第一重）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每域 = 考点 + 关键命令/机制 + 教材/实验定位</a:t>
            </a:r>
            <a:endParaRPr lang="en-US" sz="1500" dirty="0"/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1 集群架构、安装与配置（25%）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关键命令 / 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 / 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组件职责与通信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唯一入口、etcd 状态存储、kubelet 心跳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第2/3章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init/join、token 续发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第3章/实验01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备份恢复 ★必考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etcdctl snapshot save/status/restore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第14章/实验12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certs check-expiration/renew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第13章/实验09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upgrade plan/apply、worker 逐台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第14章/实验12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cordon/drain/uncordon、PDB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第6/14章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RBAC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role/clusterrole/rolebinding/clusterrolebinding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第11章/实验09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静态加密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EncryptionConfiguration（aescbc/identity）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第13章/实验09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1 实操主战场：实验 01（装集群）/ 09（证书与 RBAC）/ 12（etcd 备份恢复）——etcd 备份恢复为必考实操。</a:t>
            </a:r>
            <a:endParaRPr lang="en-US" sz="1200" dirty="0"/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工作负载与调度（15%） · 域 3 服务与网络（20%）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工作负载与调度（15%）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3 服务与网络（20%）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配置：探针三件套、resources、restartPolicy、imagePullPolicy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第4章/实验02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控制器：Deployment 滚动更新/回滚（rollout status/undo）、STS/DS/Job/CronJob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第5章/实验03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调度：nodeSelector、亲和（required/preferred）、污点容忍（三种 effect）、PDB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第6章/实验04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HPA：kubectl autoscale --cpu=60% --min --max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第7章/实验05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Service：expose、类型（ClusterIP/NodePort/headless）、Endpoints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Ingress：host/path 规则、TLS（tls Secret）、ingressClassName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NetworkPolicy：podSelector/ipBlock、ingress/egress、放行 DNS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DNS：svc.ns.svc 解析、nslookup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+ 域 3 合计 35%：对应实验 02（Pod）/ 03（控制器）/ 04（调度）/ 05（HPA）/ 07（Service、Ingress、NetworkPolicy）。</a:t>
            </a:r>
            <a:endParaRPr lang="en-US" sz="1200" dirty="0"/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4 存储（10%） · 域 5 故障排查（30%——第一重）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4 存储（10%）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5 故障排查（30%）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PV/PVC：静态绑定（容量/访问模式/SC 匹配）、storageClassName: ""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StorageClass：provisioner、默认类、WaitForFirstConsumer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卷：emptyDir/hostPath 的边界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三板斧：describe（Events）/ logs（--previous）/ events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15/16章/实验10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典型故障：CrashLoop（退出码）、ImagePullBackOff、NotReady（kubelet）、Service/DNS、PVC、Forbidden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第16章/实验10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排障纪律：报错即答案、先恢复再排查、一次只改一个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第16章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备考重心：域 5（30%）+ 域 1（25%）= 55%——实验 10 与实验 01/12 的实操价值最高。</a:t>
            </a:r>
            <a:endParaRPr lang="en-US" sz="1200" dirty="0"/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考试技巧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时间管理：先易后难 · 每题限时 7 分钟 · 留 15 分钟复查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效率：dry-run 生成 yaml · jsonpath · tmux 分屏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上下文切换：每题的“第一动作”，切完立即验证</a:t>
            </a:r>
            <a:endParaRPr lang="en-US" sz="1500" dirty="0"/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效率技巧（核心）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dry-run 生成 yaml 骨架再修改——比手写快且不易错，是考试最省时的技巧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dry-run 生成骨架 → 改 → apply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8046720" cy="138988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91056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web --image=nginx --dry-run=client -o yaml &gt; web.yaml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run nginx --image=nginx --dry-run=client -o yaml &gt; pod.yaml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job myjob --image=busybox --dry-run=client -o yaml &gt; job.yaml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web.yaml                     # 改完应用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写 yaml 查字段 / jsonpath 提取（CKA 常考 1-2 题）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8046720" cy="11887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64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explain pod.spec.containers.livenessProbe   # 无外网时的唯一字典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-o jsonpath='{.items[*].status.addresses[?(@.type=="InternalIP")].address}'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custom-columns=NAME:.metadata.name,NODE:.spec.nodeName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681728"/>
            <a:ext cx="54864" cy="38404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6817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别名与补全：alias k=kubectl · kubectl get pods -o wide · tmux 分屏（Ctrl+B 后 % 左右 / " 上下——左屏敲命令、右屏看 yaml）</a:t>
            </a:r>
            <a:endParaRPr lang="en-US" sz="1100" dirty="0"/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 · 上下文切换 · 保存进度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时间管理（19.3.1）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105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先易后难：先做有把握的，难题最后啃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每题限时：平均 7 分钟；卡住 5 分钟 → 标记跳过，回头再补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24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 15 分钟复查：kubectl get 扫一遍确认创建成功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保存进度（19.3.4）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810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8105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 后立即验证：get &lt;对象&gt; 确认创建成功（RBAC/Ingress 易静默失败）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267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2677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修改类操作（scale/set image）后验证结果：get pods 数量/镜像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724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724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删除类操作确认：get 无结果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上下文切换（19.3.3）——每题的“第一动作”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675888"/>
            <a:ext cx="8046720" cy="84124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67588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                  # 看有哪些集群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&lt;题目指定的&gt;       # 切到目标集群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                           # 确认切对了（验证）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答错集群 = 白做——养成“每题开头切换 + 验证”的纪律。</a:t>
            </a:r>
            <a:endParaRPr lang="en-US" sz="1200" dirty="0"/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v1.36 语法差异（本课程基线实测）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旧习惯（教程常见）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v1.36 正确做法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exec -it pod bash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exec -it pod -- bash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 -- 分隔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autoscale --cpu-percent=50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--cpu-percent 已弃用（告警但可用）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参数弃用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run --requests/--limits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不支持（yaml 唯一方式）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unknown flag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 secret 找 SA token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create token &lt;sa&gt;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v1.24+ 无长期 token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run 创建 Deployment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创建 Pod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语义更准确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67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心理与操作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4133088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0965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不要慌：报错先读（报错即答案，第 16 章）；kubectl describe 是万能排障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4462272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4256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多集群别串：每题的 context 切换是纪律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791456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754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保存不丢：yaml 文件放当前目录即可——对象在集群里就计分</a:t>
            </a:r>
            <a:endParaRPr lang="en-US" sz="1150" dirty="0"/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配置易错点（考试高频扣分项）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与标签不匹配：Deployment/Service 的 selector 与 Pod 标签必须一致——Service 后端为空（Endpoints 空）的根因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命名空间：创建对象没带 -n → 建到 default（题目可能要求别的命名空间）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311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apiGroups 写错：核心组是 "" 不是别的组（RBAC 题）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34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范围：RoleBinding vs ClusterRoleBinding——题目要求“命名空间内”还是“全集群”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95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821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探针忘配 readiness：滚动更新/Service 相关题的关键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镜像名照抄：题目给的镜像名原样使用（tag 影响拉取策略）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330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忘写 storageClassName：有默认 SC 时走动态供应（题目可能要求静态绑定）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6817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这些坑都来自前面章节实验里的常见错误——踩过的坑就是考场的分。</a:t>
            </a:r>
            <a:endParaRPr lang="en-US" sz="1200" dirty="0"/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备考路线图（考前 4-6 周） · 模拟演练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8595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阶段一（2 周）体系建立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教材第 1-16 章通读 + 实验 01-12 全部亲手做一遍；重点：实验 01（装集群）/ 02（Pod）/ 10（排障）→ 产出：故障图谱 + 命令速查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49424"/>
            <a:ext cx="54864" cy="8595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阶段二（1-2 周）按域强化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263347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§19.2 五大域重刷对应实验：域 1 → 01/09/12（etcd 备份反复练）、域 2 → 02-05、域 3 → 07、域 4 → 08、域 5 → 10 → 每域 30 分钟内完成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18688"/>
            <a:ext cx="54864" cy="859536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38144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阶段三（1 周）模拟冲刺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80160" y="3602736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卡时间做模拟题（每题 7 分钟纪律）；dry-run 生成 yaml 练到肌肉记忆；考前 1-2 天过 §19.2 速查表 + §19.4 陷阱清单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模拟演练指引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实验 11（WordPress 综合演练）：不看手册独立完成 = 全书实操达标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自测：每个考点能不看教材说出“命令 + 关键参数 + 验证方式”（对照 §19.2 自查）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排障自测：实验 10 的 5 个 Lab 重做一遍，限时 45 分钟</a:t>
            </a:r>
            <a:endParaRPr lang="en-US" sz="1050" dirty="0"/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考试形式：2 小时在线实操、多集群、无外网——kubectl explain 是唯一字典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379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37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105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考点浓缩：域 5（30%）+ 域 1（25%）是重心；etcd 备份恢复是必考实操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323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三大技巧：dry-run 生成 yaml、每题先切 context、先易后难 + 留复查时间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540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陷阱清单：v1.36 语法（-- 分隔 / create token / 弃用参数）、selector 匹配、apiGroups、命名空间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75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备考路线图：体系建立 → 按域强化 → 模拟冲刺——实验手册就是题库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最后的话：给你一个真实集群，你能把它搭起来、把应用跑上去、把问题查出来——CKA 只是这个能力的证明。</a:t>
            </a:r>
            <a:endParaRPr lang="en-US" sz="1250" dirty="0"/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思考题（自测）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考试开始后第一件事是什么？（提示：不是做题）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无外网环境里，写 yaml 忘了字段结构怎么办？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RBAC 题要求“只读 default 命名空间的 Pod 和日志”，写出完整命令序列（含验证）。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备份恢复的完整命令序列？（写到能背的程度）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 17 题，一道题卡了 12 分钟，你怎么办？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用自己的话列出 v1.36 与旧教程的 5 个语法差异。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6817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考点标注：本章即备考本身——§19.2 五大域考点浓缩是考前的最终速查清单。</a:t>
            </a:r>
            <a:endParaRPr lang="en-US" sz="1200" dirty="0"/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45720" cy="29260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从容器原理到生产集群：装得起、看得懂、排得了、守得住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578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核心能力：声明式思维 · 控制循环 · 分层排障 · 最小权限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45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动手路线：实验 01-14 全流程真实集群演练（93 个 Lab）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7124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认证目标：CKA 五大域全覆盖（架构 / 工作负载 / 网络 / 存储 / 安全 / 排障）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祝各位顺利通过 CKA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