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45720" cy="2194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章 容器与云原生基础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D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容器原理 · Docker 三要素 · 编排器选型 · 云原生与 CNCF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容器云原生实战课程 · 配套实验手册（实验 01-14）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801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2344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解释容器的核心技术原理：命名空间隔离、cgroups 资源限制、镜像分层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34440" y="1892808"/>
            <a:ext cx="7223760" cy="0"/>
          </a:xfrm>
          <a:prstGeom prst="line">
            <a:avLst/>
          </a:prstGeom>
          <a:noFill/>
          <a:ln w="6350">
            <a:solidFill>
              <a:srgbClr val="D5DB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99339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93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94767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 Docker 的镜像 / 容器 / 仓库三要素及常用操作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234440" y="2606040"/>
            <a:ext cx="7223760" cy="0"/>
          </a:xfrm>
          <a:prstGeom prst="line">
            <a:avLst/>
          </a:prstGeom>
          <a:noFill/>
          <a:ln w="6350">
            <a:solidFill>
              <a:srgbClr val="D5DB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70662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066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660904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分析容器化应用在单机场景下的痛点，理解“为什么需要编排器”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234440" y="3319272"/>
            <a:ext cx="7223760" cy="0"/>
          </a:xfrm>
          <a:prstGeom prst="line">
            <a:avLst/>
          </a:prstGeom>
          <a:noFill/>
          <a:ln w="6350">
            <a:solidFill>
              <a:srgbClr val="D5DB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41985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198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374136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说明云原生（Cloud Native）的定义与 CNCF 生态定位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234440" y="4032504"/>
            <a:ext cx="7223760" cy="0"/>
          </a:xfrm>
          <a:prstGeom prst="line">
            <a:avLst/>
          </a:prstGeom>
          <a:noFill/>
          <a:ln w="6350">
            <a:solidFill>
              <a:srgbClr val="D5DB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1330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133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40873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 Kubernetes / Docker Swarm / Mesos，说出 Kubernetes 胜出的核心理由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容器技术原理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从虚拟机到容器：为什么容器更快更轻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命名空间（Namespaces）：隔离“看得见”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cgroups：限制“能用多少”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镜像分层（Layer）与 OCI 标准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虚拟机 vs 容器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337560"/>
                <a:gridCol w="33375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虚拟机（VM）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隔离级别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硬件级（Hypervisor 虚拟整机）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操作系统级（内核共享）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每个实例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 Guest OS（GB 级）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仅应用 + 依赖（MB 级）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启动时间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分钟级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秒级（进程级启动）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密度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低（每台机几十个）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高（每台机成百上千）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有虚拟化开销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接近原生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43484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44348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为什么容器更快更轻：容器共享宿主机内核，不虚拟硬件和操作系统——它只是宿主上的“一组受约束的进程”。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为什么容器更快更轻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914400"/>
          </a:xfrm>
          <a:prstGeom prst="rect">
            <a:avLst/>
          </a:prstGeom>
          <a:solidFill>
            <a:srgbClr val="EEF2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64008" cy="9144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1887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 = 宿主机上的“一组受约束的进程”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377440"/>
            <a:ext cx="54864" cy="16459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2560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不虚拟硬件和操作系统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30632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容器共享宿主机内核，没有 Hypervisor 层，没有 Guest OS——启动就是启动一个进程，自然秒级、轻量。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237744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2377440"/>
            <a:ext cx="54864" cy="16459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3" name="Text 11"/>
          <p:cNvSpPr/>
          <p:nvPr/>
        </p:nvSpPr>
        <p:spPr>
          <a:xfrm>
            <a:off x="4901184" y="2560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隔离与限制靠内核机制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01184" y="30632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命名空间（Namespaces）：隔离“看得见”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cgroups（Control Groups）：限制“能用多少”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438912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3891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这是容器与虚拟机的本质区别：VM 是“模拟一台机器”，容器是“约束一组进程”。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命名空间（Namespaces）：隔离“看得见”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651760"/>
                <a:gridCol w="41148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命名空间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隔离内容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容器里看到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PID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进程编号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自己是 PID 1，看不到宿主机其他进程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Mount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文件系统挂载点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只看到自己的根文件系统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Network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网络栈（网卡/IP/路由）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自己的 IP 和端口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UTS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主机名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自己的 hostname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IPC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进程间通信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独立的信号量 / 消息队列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User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 ID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独立 UID 映射（容器内 root ≠ 宿主机 root）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57200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45720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命名空间让容器里的进程“以为”自己独占系统资源——每个容器创建时，内核为它建立独立的命名空间视图。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cgroups：限制“能用多少”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cgroups（Control Groups）限制容器能消耗多少资源：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9319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00200"/>
            <a:ext cx="54864" cy="13258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099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017520" y="1709928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份额与配额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如最多用 0.5 核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600200"/>
            <a:ext cx="39319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600200"/>
            <a:ext cx="54864" cy="132588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7099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178040" y="1709928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内存上限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超限触发 OOM Killer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39319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108960"/>
            <a:ext cx="54864" cy="13258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186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cpuset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017520" y="3218688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绑定特定 CPU 核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亲和性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09160" y="3108960"/>
            <a:ext cx="39319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3108960"/>
            <a:ext cx="54864" cy="132588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32186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blkio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178040" y="3218688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磁盘 IO 带宽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读写速率限制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43484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4348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教学记忆：命名空间管“看不见”（隔离），cgroups 管“用多少”（限制）——两者结合，容器既安全隔离又可被资源管控。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教学记忆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8046720" cy="1051560"/>
          </a:xfrm>
          <a:prstGeom prst="rect">
            <a:avLst/>
          </a:prstGeom>
          <a:solidFill>
            <a:srgbClr val="EEF2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64008" cy="10515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280160"/>
            <a:ext cx="7498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命名空间（Namespaces）→ 管“看不见”→ 隔离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8046720" cy="1051560"/>
          </a:xfrm>
          <a:prstGeom prst="rect">
            <a:avLst/>
          </a:prstGeom>
          <a:solidFill>
            <a:srgbClr val="EEF2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606040"/>
            <a:ext cx="64008" cy="10515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606040"/>
            <a:ext cx="7498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cgroups → 管“用多少”→ 限制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420624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2062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两者结合：容器既安全隔离，又可被资源管控——这是容器与虚拟机的本质区别。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镜像分层（Layer）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2103120" y="1234440"/>
            <a:ext cx="4754880" cy="7315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5" name="Text 3"/>
          <p:cNvSpPr/>
          <p:nvPr/>
        </p:nvSpPr>
        <p:spPr>
          <a:xfrm>
            <a:off x="2331720" y="12344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应用层（App）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949440" y="12344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← 可写层：容器运行时在此写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03120" y="2075688"/>
            <a:ext cx="4754880" cy="731520"/>
          </a:xfrm>
          <a:prstGeom prst="rect">
            <a:avLst/>
          </a:prstGeom>
          <a:solidFill>
            <a:srgbClr val="5B8DEA"/>
          </a:solidFill>
          <a:ln/>
        </p:spPr>
      </p:sp>
      <p:sp>
        <p:nvSpPr>
          <p:cNvPr id="8" name="Text 6"/>
          <p:cNvSpPr/>
          <p:nvPr/>
        </p:nvSpPr>
        <p:spPr>
          <a:xfrm>
            <a:off x="2331720" y="207568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 指令层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103120" y="2916936"/>
            <a:ext cx="4754880" cy="731520"/>
          </a:xfrm>
          <a:prstGeom prst="rect">
            <a:avLst/>
          </a:prstGeom>
          <a:solidFill>
            <a:srgbClr val="8FB0F0"/>
          </a:solidFill>
          <a:ln/>
        </p:spPr>
      </p:sp>
      <p:sp>
        <p:nvSpPr>
          <p:cNvPr id="10" name="Text 8"/>
          <p:cNvSpPr/>
          <p:nvPr/>
        </p:nvSpPr>
        <p:spPr>
          <a:xfrm>
            <a:off x="2331720" y="2916936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apt 安装层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103120" y="3758184"/>
            <a:ext cx="4754880" cy="731520"/>
          </a:xfrm>
          <a:prstGeom prst="rect">
            <a:avLst/>
          </a:prstGeom>
          <a:solidFill>
            <a:srgbClr val="C9D8F6"/>
          </a:solidFill>
          <a:ln/>
        </p:spPr>
      </p:sp>
      <p:sp>
        <p:nvSpPr>
          <p:cNvPr id="12" name="Text 10"/>
          <p:cNvSpPr/>
          <p:nvPr/>
        </p:nvSpPr>
        <p:spPr>
          <a:xfrm>
            <a:off x="2331720" y="3758184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基础镜像层（OS）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每层只存与上一层的差异（增量）——多容器共享底层 → 磁盘占用小、启动快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52628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5262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容器运行时的写入发生在最上层可写层——删除容器即可写层消失（“容器无状态”的底层原因，第 4 章讲持久化）。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OCI 标准：让“容器”不绑死某一家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17373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25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 Spec（镜像规范）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6384" y="17830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镜像的打包格式（分层 / 配置 / manifest）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——任何符合规范的镜像，任何符合规范的运行时都能跑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188720"/>
            <a:ext cx="54864" cy="17373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0" name="Text 8"/>
          <p:cNvSpPr/>
          <p:nvPr/>
        </p:nvSpPr>
        <p:spPr>
          <a:xfrm>
            <a:off x="4901184" y="1325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Runtime Spec（运行时规范）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01184" y="17830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容器运行时的行为（进程 / 命名空间 / cgroups 配置、生命周期钩子）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108960"/>
            <a:ext cx="54864" cy="9144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21868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本书伏笔：Docker 构建的镜像 → containerd（符合 OCI Runtime Spec）直接运行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86384" y="358444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章“K8s 用 containerd 替换 Docker”之所以无缝，正是因为大家都遵守 OCI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34340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343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生态不绑死：镜像可来自 Docker / Podman / Buildah，运行时可以是 containerd / CRI-O——标准是生态互通的基石。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核心认知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8046720" cy="1097280"/>
          </a:xfrm>
          <a:prstGeom prst="rect">
            <a:avLst/>
          </a:prstGeom>
          <a:solidFill>
            <a:srgbClr val="EEF2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64008" cy="10972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46304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OCI 是“容器界的 USB 接口”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镜像分层、containerd 运行时，都在 OCI 的框架内工作。Docker 只是“最流行的 OCI 实现之一”。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420624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2062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章学的镜像分层、第 3 章装的 containerd——都会在本章之后的课程里反复用到。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快速回顾（镜像 / 容器 / 仓库）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三大概念：镜像 / 容器 / 仓库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常用命令速查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与 Kubernetes 的衔接：K8s 用 containerd（OCI 兼容）替代 Docker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三大概念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402336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概念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类比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镜像（Image）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安装包 / 模板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只读的打包产物，包含应用 + 依赖 + 配置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容器（Container）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运行中的进程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镜像的运行实例，独立命名空间与 cgroups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仓库（Registry）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应用商店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存放和分发镜像（Docker Hub / 私有仓库）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20624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42062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本课程不要求精通 Docker，但 K8s 使用 OCI 兼容的容器运行时（containerd），理解三要素有助于后续章节。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常用命令速查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310896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myapp:v1 .        # 构建镜像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images                     # 查看本地镜像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pull nginx:latest          # 拉取镜像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-p 8080:80 nginx    # 运行容器（后台、端口映射）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exec -it &lt;容器&gt; /bin/bash  # 进入容器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&lt;容器&gt;                # 查看日志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rm -f &lt;容器&gt;               # 删除容器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rmi &lt;镜像&gt;                 # 删除镜像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457200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45720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Kubernetes 的衔接：K8s 用 containerd（OCI 兼容）替代 Docker，但镜像构建、仓库、分层机制完全一致。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容器化的价值与挑战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容器化的四大价值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单机场景的挑战——编排器的需求来源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容器化的价值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54864" cy="15087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417320"/>
            <a:ext cx="411480" cy="41148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3898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可移植性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构建一次，处处运行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开发/测试/生产一致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09160" y="128016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280160"/>
            <a:ext cx="54864" cy="150876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2" name="Shape 10"/>
          <p:cNvSpPr/>
          <p:nvPr/>
        </p:nvSpPr>
        <p:spPr>
          <a:xfrm>
            <a:off x="4846320" y="141732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13898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资源效率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892040" y="19202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高密度、秒级启动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弹性伸缩的基础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971800"/>
            <a:ext cx="54864" cy="15087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3108960"/>
            <a:ext cx="411480" cy="411480"/>
          </a:xfrm>
          <a:prstGeom prst="ellipse">
            <a:avLst/>
          </a:prstGeom>
          <a:solidFill>
            <a:srgbClr val="5B7A5B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30815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一致性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31520" y="36118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环境差异消失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“在我机器上是好的”不再成立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709160" y="297180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971800"/>
            <a:ext cx="54864" cy="150876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24" name="Shape 22"/>
          <p:cNvSpPr/>
          <p:nvPr/>
        </p:nvSpPr>
        <p:spPr>
          <a:xfrm>
            <a:off x="4846320" y="3108960"/>
            <a:ext cx="411480" cy="411480"/>
          </a:xfrm>
          <a:prstGeom prst="ellipse">
            <a:avLst/>
          </a:prstGeom>
          <a:solidFill>
            <a:srgbClr val="A8895F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94960" y="30815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快速交付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892040" y="36118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镜像即部署产物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CI/CD 流水线化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46177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四大价值 → 容器化成为现代应用交付的默认形态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单机场景的挑战（编排器的需求来源）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400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挑战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具体问题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单点故障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容器崩了谁重启？机器挂了谁迁移？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扩缩容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流量大了手动 docker run 复制十份？流量降了呢？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服务发现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 IP 每次重启都变，前端怎么找到后端？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负载均衡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多个副本之间流量怎么分发？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健康检查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容器“活着”不代表“能用”，谁来探测？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容器删了数据没了，数据库怎么办？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配置与密钥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几十个容器的环境变量/密码怎么统一管理？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57200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45720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结论：单机 Docker 解决“如何跑一个容器”，编排器解决“如何运维一群容器”——这正是 Kubernetes 的定位（第 2 章）。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云原生与 CNCF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云原生的定义与五大要素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CNCF 项目全景与本课程的对应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云原生的定义（CNCF）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8046720" cy="914400"/>
          </a:xfrm>
          <a:prstGeom prst="rect">
            <a:avLst/>
          </a:prstGeom>
          <a:solidFill>
            <a:srgbClr val="EEF2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43000"/>
            <a:ext cx="64008" cy="9144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1430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在现代动态环境（公有云 / 私有云 / 混合云）中构建和运行可扩展应用的技术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15544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331720"/>
            <a:ext cx="54864" cy="16002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242316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容器化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2834640"/>
            <a:ext cx="1335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应用打包为容器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可移植、隔离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12848" y="2331720"/>
            <a:ext cx="15544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12848" y="2331720"/>
            <a:ext cx="54864" cy="16002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3" name="Text 11"/>
          <p:cNvSpPr/>
          <p:nvPr/>
        </p:nvSpPr>
        <p:spPr>
          <a:xfrm>
            <a:off x="2322576" y="242316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微服务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322576" y="2834640"/>
            <a:ext cx="1335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单体拆分为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可独立部署的服务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77056" y="2331720"/>
            <a:ext cx="15544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77056" y="2331720"/>
            <a:ext cx="54864" cy="16002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7" name="Text 15"/>
          <p:cNvSpPr/>
          <p:nvPr/>
        </p:nvSpPr>
        <p:spPr>
          <a:xfrm>
            <a:off x="3986784" y="242316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动态编排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86784" y="2834640"/>
            <a:ext cx="1335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K8s 自动调度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扩缩、自愈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541264" y="2331720"/>
            <a:ext cx="15544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541264" y="2331720"/>
            <a:ext cx="54864" cy="16002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1" name="Text 19"/>
          <p:cNvSpPr/>
          <p:nvPr/>
        </p:nvSpPr>
        <p:spPr>
          <a:xfrm>
            <a:off x="5650992" y="242316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DevOps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50992" y="2834640"/>
            <a:ext cx="1335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开发运维一体化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CI/CD 自动化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205472" y="2331720"/>
            <a:ext cx="15544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205472" y="2331720"/>
            <a:ext cx="54864" cy="16002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0" y="242316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声明式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0" y="2834640"/>
            <a:ext cx="1335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描述期望状态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系统自行达到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434340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4343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声明式：描述“期望状态”，系统自行达到——这是第 2 章的核心概念，也是 Kubernetes 设计的灵魂。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CNCF 项目全景（与本课程相关）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  <a:gridCol w="25603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层次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代表项目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本课程对应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编排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Kubernetes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容器运行时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containerd / CRI-O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1、3 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网络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Calico / Cilium / Flannel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9 章（实验 07）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Rook / Longhorn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10 章（实验 08）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可观测性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Prometheus / Grafana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15 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服务网格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Istio / Linkerd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进阶（本课程略）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45720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是 CNCF 最大的毕业项目——本课程全部围绕它展开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容器编排器对比：为什么是 Kubernetes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Docker Swarm / Apache Mesos / Kubernetes 三强对比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Kubernetes 胜出的四大核心理由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容器编排器对比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920240"/>
                <a:gridCol w="1920240"/>
                <a:gridCol w="26517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Docker Swarm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Apache Mesos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Kubernetes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A5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Docker 原生集群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数据中心级资源调度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容器编排事实标准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E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成熟度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简单但功能有限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复杂、运维门槛高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生态最完整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E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服务发现/LB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内建（简单）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需额外组件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Service + Ingress（第 9 章）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E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自愈/扩缩容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Deployment/HPA（第 5、7 章）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E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存储/网络插件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丰富的 CSI/CNI 生态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E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社区与生态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停滞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停滞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CNCF 最大项目，事实标准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E4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43484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44348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胜出的根本：声明式 API + 控制循环——用户描述“期望状态”，控制器持续调和，设计优雅且可扩展。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胜出的核心理由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54864" cy="15087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417320"/>
            <a:ext cx="411480" cy="41148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3898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声明式 API + 控制循环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描述“期望状态”，控制器持续调和——设计优雅，可扩展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09160" y="128016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280160"/>
            <a:ext cx="54864" cy="150876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2" name="Shape 10"/>
          <p:cNvSpPr/>
          <p:nvPr/>
        </p:nvSpPr>
        <p:spPr>
          <a:xfrm>
            <a:off x="4846320" y="141732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13898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可扩展性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19202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CRD、Operator、CNI/CSI 插件机制，生态爆炸式增长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971800"/>
            <a:ext cx="54864" cy="15087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3108960"/>
            <a:ext cx="411480" cy="411480"/>
          </a:xfrm>
          <a:prstGeom prst="ellipse">
            <a:avLst/>
          </a:prstGeom>
          <a:solidFill>
            <a:srgbClr val="5B7A5B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30815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云厂商背书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36118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AWS/Azure/GCP/阿里云全部提供托管 K8s（EKS/AKS/GKE/ACK）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709160" y="297180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971800"/>
            <a:ext cx="54864" cy="150876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24" name="Shape 22"/>
          <p:cNvSpPr/>
          <p:nvPr/>
        </p:nvSpPr>
        <p:spPr>
          <a:xfrm>
            <a:off x="4846320" y="3108960"/>
            <a:ext cx="411480" cy="411480"/>
          </a:xfrm>
          <a:prstGeom prst="ellipse">
            <a:avLst/>
          </a:prstGeom>
          <a:solidFill>
            <a:srgbClr val="A8895F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94960" y="30815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CKA 认证体系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892040" y="36118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人才市场认可——本课程的目标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46634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一句话：Kubernetes 赢在“设计”与“生态”——第 2 章将深入它的架构与核心设计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801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2344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 = 命名空间（隔离）+ cgroups（限制）的受控进程，比虚拟机轻量得多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34440" y="1892808"/>
            <a:ext cx="7223760" cy="0"/>
          </a:xfrm>
          <a:prstGeom prst="line">
            <a:avLst/>
          </a:prstGeom>
          <a:noFill/>
          <a:ln w="6350">
            <a:solidFill>
              <a:srgbClr val="D5DB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99339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93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94767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 = 只读分层 + 可写层，共享底层省空间、启动快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234440" y="2606040"/>
            <a:ext cx="7223760" cy="0"/>
          </a:xfrm>
          <a:prstGeom prst="line">
            <a:avLst/>
          </a:prstGeom>
          <a:noFill/>
          <a:ln w="6350">
            <a:solidFill>
              <a:srgbClr val="D5DB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70662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066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660904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单机 Docker 的七大痛点 → 编排器的需求来源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234440" y="3319272"/>
            <a:ext cx="7223760" cy="0"/>
          </a:xfrm>
          <a:prstGeom prst="line">
            <a:avLst/>
          </a:prstGeom>
          <a:noFill/>
          <a:ln w="6350">
            <a:solidFill>
              <a:srgbClr val="D5DB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41985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198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374136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 = 容器 + 微服务 + 动态编排 + DevOps + 声明式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234440" y="4032504"/>
            <a:ext cx="7223760" cy="0"/>
          </a:xfrm>
          <a:prstGeom prst="line">
            <a:avLst/>
          </a:prstGeom>
          <a:noFill/>
          <a:ln w="6350">
            <a:solidFill>
              <a:srgbClr val="D5DB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1330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133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40873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凭声明式 API + 生态 + 云厂商背书成为容器编排事实标准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457200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5720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衔接：第 2 章进入 Kubernetes 本身——架构、组件与“声明式 API + 控制循环”的核心设计。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88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容器与虚拟机共享内核，容器内执行 reboot 会发生什么？为什么？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384048" cy="384048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965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为什么说“容器没有持久化”？镜像分层中哪一层解释了这一点？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384048" cy="384048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743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单机 Docker 的痛点中，哪一个对生产影响最大？Kubernetes 用什么机制解决它？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3566160"/>
            <a:ext cx="384048" cy="384048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520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云原生的“声明式”与传统“命令式”运维的区别是什么？举一个生活中的例子。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43484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4348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CKA 考点：本章为前置基础、无直接考点；但容器原理是理解第 3 章运行时、第 4 章 Pod 的前提——排障题常考容器生命周期。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容器与云原生基础</dc:title>
  <dc:subject>PptxGenJS Presentation</dc:subject>
  <dc:creator>Kubernetes 容器云原生实战课程</dc:creator>
  <cp:lastModifiedBy>Kubernetes 容器云原生实战课程</cp:lastModifiedBy>
  <cp:revision>1</cp:revision>
  <dcterms:created xsi:type="dcterms:W3CDTF">2026-08-16T12:03:13Z</dcterms:created>
  <dcterms:modified xsi:type="dcterms:W3CDTF">2026-08-16T12:03:13Z</dcterms:modified>
</cp:coreProperties>
</file>