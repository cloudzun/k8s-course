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章 工作负载控制器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控制器原理 · Deployment 与滚动更新 · StatefulSet · DaemonSet · Job/CronJob · 选型决策树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03 工作负载）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解释“为什么需要控制器”——裸 Pod 的三个致命问题，说出控制器的共同骨架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7276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Deployment 的三层结构（Deployment → ReplicaSet → Pod）与职责分层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4825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详细描述滚动更新的机制（maxUnavailable / maxSurge 如何控制节奏）与回滚原理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55117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51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52374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StatefulSet 如何解决有状态应用的三个难题（稳定标识 / 稳定存储 / 有序性）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0266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99923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DaemonSet 的机制与典型场景，说出它与 Deployment 的本质区别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502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47472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Job 与 CronJob 的机制（成功语义、backoffLimit、并发策略）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95020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根据应用类型（无状态 / 有状态 / 守护 / 任务）做出控制器选型决策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4531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453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42569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知道扩缩容与暂停机制背后的原理（修改期望状态）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控制器：管理 Pod 的“管理者”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裸 Pod 三个致命问题：不自愈 / 不扩缩 / 不更新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控制器 = 管 Pod 的人：声明期望，持续调和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共同骨架：selector + template + replicas + 控制循环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决策树：先问“身份”→ 再问“分布”→ 再问“任务”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为什么需要控制器 · 共同骨架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875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生产上几乎从不直接创建裸 Pod——控制器就是“管 Pod 的人”：你声明要什么样的 Pod、要几个，它负责创建、维持、更新、扩缩。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2587752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53312"/>
            <a:ext cx="54864" cy="102412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2646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不会自愈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77393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崩溃 / 被删，不会自动重建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73552" y="1353312"/>
            <a:ext cx="2587752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1353312"/>
            <a:ext cx="54864" cy="1024128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42646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不会扩缩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56432" y="177393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流量大要手动一个个建，流量降要手动删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98464" y="1353312"/>
            <a:ext cx="2587752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98464" y="1353312"/>
            <a:ext cx="54864" cy="1024128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81344" y="142646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没有更新能力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81344" y="177393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镜像升级只能删了重建，无法滚动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578608"/>
            <a:ext cx="8046720" cy="16459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2578608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所有工作负载控制器（Deployment/StatefulSet/DaemonSet/Job/CronJob）的共同骨架：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① selector（选择器）：管哪些 Pod —— 按标签匹配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② template（Pod 模板）：Pod 长什么样 —— 镜像/端口/探针/卷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③ replicas（副本数，部分控制器无）：期望多少个 —— Deployment/StatefulSet 有，DaemonSet/Job 无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④ 控制循环：持续观察 → 对比期望 → 调和（第 2 章 §2.3）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38912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891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核心认知：控制器不直接运行容器——它只创建/删除 Pod 对象，真正跑容器的是 kubelet；看到“Pod 删了又回来”，就是某个控制器在调和。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控制器选择决策树（先选对类型）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18745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26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需要固定身份？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0" y="1188720"/>
            <a:ext cx="18745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26C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11887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每个节点都要跑？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937760" y="1188720"/>
            <a:ext cx="18745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26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1887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一次性任务？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86600" y="1188720"/>
            <a:ext cx="18745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26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11887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需要定时？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1874520" cy="777240"/>
          </a:xfrm>
          <a:prstGeom prst="rect">
            <a:avLst/>
          </a:prstGeom>
          <a:solidFill>
            <a:srgbClr val="E8F4FD"/>
          </a:solidFill>
          <a:ln w="15875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860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StatefulSet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（数据库等）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2286000"/>
            <a:ext cx="1874520" cy="777240"/>
          </a:xfrm>
          <a:prstGeom prst="rect">
            <a:avLst/>
          </a:prstGeom>
          <a:solidFill>
            <a:srgbClr val="E8F4FD"/>
          </a:solidFill>
          <a:ln w="15875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22860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DaemonSet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（CNI/监控/日志）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2286000"/>
            <a:ext cx="1874520" cy="777240"/>
          </a:xfrm>
          <a:prstGeom prst="rect">
            <a:avLst/>
          </a:prstGeom>
          <a:solidFill>
            <a:srgbClr val="E8F8E8"/>
          </a:solidFill>
          <a:ln w="15875">
            <a:solidFill>
              <a:srgbClr val="5BA8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2860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（最常用）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86600" y="2286000"/>
            <a:ext cx="1874520" cy="777240"/>
          </a:xfrm>
          <a:prstGeom prst="rect">
            <a:avLst/>
          </a:prstGeom>
          <a:solidFill>
            <a:srgbClr val="FFF3E0"/>
          </a:solidFill>
          <a:ln w="15875">
            <a:solidFill>
              <a:srgbClr val="E08A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22860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CronJob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86600" y="3310128"/>
            <a:ext cx="1874520" cy="777240"/>
          </a:xfrm>
          <a:prstGeom prst="rect">
            <a:avLst/>
          </a:prstGeom>
          <a:solidFill>
            <a:srgbClr val="FFF3E0"/>
          </a:solidFill>
          <a:ln w="15875">
            <a:solidFill>
              <a:srgbClr val="E08A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331012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32304" y="1417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26864" y="1417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否→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21424" y="14173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是→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88720" y="2011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2011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0" y="2011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69480" y="2011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23760" y="3081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判断顺序：先问“身份”→ 再问“分布”→ 再问“任务”——分支结果全部落在右侧的四种控制器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448056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44805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决策逻辑：默认 Deployment；应用有“身份”（名字/存储要固定）→ StatefulSet；按节点分布 → DaemonSet；跑完即走 → Job/CronJob。选错类型是工作负载最常见的错误——把有状态应用当 Deployment 跑，数据就悬了。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 与 ReplicaSet：无状态应用的标准答案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三层结构：Deployment → ReplicaSet → Pod——RS 为回滚而生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滚动更新：maxUnavailable / maxSurge 控制替换节奏，readinessProbe 是零中断前提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回滚：rollout undo 一键还原；扩缩容 / 暂停都是修改期望状态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发布策略矩阵：滚动 / 蓝绿 / 金丝雀 / A-B 测试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三层结构：Deployment → ReplicaSet → Pod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4023360" cy="914400"/>
          </a:xfrm>
          <a:prstGeom prst="rect">
            <a:avLst/>
          </a:prstGeom>
          <a:solidFill>
            <a:srgbClr val="E8F0FE"/>
          </a:solidFill>
          <a:ln w="19050">
            <a:solidFill>
              <a:srgbClr val="326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0759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63677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描述：期望 3 副本、镜像版本、更新策略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 管理（每次更新生成新的 RS）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4023360" cy="914400"/>
          </a:xfrm>
          <a:prstGeom prst="rect">
            <a:avLst/>
          </a:prstGeom>
          <a:solidFill>
            <a:srgbClr val="FFF3E0"/>
          </a:solidFill>
          <a:ln w="19050">
            <a:solidFill>
              <a:srgbClr val="E08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3347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ReplicaSet-1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9626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当前版本的“副本管家”：维持 3 个 Pod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5387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 创建 / 删除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4023360" cy="777240"/>
          </a:xfrm>
          <a:prstGeom prst="rect">
            <a:avLst/>
          </a:prstGeom>
          <a:solidFill>
            <a:srgbClr val="E8F8E8"/>
          </a:solidFill>
          <a:ln w="19050">
            <a:solidFill>
              <a:srgbClr val="5BA8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9593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8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× 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28853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真正跑应用的（镜像 nginx:1.27）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37760" y="1234440"/>
            <a:ext cx="365760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234440"/>
            <a:ext cx="54864" cy="34290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为什么中间要隔一层 ReplicaSet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1783080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为了“回滚”（§5.2.4）：每次更新（模板变化）都会生成一个新的 ReplicaSet，revision 递增（如 2）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旧 RS 保留（带旧版本镜像的“历史记录”）但缩到 0 副本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回滚 = 把期望状态改回旧模板，流量切回旧 RS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没有 RS 这层，就没有“历史快照”，也就无法回滚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副本管理与自愈 · 扩缩容与暂停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5720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2377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9844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replicas: 3 = 期望副本数，ReplicaSet 控制器负责维持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某 Pod 崩溃 → RS 创建新 Pod（自愈）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某节点挂了 → 该节点上 Pod 消失 → RS 在其他节点补建（节点级自愈）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kubectl scale → 只是修改期望值（3→5），RS 自动补建 2 个（第 2 章 §2.3.4 走查过）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扩缩容原理 = 修改期望状态，RS 负责调和——第 7 章 HPA 就是自动执行这一步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303520" y="1188720"/>
            <a:ext cx="3291840" cy="23774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118872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scale deployment/web --replicas=5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改期望值 → RS 自动补建 2 个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pause deployment/web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暂停：多次修改模板不触发更新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resume deployment/web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恢复：合并的修改一次性生效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暂停的价值：批量修改模板时避免每次改动都滚动一次——改完 resume 一次性生效（生产变更的常用手法）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“删了自动补”就是第 2 章控制循环在 Deployment 上的具体化：持续把“当前副本数”调和到“期望副本数”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滚动更新：发布不中断的节奏控制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8686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155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maxUnavailable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42646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更新过程中最多允许多少个副本不可用（默认 25%）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51560"/>
            <a:ext cx="54864" cy="868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155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maxSurge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42646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更新过程中最多允许超出期望多少个副本（默认 25%）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011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分批替换：新版本 Pod 先起来、就绪后，再停旧版本 Pod，循环直到全部替换——一次性全删全建会中断服务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395728"/>
            <a:ext cx="1188720" cy="1188720"/>
          </a:xfrm>
          <a:prstGeom prst="rect">
            <a:avLst/>
          </a:prstGeom>
          <a:solidFill>
            <a:srgbClr val="E8F8E8"/>
          </a:solidFill>
          <a:ln w="15875">
            <a:solidFill>
              <a:srgbClr val="5BA8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50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807208"/>
            <a:ext cx="228600" cy="310896"/>
          </a:xfrm>
          <a:prstGeom prst="rect">
            <a:avLst/>
          </a:prstGeom>
          <a:solidFill>
            <a:srgbClr val="AEB6BF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" y="2807208"/>
            <a:ext cx="228600" cy="310896"/>
          </a:xfrm>
          <a:prstGeom prst="rect">
            <a:avLst/>
          </a:prstGeom>
          <a:solidFill>
            <a:srgbClr val="AEB6BF"/>
          </a:solidFill>
          <a:ln/>
        </p:spPr>
      </p:sp>
      <p:sp>
        <p:nvSpPr>
          <p:cNvPr id="17" name="Shape 15"/>
          <p:cNvSpPr/>
          <p:nvPr/>
        </p:nvSpPr>
        <p:spPr>
          <a:xfrm>
            <a:off x="969264" y="2807208"/>
            <a:ext cx="228600" cy="310896"/>
          </a:xfrm>
          <a:prstGeom prst="rect">
            <a:avLst/>
          </a:prstGeom>
          <a:solidFill>
            <a:srgbClr val="AEB6BF"/>
          </a:solidFill>
          <a:ln/>
        </p:spPr>
      </p:sp>
      <p:sp>
        <p:nvSpPr>
          <p:cNvPr id="18" name="Text 16"/>
          <p:cNvSpPr/>
          <p:nvPr/>
        </p:nvSpPr>
        <p:spPr>
          <a:xfrm>
            <a:off x="1572768" y="2761488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810512" y="2395728"/>
            <a:ext cx="1188720" cy="1188720"/>
          </a:xfrm>
          <a:prstGeom prst="rect">
            <a:avLst/>
          </a:prstGeom>
          <a:solidFill>
            <a:srgbClr val="FFF3E0"/>
          </a:solidFill>
          <a:ln w="15875">
            <a:solidFill>
              <a:srgbClr val="E08A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10512" y="2450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901952" y="2807208"/>
            <a:ext cx="228600" cy="310896"/>
          </a:xfrm>
          <a:prstGeom prst="rect">
            <a:avLst/>
          </a:prstGeom>
          <a:solidFill>
            <a:srgbClr val="5BA85B"/>
          </a:solidFill>
          <a:ln/>
        </p:spPr>
      </p:sp>
      <p:sp>
        <p:nvSpPr>
          <p:cNvPr id="22" name="Shape 20"/>
          <p:cNvSpPr/>
          <p:nvPr/>
        </p:nvSpPr>
        <p:spPr>
          <a:xfrm>
            <a:off x="2157984" y="2807208"/>
            <a:ext cx="228600" cy="310896"/>
          </a:xfrm>
          <a:prstGeom prst="rect">
            <a:avLst/>
          </a:prstGeom>
          <a:solidFill>
            <a:srgbClr val="AEB6BF"/>
          </a:solidFill>
          <a:ln/>
        </p:spPr>
      </p:sp>
      <p:sp>
        <p:nvSpPr>
          <p:cNvPr id="23" name="Shape 21"/>
          <p:cNvSpPr/>
          <p:nvPr/>
        </p:nvSpPr>
        <p:spPr>
          <a:xfrm>
            <a:off x="2414016" y="2807208"/>
            <a:ext cx="228600" cy="310896"/>
          </a:xfrm>
          <a:prstGeom prst="rect">
            <a:avLst/>
          </a:prstGeom>
          <a:solidFill>
            <a:srgbClr val="AEB6BF"/>
          </a:solidFill>
          <a:ln/>
        </p:spPr>
      </p:sp>
      <p:sp>
        <p:nvSpPr>
          <p:cNvPr id="24" name="Shape 22"/>
          <p:cNvSpPr/>
          <p:nvPr/>
        </p:nvSpPr>
        <p:spPr>
          <a:xfrm>
            <a:off x="2670048" y="2807208"/>
            <a:ext cx="228600" cy="310896"/>
          </a:xfrm>
          <a:prstGeom prst="rect">
            <a:avLst/>
          </a:prstGeom>
          <a:solidFill>
            <a:srgbClr val="AEB6BF"/>
          </a:solidFill>
          <a:ln/>
        </p:spPr>
      </p:sp>
      <p:sp>
        <p:nvSpPr>
          <p:cNvPr id="25" name="Text 23"/>
          <p:cNvSpPr/>
          <p:nvPr/>
        </p:nvSpPr>
        <p:spPr>
          <a:xfrm>
            <a:off x="3017520" y="2761488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55264" y="2395728"/>
            <a:ext cx="1188720" cy="1188720"/>
          </a:xfrm>
          <a:prstGeom prst="rect">
            <a:avLst/>
          </a:prstGeom>
          <a:solidFill>
            <a:srgbClr val="FFF3E0"/>
          </a:solidFill>
          <a:ln w="15875">
            <a:solidFill>
              <a:srgbClr val="E08A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55264" y="2450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阶段3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46704" y="2807208"/>
            <a:ext cx="228600" cy="310896"/>
          </a:xfrm>
          <a:prstGeom prst="rect">
            <a:avLst/>
          </a:prstGeom>
          <a:solidFill>
            <a:srgbClr val="5BA85B"/>
          </a:solidFill>
          <a:ln/>
        </p:spPr>
      </p:sp>
      <p:sp>
        <p:nvSpPr>
          <p:cNvPr id="29" name="Shape 27"/>
          <p:cNvSpPr/>
          <p:nvPr/>
        </p:nvSpPr>
        <p:spPr>
          <a:xfrm>
            <a:off x="3602736" y="2807208"/>
            <a:ext cx="228600" cy="310896"/>
          </a:xfrm>
          <a:prstGeom prst="rect">
            <a:avLst/>
          </a:prstGeom>
          <a:solidFill>
            <a:srgbClr val="AEB6BF"/>
          </a:solidFill>
          <a:ln/>
        </p:spPr>
      </p:sp>
      <p:sp>
        <p:nvSpPr>
          <p:cNvPr id="30" name="Shape 28"/>
          <p:cNvSpPr/>
          <p:nvPr/>
        </p:nvSpPr>
        <p:spPr>
          <a:xfrm>
            <a:off x="3858768" y="2807208"/>
            <a:ext cx="228600" cy="310896"/>
          </a:xfrm>
          <a:prstGeom prst="rect">
            <a:avLst/>
          </a:prstGeom>
          <a:solidFill>
            <a:srgbClr val="AEB6BF"/>
          </a:solidFill>
          <a:ln/>
        </p:spPr>
      </p:sp>
      <p:sp>
        <p:nvSpPr>
          <p:cNvPr id="31" name="Text 29"/>
          <p:cNvSpPr/>
          <p:nvPr/>
        </p:nvSpPr>
        <p:spPr>
          <a:xfrm>
            <a:off x="4462272" y="2761488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00016" y="2395728"/>
            <a:ext cx="1188720" cy="1188720"/>
          </a:xfrm>
          <a:prstGeom prst="rect">
            <a:avLst/>
          </a:prstGeom>
          <a:solidFill>
            <a:srgbClr val="FFF3E0"/>
          </a:solidFill>
          <a:ln w="15875">
            <a:solidFill>
              <a:srgbClr val="E08A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0016" y="2450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阶段4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91456" y="2807208"/>
            <a:ext cx="228600" cy="310896"/>
          </a:xfrm>
          <a:prstGeom prst="rect">
            <a:avLst/>
          </a:prstGeom>
          <a:solidFill>
            <a:srgbClr val="5BA85B"/>
          </a:solidFill>
          <a:ln/>
        </p:spPr>
      </p:sp>
      <p:sp>
        <p:nvSpPr>
          <p:cNvPr id="35" name="Shape 33"/>
          <p:cNvSpPr/>
          <p:nvPr/>
        </p:nvSpPr>
        <p:spPr>
          <a:xfrm>
            <a:off x="5047488" y="2807208"/>
            <a:ext cx="228600" cy="310896"/>
          </a:xfrm>
          <a:prstGeom prst="rect">
            <a:avLst/>
          </a:prstGeom>
          <a:solidFill>
            <a:srgbClr val="5BA85B"/>
          </a:solidFill>
          <a:ln/>
        </p:spPr>
      </p:sp>
      <p:sp>
        <p:nvSpPr>
          <p:cNvPr id="36" name="Shape 34"/>
          <p:cNvSpPr/>
          <p:nvPr/>
        </p:nvSpPr>
        <p:spPr>
          <a:xfrm>
            <a:off x="5303520" y="2807208"/>
            <a:ext cx="228600" cy="310896"/>
          </a:xfrm>
          <a:prstGeom prst="rect">
            <a:avLst/>
          </a:prstGeom>
          <a:solidFill>
            <a:srgbClr val="AEB6BF"/>
          </a:solidFill>
          <a:ln/>
        </p:spPr>
      </p:sp>
      <p:sp>
        <p:nvSpPr>
          <p:cNvPr id="37" name="Shape 35"/>
          <p:cNvSpPr/>
          <p:nvPr/>
        </p:nvSpPr>
        <p:spPr>
          <a:xfrm>
            <a:off x="5559552" y="2807208"/>
            <a:ext cx="228600" cy="310896"/>
          </a:xfrm>
          <a:prstGeom prst="rect">
            <a:avLst/>
          </a:prstGeom>
          <a:solidFill>
            <a:srgbClr val="AEB6BF"/>
          </a:solidFill>
          <a:ln/>
        </p:spPr>
      </p:sp>
      <p:sp>
        <p:nvSpPr>
          <p:cNvPr id="38" name="Text 36"/>
          <p:cNvSpPr/>
          <p:nvPr/>
        </p:nvSpPr>
        <p:spPr>
          <a:xfrm>
            <a:off x="5907024" y="2761488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144768" y="2395728"/>
            <a:ext cx="1188720" cy="1188720"/>
          </a:xfrm>
          <a:prstGeom prst="rect">
            <a:avLst/>
          </a:prstGeom>
          <a:solidFill>
            <a:srgbClr val="FFF3E0"/>
          </a:solidFill>
          <a:ln w="15875">
            <a:solidFill>
              <a:srgbClr val="E08A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44768" y="2450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阶段5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36208" y="2807208"/>
            <a:ext cx="228600" cy="310896"/>
          </a:xfrm>
          <a:prstGeom prst="rect">
            <a:avLst/>
          </a:prstGeom>
          <a:solidFill>
            <a:srgbClr val="5BA85B"/>
          </a:solidFill>
          <a:ln/>
        </p:spPr>
      </p:sp>
      <p:sp>
        <p:nvSpPr>
          <p:cNvPr id="42" name="Shape 40"/>
          <p:cNvSpPr/>
          <p:nvPr/>
        </p:nvSpPr>
        <p:spPr>
          <a:xfrm>
            <a:off x="6492240" y="2807208"/>
            <a:ext cx="228600" cy="310896"/>
          </a:xfrm>
          <a:prstGeom prst="rect">
            <a:avLst/>
          </a:prstGeom>
          <a:solidFill>
            <a:srgbClr val="5BA85B"/>
          </a:solidFill>
          <a:ln/>
        </p:spPr>
      </p:sp>
      <p:sp>
        <p:nvSpPr>
          <p:cNvPr id="43" name="Shape 41"/>
          <p:cNvSpPr/>
          <p:nvPr/>
        </p:nvSpPr>
        <p:spPr>
          <a:xfrm>
            <a:off x="6748272" y="2807208"/>
            <a:ext cx="228600" cy="310896"/>
          </a:xfrm>
          <a:prstGeom prst="rect">
            <a:avLst/>
          </a:prstGeom>
          <a:solidFill>
            <a:srgbClr val="AEB6BF"/>
          </a:solidFill>
          <a:ln/>
        </p:spPr>
      </p:sp>
      <p:sp>
        <p:nvSpPr>
          <p:cNvPr id="44" name="Text 42"/>
          <p:cNvSpPr/>
          <p:nvPr/>
        </p:nvSpPr>
        <p:spPr>
          <a:xfrm>
            <a:off x="7351776" y="2761488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589520" y="2395728"/>
            <a:ext cx="1188720" cy="1188720"/>
          </a:xfrm>
          <a:prstGeom prst="rect">
            <a:avLst/>
          </a:prstGeom>
          <a:solidFill>
            <a:srgbClr val="E8F8E8"/>
          </a:solidFill>
          <a:ln w="15875">
            <a:solidFill>
              <a:srgbClr val="5BA85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89520" y="2450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阶段6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680960" y="2807208"/>
            <a:ext cx="228600" cy="310896"/>
          </a:xfrm>
          <a:prstGeom prst="rect">
            <a:avLst/>
          </a:prstGeom>
          <a:solidFill>
            <a:srgbClr val="5BA85B"/>
          </a:solidFill>
          <a:ln/>
        </p:spPr>
      </p:sp>
      <p:sp>
        <p:nvSpPr>
          <p:cNvPr id="48" name="Shape 46"/>
          <p:cNvSpPr/>
          <p:nvPr/>
        </p:nvSpPr>
        <p:spPr>
          <a:xfrm>
            <a:off x="7936992" y="2807208"/>
            <a:ext cx="228600" cy="310896"/>
          </a:xfrm>
          <a:prstGeom prst="rect">
            <a:avLst/>
          </a:prstGeom>
          <a:solidFill>
            <a:srgbClr val="5BA85B"/>
          </a:solidFill>
          <a:ln/>
        </p:spPr>
      </p:sp>
      <p:sp>
        <p:nvSpPr>
          <p:cNvPr id="49" name="Shape 47"/>
          <p:cNvSpPr/>
          <p:nvPr/>
        </p:nvSpPr>
        <p:spPr>
          <a:xfrm>
            <a:off x="8193024" y="2807208"/>
            <a:ext cx="228600" cy="310896"/>
          </a:xfrm>
          <a:prstGeom prst="rect">
            <a:avLst/>
          </a:prstGeom>
          <a:solidFill>
            <a:srgbClr val="5BA85B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36758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读图（示例：3 副本，maxUnavailable=1，maxSurge=1）：“新起一个 → 就绪 → 停一个旧的”循环交替（阶段 2-5）；任何时刻 ≥2 个可用、不超 4 个；新旧并存 = 黄色阶段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52" name="Shape 50"/>
          <p:cNvSpPr/>
          <p:nvPr/>
        </p:nvSpPr>
        <p:spPr>
          <a:xfrm>
            <a:off x="548640" y="406908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53" name="Text 51"/>
          <p:cNvSpPr/>
          <p:nvPr/>
        </p:nvSpPr>
        <p:spPr>
          <a:xfrm>
            <a:off x="777240" y="4069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关键依赖：新 Pod 必须配 readinessProbe（实验 02 Lab 8）——就绪才停旧的；没有它，新 Pod 一启动就被认为可用，更新可能在应用未就绪时切换流量。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48640" y="46451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生产调优：核心服务用 maxUnavailable: 0 + maxSurge: 1 —— 零中断发布（实验 10 Lab 5 演练）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回滚：出问题一键还原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机制：每次更新（模板变化）→ 生成新的 ReplicaSet（revision 递增，如 revision 2），旧 RS（revision 1）保留但缩到 0 副本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17373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set image deployment/web nginx=nginx:1.28      # 更新 → revision 2（新 RS）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status deployment/web                  # 等更新完成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history deployment/web                 # REVISION 1（1.27）/ 2（1.28）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undo deployment/web                    # 回滚到上一个 revision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undo deployment/web --to-revision=1    # 回滚到指定版本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337560"/>
            <a:ext cx="54864" cy="1051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42900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为什么能回滚：旧 RS 的 Pod 模板还在（历史快照）——回滚 = 把期望状态改回旧模板，滚动更新反向执行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排障关联：更新后 CrashLoopBackOff（实验 10 Lab 2）→ 第一反应 rollout undo 快速恢复，再慢慢查原因——先恢复业务，再排查问题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设计指南：生产发布策略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600200"/>
                <a:gridCol w="822960"/>
                <a:gridCol w="777240"/>
                <a:gridCol w="1645920"/>
                <a:gridCol w="228600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回滚速度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资源开销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K8s 实现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滚动更新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逐批替换（§5.2.3）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低（+1 Pod）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大多数无状态服务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Deployment 原生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蓝绿部署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新旧两套环境，切换 Service 指向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极快（切 selector）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高（2x 资源）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需要瞬间切换 / 瞬间回滚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两个 Deployment + Service 切换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金丝雀发布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小比例流量验证后逐步放大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高风险变更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两个 Deployment + Ingress 权重 / Argo Rollouts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A/B 测试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按用户特征分流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Ingress Header 路由 / Service Mesh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416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决策逻辑：默认滚动更新（成本最低）；要“瞬间切换/回滚”→ 蓝绿；高风险变更要“小流量验证”→ 金丝雀；功能对比 → A/B。发布策略的核心是“可回滚 + 可控观察”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44074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变更窗口：常规变更工作日 10:00-16:00；高风险变更周二/周三 10:00-14:00（禁止：周五下午、节假日前一天、大促期间）· 流程：申请 → 评审 → 预发 → 灰度（≤10% 流量）→ 观察（≥15 分钟）→ 全量 → 验证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回滚决策：错误率 &gt; 基线 2 倍 或 P99 延迟 &gt; 基线 3 倍 → 立即回滚；任何数据异常 → 回滚并暂停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StatefulSet：有状态应用的正确打开方式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有状态三难题：身份要稳定 / 存储要固定 / 启动要有序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稳定命名 web-0/1/2 + headless Service → 稳定 DNS 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volumeClaimTemplates：每副本独立 PVC，数据与身份绑定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有序部署/缩容/更新；podManagementPolicy 可并行加速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有状态三难题与稳定网络标识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2587752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10058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704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身份要稳定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517904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副本 web-0 永远是 web-0——集群里其他组件认它的名字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73552" y="1097280"/>
            <a:ext cx="2587752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73552" y="1097280"/>
            <a:ext cx="54864" cy="10058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1704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存储要固定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56432" y="1517904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每个副本的数据必须绑在自己的卷上：删了重建数据不丢、不串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98464" y="1097280"/>
            <a:ext cx="2587752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98464" y="1097280"/>
            <a:ext cx="54864" cy="10058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4" name="Text 12"/>
          <p:cNvSpPr/>
          <p:nvPr/>
        </p:nvSpPr>
        <p:spPr>
          <a:xfrm>
            <a:off x="6181344" y="11704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启动要有序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81344" y="1517904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主从架构：主库先起、从库后起（副本 0 先于副本 1）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2311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 给不了这些（Pod 名随机、卷不绑定、无顺序）——StatefulSet 就是为此设计的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615184"/>
            <a:ext cx="8046720" cy="1481328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2615184"/>
            <a:ext cx="76809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StatefulSet: web（replicas=3）—— 每个 Pod 有稳定且有序的名字：&lt;sts名&gt;-&lt;序号&gt;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web-0  ←→ 稳定 DNS: web-0.web-svc.default.svc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web-1  ←→ web-1.web-svc.default.svc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web-2  ←→ web-2.web-svc.default.svc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名字从 0 开始编号、永不改变——Pod 删了重建还是叫 web-1；配合 headless Service（实验 07 Lab 4），从库连主库就用固定名 web-0.web-svc.namespace.svc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稳定存储与有序部署/更新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4160520" cy="19202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794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volumeClaimTemplates（卷声明模板）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自动为每个副本创建独立 PVC：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web-0 → PVC web-data-web-0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web-1 → PVC web-data-web-1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web-2 → PVC web-data-web-2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 删了重建 → 还绑同一个 PVC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（数据不丢）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92040" y="1143000"/>
            <a:ext cx="37033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92040" y="1143000"/>
            <a:ext cx="54864" cy="19202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2618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Deployment 的本质区别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0" y="16459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Deployment：所有副本共享同一个卷（或各自临时卷）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StatefulSet：每个副本有自己专属的卷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——这就是“身份与数据绑定”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2587752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246120"/>
            <a:ext cx="54864" cy="102412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192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部署有序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36576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web-0 先创建且 Running 后，才创建 web-1、再 web-2（rollout status 依次就绪）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73552" y="3246120"/>
            <a:ext cx="2587752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73552" y="3246120"/>
            <a:ext cx="54864" cy="1024128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6" name="Text 14"/>
          <p:cNvSpPr/>
          <p:nvPr/>
        </p:nvSpPr>
        <p:spPr>
          <a:xfrm>
            <a:off x="3456432" y="33192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缩容有序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56432" y="36576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从大到小删除：先 web-2、再 web-1、最后 web-0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98464" y="3246120"/>
            <a:ext cx="2587752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98464" y="3246120"/>
            <a:ext cx="54864" cy="1024128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0" name="Text 18"/>
          <p:cNvSpPr/>
          <p:nvPr/>
        </p:nvSpPr>
        <p:spPr>
          <a:xfrm>
            <a:off x="6181344" y="33192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更新有序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81344" y="36576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逆序逐个更新（web-2 → web-1 → web-0），保证主节点 web-0 最后更新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4074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podManagementPolicy：默认 OrderedReady（严格有序）；副本间无“谁先谁后”依赖（如无主从关系的缓存集群）→ 设 Parallel——所有副本并行创建/删除，扩缩容从几分钟降到秒级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StatefulSet vs Deployment（选型对照）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338328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Deployment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StatefulSet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Pod 名称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随机后缀（web-abc12）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稳定有序（web-0/1/2）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副本共享 / 无绑定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每副本独立 PVC（volumeClaimTemplates）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顺序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创建 / 删除 / 更新都有序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网络标识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 Service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headless + 稳定 DNS 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无状态（Web/API）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有状态（数据库/消息队列/协调器）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决策逻辑：应用需要“被点名”（固定名字/固定存储）→ StatefulSet；应用无身份需求 → Deployment（更简单）。判断标准：删掉这个 Pod，它的“身份/数据”需不需要保留？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DaemonSet：每节点一个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按节点分布：每个节点上恰好运行一个该应用的 Pod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新节点加入自动补 Pod；节点删除对应 Pod 一并消失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cordon 不可调度 → 该节点上不创建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典型场景：CNI 网络插件 / 监控采集 / 日志采集 / CSI 存储组件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DaemonSet：每节点一个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875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保证每个节点上恰好运行一个该应用的 Pod——不是按副本数分布，而是按节点分布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2587752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53312"/>
            <a:ext cx="54864" cy="8686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264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新节点加入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17556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DaemonSet 自动在新节点创建 Pod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73552" y="1353312"/>
            <a:ext cx="2587752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1353312"/>
            <a:ext cx="54864" cy="868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4264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节点删除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56432" y="17556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 Pod 一并消失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98464" y="1353312"/>
            <a:ext cx="2587752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98464" y="1353312"/>
            <a:ext cx="54864" cy="8686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81344" y="14264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cordon 不可调度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181344" y="17556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该节点上不创建（实验 12 Lab 3）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395728"/>
            <a:ext cx="41605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395728"/>
            <a:ext cx="54864" cy="19659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4871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典型场景：节点级服务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2834640"/>
            <a:ext cx="3703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网络插件：calico-node 每节点一个，管该节点 Pod 网络（实验 01 装过）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监控采集：node-exporter 每节点采集主机指标、metrics-server 的指标来源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日志采集：filebeat / fluentd 每节点一个，收集该节点所有容器日志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存储挂载：部分 CSI 节点组件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2395728"/>
          <a:ext cx="37033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Deployment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DaemonSet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分布逻辑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按副本数，调度器选节点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按节点，每节点恰好一个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新增节点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可能不上新节点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自动补上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副本数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replicas 指定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无需指定（= 节点数）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注意：默认情况下 DaemonSet 只在工作节点运行——控制面节点有污点（第 6 章调度时展开）；要让 DaemonSet 也跑上控制面，需要容忍那个污点（实验 04 Lab 7 演练过）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 与 CronJob：任务型工作负载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Job：成功 = Completed（exit 0），失败按 backoffLimit 重试（默认 6 次）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parallelism 控制并行度；ttlSecondsAfterFinished 自动清理（生产必配）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CronJob：cron 表达式定时触发 Job + 并发策略（Allow / Forbid / Replace）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restartPolicy 必须 OnFailure / Never——任务型 vs 服务型的本质差异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Job：一次性任务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2587752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704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 = 完成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51790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正常退出（exit 0）→ Job 标记 Completed，不再重跑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73552" y="1097280"/>
            <a:ext cx="2587752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73552" y="1097280"/>
            <a:ext cx="54864" cy="1051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1704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 = 重试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56432" y="151790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异常退出 → 按 backoffLimit 重试（默认 6 次），超限标记 Failed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98464" y="1097280"/>
            <a:ext cx="2587752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98464" y="1097280"/>
            <a:ext cx="54864" cy="105156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4" name="Text 12"/>
          <p:cNvSpPr/>
          <p:nvPr/>
        </p:nvSpPr>
        <p:spPr>
          <a:xfrm>
            <a:off x="6181344" y="11704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并行控制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81344" y="151790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parallelism 决定同时跑几个 Pod（如 10 个任务并发 3 个）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2860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 保证“一个任务成功完成”——与 Deployment（长期运行）完全不同的语义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670048"/>
            <a:ext cx="8046720" cy="12801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2670048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job my-job --image=busybox -- sh -c "echo done"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job        # COMPLETIONS 1/1、STATUS Completed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ttlSecondsAfterFinished: 3600   # 完成 1 小时后自动清理（含其 Pod）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8046720" cy="658368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114800"/>
            <a:ext cx="45720" cy="658368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6966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生产必配 ttlSecondsAfterFinished：不配置，已完成的 Job 及其 Pod 会无限堆积（CronJob 每天跑一次 → 一年 365 个历史残留），导致 etcd 性能衰退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CronJob 场景再配合 successfulJobsHistoryLimit / failedJobsHistoryLimit 限制历史记录——任务型负载的“垃圾回收”是生产必做项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8463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典型场景：数据迁移、批量处理、初始化任务、CI 中的一次性步骤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CronJob：定时触发 Job · 任务型 vs 服务型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4160520" cy="12344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cron 语法：分 时 日 月 周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schedule: "0 2 * * *"     # 每天凌晨 2 点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schedule: "*/5 * * * *"   # 每 5 分钟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92040" y="1051560"/>
            <a:ext cx="37033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92040" y="1051560"/>
            <a:ext cx="54864" cy="1234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1338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关键配置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120640" y="1463040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并发策略 concurrencyPolicy：Allow 允许并发 / Forbid 上次没跑完就不起新的 / Replace 替换上次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历史保留 successfulJobsHistoryLimit / failedJobsHistoryLimit（防 etcd 膨胀）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时区 timeZone 指定（默认按节点时区）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87168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108960"/>
                <a:gridCol w="3566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服务型（Deployment 等）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任务型（Job/CronJob）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期望状态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容器一直运行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容器跑完退出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restartPolicy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Always（退出就重启）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OnFailure / Never（跑完别重启）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成功标志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Running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Completed（exit 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Job 的 Pod 不能配 Always：Always = 退出就重启 → 任务跑完了还会被拉起来重跑，永远完不成——Job 语义要求“退出即结束”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CronJob 典型场景：定时备份、定时清理、定时报表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控制器选择总决策树（走查实例）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4160520" cy="23774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新应用上线，先问：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长期服务 or 跑一次/定时？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跑一次 → Job（backoffLimit 控重试）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定时 → CronJob（schedule+并发策略）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长期服务 → 问 ②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每个节点都需要吗？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是 → DaemonSet（CNI/监控/日志）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否 → 问 ③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应用有“身份”吗？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是 → StatefulSet（数据库/消息队列）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否 → Deployment（Web/API/网关）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92040" y="1097280"/>
            <a:ext cx="37033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92040" y="1097280"/>
            <a:ext cx="54864" cy="1170432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1704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 1：WordPress 站点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120640" y="1517904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前端 WordPress → Deployment（多副本、可滚动更新、共享卷存上传文件）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MySQL → StatefulSet（稳定标识 mysql-0、独立 PVC 存数据、有序启动）——生产建议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92040" y="2395728"/>
            <a:ext cx="37033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2395728"/>
            <a:ext cx="54864" cy="1170432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468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 2：监控体系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120640" y="2816352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node-exporter 每节点采集指标 → DaemonSet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每日凌晨备份数据库 → CronJob（0 2 * * *）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一次性数据迁移 → Job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8046720" cy="56692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703320"/>
            <a:ext cx="45720" cy="56692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7647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2：工作负载与调度 15%）：决策树是场景题的答题骨架——看到场景先分类（身份 / 分布 / 任务），再选控制器；场景选型题必考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“长期服务 → 按节点分布 → 有身份”三步问完，控制器就定了——先选对类型，再看机制细节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实验演练指引：实验 03“工作负载”（6 个 Lab）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1556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15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1 使用 deployment 维护服务数量：副本/自愈/扩缩容——kubectl scale 改期望值，亲眼看到“删了自动补”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0934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2 滚动更新与回滚：kubectl set image 更新 → rollout undo——观察 maxUnavailable/maxSurge 默认值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13969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39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1214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3 StatefulSet：webserver-0/1/2 的稳定命名与 headless DNS——有序部署的观察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334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4 Job：Completed 状态与 logs 查看任务输出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16382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63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4553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5 CronJob：*/1 * * * * 每分钟触发，kubectl get cronjob 看调度记录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6758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75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6 DaemonSet：kubectl get pods -o wide 看“每节点一个”的分布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教学建议：每个 Lab 做完回到本章对应小节对照“机制 → 现象”——Lab 2 的滚动更新观察点就是 §5.2.3 的节奏图；Lab 3 的 webserver-0 命名就是 §5.3.2 的稳定标识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6070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60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24128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为什么需要控制器：裸 Pod 不自愈、不扩缩、不更新——控制器通过控制循环“维持期望状态”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59105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91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54480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共同骨架：selector（管哪些）+ template（长什么样）+ replicas（几个）+ 控制循环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12140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84832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Deployment：三层结构（RS 为回滚而生）；滚动更新用 maxUnavailable/maxSurge 控节奏（readinessProbe 是零中断的前提）；rollout undo 一键回滚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15184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StatefulSet：解决有状态三难题——稳定有序命名（web-0）、独立 PVC（volumeClaimTemplates）、有序部署/更新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1821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45536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DaemonSet：按节点分布（每节点一个），新节点自动补——CNI/监控/日志的标配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7124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12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675888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Job/CronJob：成功 = Completed（exit 0）；restartPolicy 必须 OnFailure/Never；CronJob 定时触发 + 并发策略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2428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428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206240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选型决策树：任务 → Job/CronJob；每节点 → DaemonSet；有身份 → StatefulSet；其余 → Deployment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4754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衔接：第 6 章讲“Pod 落在哪个节点”——调度器与调度策略（nodeSelector / 亲和 / 污点容忍 / drain / PDB），届时 DaemonSet 的“控制面不上”之谜会解开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0972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Deployment 要隔一层 ReplicaSet？没有它，回滚怎么实现？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6642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滚动更新时 maxUnavailable: 0 意味着什么代价？（提示：更新期间副本数会怎样）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23113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 Pod 没配 readinessProbe，滚动更新会有什么风险？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82549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79806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StatefulSet 的 Pod 删了重建，为什么名字还是 web-1？数据还在吗？（提示：稳定标识 + volumeClaimTemplates）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9242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92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3649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Job 的 Pod 不能配 restartPolicy: Always？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95935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59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931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用决策树判断：“每节点都要采集系统指标”的组件和“每天凌晨清理临时文件”的任务，分别用什么控制器？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8046720" cy="56692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526280"/>
            <a:ext cx="45720" cy="56692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57200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2：工作负载与调度 15%）：必考操作 kubectl scale / rollout undo / set image；必考机制 滚动更新（maxUnavailable/maxSurge）、回滚原理（RS 历史）、StatefulSet 稳定标识、Job 的 Completed 语义与 backoffLimit、CronJob 并发策略；必考选型 控制器决策树——排障关联（域 5）：更新后 CrashLoop → rollout undo 快速恢复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第5章 工作负载控制器</dc:title>
  <dc:subject>PptxGenJS Presentation</dc:subject>
  <dc:creator>Kubernetes 容器云原生实战课程</dc:creator>
  <cp:lastModifiedBy>Kubernetes 容器云原生实战课程</cp:lastModifiedBy>
  <cp:revision>1</cp:revision>
  <dcterms:created xsi:type="dcterms:W3CDTF">2026-08-16T12:03:14Z</dcterms:created>
  <dcterms:modified xsi:type="dcterms:W3CDTF">2026-08-16T12:03:14Z</dcterms:modified>
</cp:coreProperties>
</file>